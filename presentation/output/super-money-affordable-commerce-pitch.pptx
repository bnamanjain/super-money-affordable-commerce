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Hi, I am Naman Jain. Instead of sending only a resume, I wanted to show how I would approach the Commerce PM mission at super.money.
This is a focused product concept for turning UPI frequency into responsible, contribution-positive financed commerce. I built the product thesis, buyer and seller prototype, economics, system design, schema, APIs, and launch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0:20-0:55
My starting point is what not to build. A generic marketplace would compete on breadth, logistics, and discounting. That is not the differentiated advantage of a high-frequency payments app.
The stronger wedge is to use payment frequency and financial context to qualify demand. The user should see products that fit what they can responsibly pay today, while the platform also checks SKU risk, seller economics, and lender rules.
That creates a commerce experience whose ranking objective is not clicks or raw GMV. It is contribution-positive financed GMV from repeat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0:55-1:25
The first buyer persona is Asha, a 26-year-old salaried user in Bengaluru. She uses UPI daily, has a thin credit file, and avoids unclear fees. Her question is simple: what can I buy now, what is due today, and what happens after purchase?
The supply-side persona is a value merchant. The merchant wants higher conversion and AOV, but does not want to integrate multiple lenders, reconcile loan states, or spend on discounts that would have converted anyway.
The product must solve both jobs in the same transaction. Buyer transparency and seller incrementality cannot be designed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1:25-1:55
I narrowed the initial scope to three connected functions.
First, a credit-aware affordable catalogue that ranks financeable SKUs by what the user can pay today.
Second, a native PayLater and EMI-on-UPI checkout that makes the lender, KFS, fees, mandate, and fallback explicit.
Third, a merchant affordability OS for catalogue onboarding, SKU eligibility, offer funding, orders, settlements, and analytics.
I would explicitly keep broad marketplace breadth, inventory ownership, high-risk categories, long-tenor lending, and a full underwriting or collections stack outside the first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1:55-2:50
The buyer journey starts on the UPI home with a pre-qualified shopping limit. This converts a payment habit into qualified commerce intent without opening an endless marketplace.
In discovery and on the product page, the amount due today is more prominent than the total price. Asha sees the approved plan, dates, lender, zero fees, return policy, and full UPI fallback before checkout.
Checkout then asks for one informed confirmation. Behind that, the platform coordinates the down payment, AutoPay mandate, loan booking, and seller order.
The confirmation does not split the experience into a seller order and a lender account. It presents one timeline with order ID, loan ID, delivery, and next due date. That unified obligation is important for trust, support cost, and repayment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2:50-3:40
The seller experience is a desktop operating portal.
Catalogue eligibility is evaluated per SKU, not just per merchant. Category risk, price, margin, stock, seller SLA, returns, and lender rules decide whether an item can carry a plan.
The affordability simulator makes seller funding an economic decision. A merchant can change subvention and the customer upfront amount, then see forecast conversion, cost per order, and net contribution before publishing a controlled test.
Once orders arrive, the merchant sees one commerce state. Payment authorization and loan booking are already coordinated; the seller only fulfils. Settlements then reconcile platform fees, offer funding, refund reversals, and net payout.
This is the path to a white-label affordability product through Breeze as well as in-app commerce.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3:40-4:25
This is where the problem becomes a fintech lending platform problem rather than a commerce UI problem.
A single purchase can fail at payment, mandate creation, lender booking, or seller order placement. The checkout orchestrator therefore needs an explicit state machine and idempotency key for every external action.
For example, if the down payment succeeds but the loan fails, release or refund the payment. If the loan books but the order fails, cancel or reverse the loan before presenting success. If an order is later returned, adjust outstanding principal first and only then calculate any user refund.
The customer should not see internal compensation mechanics, but support and operations need the complete joined event history. That is why checkout session is the central entity linking quote, payment, loan, order, mandate, and refund.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4:25-5:00
I would manage this as a business line, so the product model needs an explicit contribution equation.
This illustrative case starts with five million exposed active users. With an eight percent commerce entry rate, thirty-five percent PDP conversion, thirty percent checkout start, and forty-five percent financed completion, it produces about eighteen thousand nine hundred monthly orders.
At a three-thousand-rupee AOV, that is roughly five-point-seven crore of financed GMV. If net revenue is three percent and variable cost is one-point-seven percent, contribution is about one-point-three percent of GMV, or seven-point-four lakh per month before fixed cost.
The number is deliberately modest. The early objective is to identify which cohorts, SKUs, sellers, and offer constructs produce repeat contribution after returns and delinquency. Scale should follow repayment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5:00-5:25
The measurement model starts with one North Star and three guardrail families.
Growth covers qualified entry, checkout completion, AOV, and repeat. Credit covers mandate success, seven-plus and thirty-plus DPD, and expected loss. Economics covers net contribution per order, refund-adjusted GMV, offer cost, and support cost.
The first experiments should isolate the biggest product decisions: whether upfront affordability labels improve relevant discovery, what down payment balances approval and risk, whether seller subvention creates incremental conversion, and how repayment reminders affect AutoPay success.
Every offer test needs a holdout. Otherwise the merchant may subsidize orders that would have happened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5:25-5:50
The first ninety days are designed to answer one question: can credit-aware discovery and seller-funded affordability create repeat, contribution-positive commerce?
Days zero to fifteen define user, seller, category, lender, and compliance constraints using interviews and existing funnel data.
Days sixteen to thirty lock the buyer and seller prototype, API contracts, schema, refund design, and experiment plan.
Days thirty-one to sixty build the closed loop: catalogue ingestion, eligibility, quote, checkout orchestration, lender adapter, order bridge, repayment ledger, and support timeline.
Days sixty-one to ninety launch a controlled beta with three categories and twenty to fifty sellers or a controlled catalogue. Expansion is a go or no-go decision based on conversion, repeat, DPD, and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5:50-6:10
The core bet is that affordability should be a system capability, not a checkout widget.
Credit should shape which products are discovered. Checkout should coordinate the regulated obligation. The seller platform should prove incrementality and contribution before funding an offer.
The prototype and accompanying document make the assumptions explicit, including what I would not build first. I would value the opportunity to walk through the decisions, compare them with what the super.money team is learning, and then adjust the roadmap from real user, seller, risk, and P&amp;L data.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Use this slide only if the audience asks how the product hangs together technically.
The left side ingests user financial signals and seller catalogue data. Eligibility and offer services combine those constraints into user-SKU quotes. The checkout orchestrator then coordinates payment, mandate, lender, and order adapters. Events populate the repayment ledger, refund reconciliation, unified timeline, seller settlement, and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core data-model decision is to make checkout_session the join point, not order or loan alone.
User financial signals and credit profiles determine affordability. Products and product finance rules determine SKU-level eligibility. A quote is frozen into checkout session. Loan, repayment, order, and refund records then remain separate regulated or operational ledgers linked by stable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consumer APIs personalize home, product listing, affordability, checkout, and the unified timeline.
Merchant APIs support catalogue upsert, affordability quotes, merchant checkout sessions, refunds, and operational webhooks.
All create or confirm endpoints require an idempotency key. Quotes are versioned and expire. Webhooks are signed and replay-safe. The merchant sees super.money checkout semantics rather than lender-specific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initial product should control credit loss through small limits, meaningful down payments, short tenors, category restrictions, and repayment-led limit growth.
Return abuse is managed at user, seller, and SKU level. Seller quality requires KYB, risk tiers, SLA monitoring, and settlement controls.
Regulatory trust requires lender disclosure, a versioned KFS, stored consent, clear separation of order and loan contracts, and transparent refund adjustment.
The user-facing mitigation for complexity is one plain-language timeline across purchase, fulfilment, refund, and repayment.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uper-money-affordable-commerce.naman884186.chatgpt.site" TargetMode="External"/><Relationship Id="rId2" Type="http://schemas.openxmlformats.org/officeDocument/2006/relationships/hyperlink" Target="https://super-money-affordable-commerce.naman884186.chatgpt.site"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817"/>
        </a:solidFill>
      </p:bgPr>
    </p:bg>
    <p:spTree>
      <p:nvGrpSpPr>
        <p:cNvPr id="1" name=""/>
        <p:cNvGrpSpPr/>
        <p:nvPr/>
      </p:nvGrpSpPr>
      <p:grpSpPr>
        <a:xfrm>
          <a:off x="0" y="0"/>
          <a:ext cx="0" cy="0"/>
          <a:chOff x="0" y="0"/>
          <a:chExt cx="0" cy="0"/>
        </a:xfrm>
      </p:grpSpPr>
      <p:sp>
        <p:nvSpPr>
          <p:cNvPr id="3"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4"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5"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6" name="Text 3"/>
          <p:cNvSpPr/>
          <p:nvPr/>
        </p:nvSpPr>
        <p:spPr>
          <a:xfrm>
            <a:off x="594360" y="960120"/>
            <a:ext cx="3840480" cy="228600"/>
          </a:xfrm>
          <a:prstGeom prst="rect">
            <a:avLst/>
          </a:prstGeom>
          <a:noFill/>
          <a:ln/>
        </p:spPr>
        <p:txBody>
          <a:bodyPr wrap="square" lIns="0" tIns="0" rIns="0" bIns="0" rtlCol="0" anchor="ctr"/>
          <a:lstStyle/>
          <a:p>
            <a:pPr indent="0" marL="0">
              <a:buNone/>
            </a:pPr>
            <a:r>
              <a:rPr lang="en-US" sz="1000" b="1" spc="210" kern="0" dirty="0">
                <a:solidFill>
                  <a:srgbClr val="C9F044"/>
                </a:solidFill>
              </a:rPr>
              <a:t>AFFORDABLE COMMERCE</a:t>
            </a:r>
            <a:endParaRPr lang="en-US" sz="1000" dirty="0"/>
          </a:p>
        </p:txBody>
      </p:sp>
      <p:sp>
        <p:nvSpPr>
          <p:cNvPr id="7" name="Text 4"/>
          <p:cNvSpPr/>
          <p:nvPr/>
        </p:nvSpPr>
        <p:spPr>
          <a:xfrm>
            <a:off x="566928" y="1325880"/>
            <a:ext cx="6126480" cy="1417320"/>
          </a:xfrm>
          <a:prstGeom prst="rect">
            <a:avLst/>
          </a:prstGeom>
          <a:noFill/>
          <a:ln/>
        </p:spPr>
        <p:txBody>
          <a:bodyPr wrap="square" lIns="0" tIns="0" rIns="0" bIns="0" rtlCol="0" anchor="ctr">
            <a:normAutofit/>
          </a:bodyPr>
          <a:lstStyle/>
          <a:p>
            <a:pPr indent="0" marL="0">
              <a:buNone/>
            </a:pPr>
            <a:r>
              <a:rPr lang="en-US" sz="3800" b="1" dirty="0">
                <a:solidFill>
                  <a:srgbClr val="FFFFFF"/>
                </a:solidFill>
              </a:rPr>
              <a:t>Affordable Commerce</a:t>
            </a:r>
            <a:endParaRPr lang="en-US" sz="3800" dirty="0"/>
          </a:p>
          <a:p>
            <a:pPr indent="0" marL="0">
              <a:buNone/>
            </a:pPr>
            <a:r>
              <a:rPr lang="en-US" sz="3800" b="1" dirty="0">
                <a:solidFill>
                  <a:srgbClr val="FFFFFF"/>
                </a:solidFill>
              </a:rPr>
              <a:t>inside super.money</a:t>
            </a:r>
            <a:endParaRPr lang="en-US" sz="3800" dirty="0"/>
          </a:p>
        </p:txBody>
      </p:sp>
      <p:sp>
        <p:nvSpPr>
          <p:cNvPr id="8" name="Text 5"/>
          <p:cNvSpPr/>
          <p:nvPr/>
        </p:nvSpPr>
        <p:spPr>
          <a:xfrm>
            <a:off x="594360" y="2953512"/>
            <a:ext cx="5303520" cy="566928"/>
          </a:xfrm>
          <a:prstGeom prst="rect">
            <a:avLst/>
          </a:prstGeom>
          <a:noFill/>
          <a:ln/>
        </p:spPr>
        <p:txBody>
          <a:bodyPr wrap="square" lIns="0" tIns="0" rIns="0" bIns="0" rtlCol="0" anchor="ctr">
            <a:normAutofit/>
          </a:bodyPr>
          <a:lstStyle/>
          <a:p>
            <a:pPr indent="0" marL="0">
              <a:buNone/>
            </a:pPr>
            <a:r>
              <a:rPr lang="en-US" sz="1700" dirty="0">
                <a:solidFill>
                  <a:srgbClr val="D9DED7"/>
                </a:solidFill>
              </a:rPr>
              <a:t>A credit-aware catalogue, native financed checkout, and merchant affordability OS.</a:t>
            </a:r>
            <a:endParaRPr lang="en-US" sz="1700" dirty="0"/>
          </a:p>
        </p:txBody>
      </p:sp>
      <p:sp>
        <p:nvSpPr>
          <p:cNvPr id="9" name="Shape 6"/>
          <p:cNvSpPr/>
          <p:nvPr/>
        </p:nvSpPr>
        <p:spPr>
          <a:xfrm>
            <a:off x="594360" y="3794760"/>
            <a:ext cx="5166360" cy="932688"/>
          </a:xfrm>
          <a:prstGeom prst="rect">
            <a:avLst/>
          </a:prstGeom>
          <a:solidFill>
            <a:srgbClr val="C9F044"/>
          </a:solidFill>
          <a:ln w="12700">
            <a:solidFill>
              <a:srgbClr val="C9F044"/>
            </a:solidFill>
            <a:prstDash val="solid"/>
          </a:ln>
        </p:spPr>
      </p:sp>
      <p:sp>
        <p:nvSpPr>
          <p:cNvPr id="10" name="Text 7"/>
          <p:cNvSpPr/>
          <p:nvPr/>
        </p:nvSpPr>
        <p:spPr>
          <a:xfrm>
            <a:off x="841248" y="3995928"/>
            <a:ext cx="4663440" cy="530352"/>
          </a:xfrm>
          <a:prstGeom prst="rect">
            <a:avLst/>
          </a:prstGeom>
          <a:noFill/>
          <a:ln/>
        </p:spPr>
        <p:txBody>
          <a:bodyPr wrap="square" lIns="0" tIns="0" rIns="0" bIns="0" rtlCol="0" anchor="ctr">
            <a:normAutofit/>
          </a:bodyPr>
          <a:lstStyle/>
          <a:p>
            <a:pPr indent="0" marL="0">
              <a:buNone/>
            </a:pPr>
            <a:r>
              <a:rPr lang="en-US" sz="1600" b="1" dirty="0">
                <a:solidFill>
                  <a:srgbClr val="171817"/>
                </a:solidFill>
              </a:rPr>
              <a:t>UPI gives frequency.</a:t>
            </a:r>
            <a:endParaRPr lang="en-US" sz="1600" dirty="0"/>
          </a:p>
          <a:p>
            <a:pPr indent="0" marL="0">
              <a:buNone/>
            </a:pPr>
            <a:r>
              <a:rPr lang="en-US" sz="1600" b="1" dirty="0">
                <a:solidFill>
                  <a:srgbClr val="171817"/>
                </a:solidFill>
              </a:rPr>
              <a:t>Credit gives monetization.</a:t>
            </a:r>
            <a:endParaRPr lang="en-US" sz="1600" dirty="0"/>
          </a:p>
          <a:p>
            <a:pPr indent="0" marL="0">
              <a:buNone/>
            </a:pPr>
            <a:r>
              <a:rPr lang="en-US" sz="1600" b="1" dirty="0">
                <a:solidFill>
                  <a:srgbClr val="171817"/>
                </a:solidFill>
              </a:rPr>
              <a:t>Commerce gives intent.</a:t>
            </a:r>
            <a:endParaRPr lang="en-US" sz="1600" dirty="0"/>
          </a:p>
        </p:txBody>
      </p:sp>
      <p:sp>
        <p:nvSpPr>
          <p:cNvPr id="11" name="Shape 8"/>
          <p:cNvSpPr/>
          <p:nvPr/>
        </p:nvSpPr>
        <p:spPr>
          <a:xfrm>
            <a:off x="7662672" y="676656"/>
            <a:ext cx="2359152" cy="5020056"/>
          </a:xfrm>
          <a:prstGeom prst="rect">
            <a:avLst/>
          </a:prstGeom>
          <a:solidFill>
            <a:srgbClr val="2D302D"/>
          </a:solidFill>
          <a:ln w="10160">
            <a:solidFill>
              <a:srgbClr val="444944"/>
            </a:solidFill>
            <a:prstDash val="solid"/>
          </a:ln>
          <a:effectLst>
            <a:outerShdw sx="100000" sy="100000" kx="0" ky="0" algn="bl" rotWithShape="0" blurRad="12700" dist="50800" dir="2700000">
              <a:srgbClr val="000000">
                <a:alpha val="16000"/>
              </a:srgbClr>
            </a:outerShdw>
          </a:effectLst>
        </p:spPr>
      </p:sp>
      <p:pic>
        <p:nvPicPr>
          <p:cNvPr id="12" name="Image 0" descr="/Users/namanjain/super-money-affordable-commerce/prototype/test-artifacts/mobile-home.png">    </p:cNvPr>
          <p:cNvPicPr>
            <a:picLocks noChangeAspect="1"/>
          </p:cNvPicPr>
          <p:nvPr/>
        </p:nvPicPr>
        <p:blipFill>
          <a:blip r:embed="rId1"/>
          <a:srcRect l="0" r="0" t="0" b="0"/>
          <a:stretch/>
        </p:blipFill>
        <p:spPr>
          <a:xfrm>
            <a:off x="7699248" y="713232"/>
            <a:ext cx="2286000" cy="4946904"/>
          </a:xfrm>
          <a:prstGeom prst="rect">
            <a:avLst/>
          </a:prstGeom>
        </p:spPr>
      </p:pic>
      <p:sp>
        <p:nvSpPr>
          <p:cNvPr id="13" name="Shape 9"/>
          <p:cNvSpPr/>
          <p:nvPr/>
        </p:nvSpPr>
        <p:spPr>
          <a:xfrm>
            <a:off x="6995160" y="5001768"/>
            <a:ext cx="3931920" cy="914400"/>
          </a:xfrm>
          <a:prstGeom prst="rect">
            <a:avLst/>
          </a:prstGeom>
          <a:solidFill>
            <a:srgbClr val="3566E8"/>
          </a:solidFill>
          <a:ln w="12700">
            <a:solidFill>
              <a:srgbClr val="3566E8"/>
            </a:solidFill>
            <a:prstDash val="solid"/>
          </a:ln>
        </p:spPr>
      </p:sp>
      <p:sp>
        <p:nvSpPr>
          <p:cNvPr id="14" name="Text 10"/>
          <p:cNvSpPr/>
          <p:nvPr/>
        </p:nvSpPr>
        <p:spPr>
          <a:xfrm>
            <a:off x="7251192" y="5230368"/>
            <a:ext cx="3429000" cy="228600"/>
          </a:xfrm>
          <a:prstGeom prst="rect">
            <a:avLst/>
          </a:prstGeom>
          <a:noFill/>
          <a:ln/>
        </p:spPr>
        <p:txBody>
          <a:bodyPr wrap="square" lIns="0" tIns="0" rIns="0" bIns="0" rtlCol="0" anchor="ctr"/>
          <a:lstStyle/>
          <a:p>
            <a:pPr algn="ctr" indent="0" marL="0">
              <a:buNone/>
            </a:pPr>
            <a:r>
              <a:rPr lang="en-US" sz="1200" b="1" dirty="0">
                <a:solidFill>
                  <a:srgbClr val="FFFFFF"/>
                </a:solidFill>
              </a:rPr>
              <a:t>Product concept + clickable prototype</a:t>
            </a:r>
            <a:endParaRPr lang="en-US" sz="1200" dirty="0"/>
          </a:p>
        </p:txBody>
      </p:sp>
      <p:sp>
        <p:nvSpPr>
          <p:cNvPr id="15" name="Text 11"/>
          <p:cNvSpPr/>
          <p:nvPr/>
        </p:nvSpPr>
        <p:spPr>
          <a:xfrm>
            <a:off x="594360" y="5989320"/>
            <a:ext cx="4937760" cy="256032"/>
          </a:xfrm>
          <a:prstGeom prst="rect">
            <a:avLst/>
          </a:prstGeom>
          <a:noFill/>
          <a:ln/>
        </p:spPr>
        <p:txBody>
          <a:bodyPr wrap="square" lIns="0" tIns="0" rIns="0" bIns="0" rtlCol="0" anchor="ctr"/>
          <a:lstStyle/>
          <a:p>
            <a:pPr indent="0" marL="0">
              <a:buNone/>
            </a:pPr>
            <a:r>
              <a:rPr lang="en-US" sz="1050" dirty="0">
                <a:solidFill>
                  <a:srgbClr val="AEB5AC"/>
                </a:solidFill>
              </a:rPr>
              <a:t>Naman Jain  |  Product Manager - Commerce</a:t>
            </a:r>
            <a:endParaRPr lang="en-US" sz="1050" dirty="0"/>
          </a:p>
        </p:txBody>
      </p:sp>
      <p:sp>
        <p:nvSpPr>
          <p:cNvPr id="16" name="Shape 12"/>
          <p:cNvSpPr/>
          <p:nvPr/>
        </p:nvSpPr>
        <p:spPr>
          <a:xfrm>
            <a:off x="566928" y="6519672"/>
            <a:ext cx="11064240" cy="0"/>
          </a:xfrm>
          <a:prstGeom prst="line">
            <a:avLst/>
          </a:prstGeom>
          <a:noFill/>
          <a:ln w="8890">
            <a:solidFill>
              <a:srgbClr val="3D413D"/>
            </a:solidFill>
            <a:prstDash val="solid"/>
          </a:ln>
        </p:spPr>
      </p:sp>
      <p:sp>
        <p:nvSpPr>
          <p:cNvPr id="17" name="Text 13"/>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AEB5AC"/>
                </a:solidFill>
              </a:rPr>
              <a:t>AFFORDABLE COMMERCE CONCEPT</a:t>
            </a:r>
            <a:endParaRPr lang="en-US" sz="750" dirty="0"/>
          </a:p>
        </p:txBody>
      </p:sp>
      <p:sp>
        <p:nvSpPr>
          <p:cNvPr id="18" name="Text 14"/>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AEB5AC"/>
                </a:solidFill>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THE OPPORTUNITY</a:t>
            </a:r>
            <a:endParaRPr lang="en-US" sz="850" dirty="0"/>
          </a:p>
        </p:txBody>
      </p:sp>
      <p:sp>
        <p:nvSpPr>
          <p:cNvPr id="6" name="Text 4"/>
          <p:cNvSpPr/>
          <p:nvPr/>
        </p:nvSpPr>
        <p:spPr>
          <a:xfrm>
            <a:off x="566928" y="1033272"/>
            <a:ext cx="9875520" cy="530352"/>
          </a:xfrm>
          <a:prstGeom prst="rect">
            <a:avLst/>
          </a:prstGeom>
          <a:noFill/>
          <a:ln/>
        </p:spPr>
        <p:txBody>
          <a:bodyPr wrap="square" lIns="0" tIns="0" rIns="0" bIns="0" rtlCol="0" anchor="ctr">
            <a:normAutofit/>
          </a:bodyPr>
          <a:lstStyle/>
          <a:p>
            <a:pPr indent="0" marL="0">
              <a:buNone/>
            </a:pPr>
            <a:r>
              <a:rPr lang="en-US" sz="2700" b="1" dirty="0">
                <a:solidFill>
                  <a:srgbClr val="171817"/>
                </a:solidFill>
              </a:rPr>
              <a:t>Do not put a generic marketplace inside a UPI app.</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Use payments frequency and financial signals to make discovery affordable, responsible, and commercially viable.</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AFFORDABLE COMMERCE CONCEPT</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02</a:t>
            </a:r>
            <a:endParaRPr lang="en-US" sz="800" dirty="0"/>
          </a:p>
        </p:txBody>
      </p:sp>
      <p:sp>
        <p:nvSpPr>
          <p:cNvPr id="12" name="Shape 9"/>
          <p:cNvSpPr/>
          <p:nvPr/>
        </p:nvSpPr>
        <p:spPr>
          <a:xfrm>
            <a:off x="594360" y="2267712"/>
            <a:ext cx="3410712" cy="2103120"/>
          </a:xfrm>
          <a:prstGeom prst="rect">
            <a:avLst/>
          </a:prstGeom>
          <a:solidFill>
            <a:srgbClr val="E8EDFF"/>
          </a:solidFill>
          <a:ln w="12700">
            <a:solidFill>
              <a:srgbClr val="E8EDFF"/>
            </a:solidFill>
            <a:prstDash val="solid"/>
          </a:ln>
        </p:spPr>
      </p:sp>
      <p:sp>
        <p:nvSpPr>
          <p:cNvPr id="13" name="Text 10"/>
          <p:cNvSpPr/>
          <p:nvPr/>
        </p:nvSpPr>
        <p:spPr>
          <a:xfrm>
            <a:off x="822960" y="2487168"/>
            <a:ext cx="502920" cy="320040"/>
          </a:xfrm>
          <a:prstGeom prst="rect">
            <a:avLst/>
          </a:prstGeom>
          <a:noFill/>
          <a:ln/>
        </p:spPr>
        <p:txBody>
          <a:bodyPr wrap="square" lIns="0" tIns="0" rIns="0" bIns="0" rtlCol="0" anchor="ctr"/>
          <a:lstStyle/>
          <a:p>
            <a:pPr indent="0" marL="0">
              <a:buNone/>
            </a:pPr>
            <a:r>
              <a:rPr lang="en-US" sz="1900" b="1" dirty="0">
                <a:solidFill>
                  <a:srgbClr val="3566E8"/>
                </a:solidFill>
              </a:rPr>
              <a:t>01</a:t>
            </a:r>
            <a:endParaRPr lang="en-US" sz="1900" dirty="0"/>
          </a:p>
        </p:txBody>
      </p:sp>
      <p:sp>
        <p:nvSpPr>
          <p:cNvPr id="14" name="Text 11"/>
          <p:cNvSpPr/>
          <p:nvPr/>
        </p:nvSpPr>
        <p:spPr>
          <a:xfrm>
            <a:off x="822960" y="2926080"/>
            <a:ext cx="2880360" cy="320040"/>
          </a:xfrm>
          <a:prstGeom prst="rect">
            <a:avLst/>
          </a:prstGeom>
          <a:noFill/>
          <a:ln/>
        </p:spPr>
        <p:txBody>
          <a:bodyPr wrap="square" lIns="0" tIns="0" rIns="0" bIns="0" rtlCol="0" anchor="ctr"/>
          <a:lstStyle/>
          <a:p>
            <a:pPr indent="0" marL="0">
              <a:buNone/>
            </a:pPr>
            <a:r>
              <a:rPr lang="en-US" sz="1800" b="1" dirty="0">
                <a:solidFill>
                  <a:srgbClr val="171817"/>
                </a:solidFill>
              </a:rPr>
              <a:t>UPI frequency</a:t>
            </a:r>
            <a:endParaRPr lang="en-US" sz="1800" dirty="0"/>
          </a:p>
        </p:txBody>
      </p:sp>
      <p:sp>
        <p:nvSpPr>
          <p:cNvPr id="15" name="Text 12"/>
          <p:cNvSpPr/>
          <p:nvPr/>
        </p:nvSpPr>
        <p:spPr>
          <a:xfrm>
            <a:off x="822960" y="3401568"/>
            <a:ext cx="2852928" cy="603504"/>
          </a:xfrm>
          <a:prstGeom prst="rect">
            <a:avLst/>
          </a:prstGeom>
          <a:noFill/>
          <a:ln/>
        </p:spPr>
        <p:txBody>
          <a:bodyPr wrap="square" lIns="0" tIns="0" rIns="0" bIns="0" rtlCol="0" anchor="ctr">
            <a:normAutofit/>
          </a:bodyPr>
          <a:lstStyle/>
          <a:p>
            <a:pPr indent="0" marL="0">
              <a:buNone/>
            </a:pPr>
            <a:r>
              <a:rPr lang="en-US" sz="1100" dirty="0">
                <a:solidFill>
                  <a:srgbClr val="666C64"/>
                </a:solidFill>
              </a:rPr>
              <a:t>Daily habit creates trusted entry points and live cash-flow signals.</a:t>
            </a:r>
            <a:endParaRPr lang="en-US" sz="1100" dirty="0"/>
          </a:p>
        </p:txBody>
      </p:sp>
      <p:sp>
        <p:nvSpPr>
          <p:cNvPr id="16" name="Shape 13"/>
          <p:cNvSpPr/>
          <p:nvPr/>
        </p:nvSpPr>
        <p:spPr>
          <a:xfrm>
            <a:off x="4050792" y="3182112"/>
            <a:ext cx="237744" cy="237744"/>
          </a:xfrm>
          <a:prstGeom prst="chevron">
            <a:avLst/>
          </a:prstGeom>
          <a:solidFill>
            <a:srgbClr val="C9CDC4"/>
          </a:solidFill>
          <a:ln w="12700">
            <a:solidFill>
              <a:srgbClr val="C9CDC4"/>
            </a:solidFill>
            <a:prstDash val="solid"/>
          </a:ln>
        </p:spPr>
      </p:sp>
      <p:sp>
        <p:nvSpPr>
          <p:cNvPr id="17" name="Shape 14"/>
          <p:cNvSpPr/>
          <p:nvPr/>
        </p:nvSpPr>
        <p:spPr>
          <a:xfrm>
            <a:off x="4389120" y="2267712"/>
            <a:ext cx="3410712" cy="2103120"/>
          </a:xfrm>
          <a:prstGeom prst="rect">
            <a:avLst/>
          </a:prstGeom>
          <a:solidFill>
            <a:srgbClr val="EFF9CB"/>
          </a:solidFill>
          <a:ln w="12700">
            <a:solidFill>
              <a:srgbClr val="EFF9CB"/>
            </a:solidFill>
            <a:prstDash val="solid"/>
          </a:ln>
        </p:spPr>
      </p:sp>
      <p:sp>
        <p:nvSpPr>
          <p:cNvPr id="18" name="Text 15"/>
          <p:cNvSpPr/>
          <p:nvPr/>
        </p:nvSpPr>
        <p:spPr>
          <a:xfrm>
            <a:off x="4617720" y="2487168"/>
            <a:ext cx="502920" cy="320040"/>
          </a:xfrm>
          <a:prstGeom prst="rect">
            <a:avLst/>
          </a:prstGeom>
          <a:noFill/>
          <a:ln/>
        </p:spPr>
        <p:txBody>
          <a:bodyPr wrap="square" lIns="0" tIns="0" rIns="0" bIns="0" rtlCol="0" anchor="ctr"/>
          <a:lstStyle/>
          <a:p>
            <a:pPr indent="0" marL="0">
              <a:buNone/>
            </a:pPr>
            <a:r>
              <a:rPr lang="en-US" sz="1900" b="1" dirty="0">
                <a:solidFill>
                  <a:srgbClr val="668700"/>
                </a:solidFill>
              </a:rPr>
              <a:t>02</a:t>
            </a:r>
            <a:endParaRPr lang="en-US" sz="1900" dirty="0"/>
          </a:p>
        </p:txBody>
      </p:sp>
      <p:sp>
        <p:nvSpPr>
          <p:cNvPr id="19" name="Text 16"/>
          <p:cNvSpPr/>
          <p:nvPr/>
        </p:nvSpPr>
        <p:spPr>
          <a:xfrm>
            <a:off x="4617720" y="2926080"/>
            <a:ext cx="2880360" cy="320040"/>
          </a:xfrm>
          <a:prstGeom prst="rect">
            <a:avLst/>
          </a:prstGeom>
          <a:noFill/>
          <a:ln/>
        </p:spPr>
        <p:txBody>
          <a:bodyPr wrap="square" lIns="0" tIns="0" rIns="0" bIns="0" rtlCol="0" anchor="ctr"/>
          <a:lstStyle/>
          <a:p>
            <a:pPr indent="0" marL="0">
              <a:buNone/>
            </a:pPr>
            <a:r>
              <a:rPr lang="en-US" sz="1800" b="1" dirty="0">
                <a:solidFill>
                  <a:srgbClr val="171817"/>
                </a:solidFill>
              </a:rPr>
              <a:t>Commerce intent</a:t>
            </a:r>
            <a:endParaRPr lang="en-US" sz="1800" dirty="0"/>
          </a:p>
        </p:txBody>
      </p:sp>
      <p:sp>
        <p:nvSpPr>
          <p:cNvPr id="20" name="Text 17"/>
          <p:cNvSpPr/>
          <p:nvPr/>
        </p:nvSpPr>
        <p:spPr>
          <a:xfrm>
            <a:off x="4617720" y="3401568"/>
            <a:ext cx="2852928" cy="603504"/>
          </a:xfrm>
          <a:prstGeom prst="rect">
            <a:avLst/>
          </a:prstGeom>
          <a:noFill/>
          <a:ln/>
        </p:spPr>
        <p:txBody>
          <a:bodyPr wrap="square" lIns="0" tIns="0" rIns="0" bIns="0" rtlCol="0" anchor="ctr">
            <a:normAutofit/>
          </a:bodyPr>
          <a:lstStyle/>
          <a:p>
            <a:pPr indent="0" marL="0">
              <a:buNone/>
            </a:pPr>
            <a:r>
              <a:rPr lang="en-US" sz="1100" dirty="0">
                <a:solidFill>
                  <a:srgbClr val="666C64"/>
                </a:solidFill>
              </a:rPr>
              <a:t>Useful, narrow categories convert a payment relationship into demand.</a:t>
            </a:r>
            <a:endParaRPr lang="en-US" sz="1100" dirty="0"/>
          </a:p>
        </p:txBody>
      </p:sp>
      <p:sp>
        <p:nvSpPr>
          <p:cNvPr id="21" name="Shape 18"/>
          <p:cNvSpPr/>
          <p:nvPr/>
        </p:nvSpPr>
        <p:spPr>
          <a:xfrm>
            <a:off x="7845552" y="3182112"/>
            <a:ext cx="237744" cy="237744"/>
          </a:xfrm>
          <a:prstGeom prst="chevron">
            <a:avLst/>
          </a:prstGeom>
          <a:solidFill>
            <a:srgbClr val="C9CDC4"/>
          </a:solidFill>
          <a:ln w="12700">
            <a:solidFill>
              <a:srgbClr val="C9CDC4"/>
            </a:solidFill>
            <a:prstDash val="solid"/>
          </a:ln>
        </p:spPr>
      </p:sp>
      <p:sp>
        <p:nvSpPr>
          <p:cNvPr id="22" name="Shape 19"/>
          <p:cNvSpPr/>
          <p:nvPr/>
        </p:nvSpPr>
        <p:spPr>
          <a:xfrm>
            <a:off x="8183880" y="2267712"/>
            <a:ext cx="3410712" cy="2103120"/>
          </a:xfrm>
          <a:prstGeom prst="rect">
            <a:avLst/>
          </a:prstGeom>
          <a:solidFill>
            <a:srgbClr val="DFF4E5"/>
          </a:solidFill>
          <a:ln w="12700">
            <a:solidFill>
              <a:srgbClr val="DFF4E5"/>
            </a:solidFill>
            <a:prstDash val="solid"/>
          </a:ln>
        </p:spPr>
      </p:sp>
      <p:sp>
        <p:nvSpPr>
          <p:cNvPr id="23" name="Text 20"/>
          <p:cNvSpPr/>
          <p:nvPr/>
        </p:nvSpPr>
        <p:spPr>
          <a:xfrm>
            <a:off x="8412480" y="2487168"/>
            <a:ext cx="502920" cy="320040"/>
          </a:xfrm>
          <a:prstGeom prst="rect">
            <a:avLst/>
          </a:prstGeom>
          <a:noFill/>
          <a:ln/>
        </p:spPr>
        <p:txBody>
          <a:bodyPr wrap="square" lIns="0" tIns="0" rIns="0" bIns="0" rtlCol="0" anchor="ctr"/>
          <a:lstStyle/>
          <a:p>
            <a:pPr indent="0" marL="0">
              <a:buNone/>
            </a:pPr>
            <a:r>
              <a:rPr lang="en-US" sz="1900" b="1" dirty="0">
                <a:solidFill>
                  <a:srgbClr val="237346"/>
                </a:solidFill>
              </a:rPr>
              <a:t>03</a:t>
            </a:r>
            <a:endParaRPr lang="en-US" sz="1900" dirty="0"/>
          </a:p>
        </p:txBody>
      </p:sp>
      <p:sp>
        <p:nvSpPr>
          <p:cNvPr id="24" name="Text 21"/>
          <p:cNvSpPr/>
          <p:nvPr/>
        </p:nvSpPr>
        <p:spPr>
          <a:xfrm>
            <a:off x="8412480" y="2926080"/>
            <a:ext cx="2880360" cy="320040"/>
          </a:xfrm>
          <a:prstGeom prst="rect">
            <a:avLst/>
          </a:prstGeom>
          <a:noFill/>
          <a:ln/>
        </p:spPr>
        <p:txBody>
          <a:bodyPr wrap="square" lIns="0" tIns="0" rIns="0" bIns="0" rtlCol="0" anchor="ctr"/>
          <a:lstStyle/>
          <a:p>
            <a:pPr indent="0" marL="0">
              <a:buNone/>
            </a:pPr>
            <a:r>
              <a:rPr lang="en-US" sz="1800" b="1" dirty="0">
                <a:solidFill>
                  <a:srgbClr val="171817"/>
                </a:solidFill>
              </a:rPr>
              <a:t>Responsible credit</a:t>
            </a:r>
            <a:endParaRPr lang="en-US" sz="1800" dirty="0"/>
          </a:p>
        </p:txBody>
      </p:sp>
      <p:sp>
        <p:nvSpPr>
          <p:cNvPr id="25" name="Text 22"/>
          <p:cNvSpPr/>
          <p:nvPr/>
        </p:nvSpPr>
        <p:spPr>
          <a:xfrm>
            <a:off x="8412480" y="3401568"/>
            <a:ext cx="2852928" cy="603504"/>
          </a:xfrm>
          <a:prstGeom prst="rect">
            <a:avLst/>
          </a:prstGeom>
          <a:noFill/>
          <a:ln/>
        </p:spPr>
        <p:txBody>
          <a:bodyPr wrap="square" lIns="0" tIns="0" rIns="0" bIns="0" rtlCol="0" anchor="ctr">
            <a:normAutofit/>
          </a:bodyPr>
          <a:lstStyle/>
          <a:p>
            <a:pPr indent="0" marL="0">
              <a:buNone/>
            </a:pPr>
            <a:r>
              <a:rPr lang="en-US" sz="1100" dirty="0">
                <a:solidFill>
                  <a:srgbClr val="666C64"/>
                </a:solidFill>
              </a:rPr>
              <a:t>Pre-qualified plans lower upfront cost without hiding the obligation.</a:t>
            </a:r>
            <a:endParaRPr lang="en-US" sz="1100" dirty="0"/>
          </a:p>
        </p:txBody>
      </p:sp>
      <p:sp>
        <p:nvSpPr>
          <p:cNvPr id="26" name="Shape 23"/>
          <p:cNvSpPr/>
          <p:nvPr/>
        </p:nvSpPr>
        <p:spPr>
          <a:xfrm>
            <a:off x="594360" y="4718304"/>
            <a:ext cx="11018520" cy="1051560"/>
          </a:xfrm>
          <a:prstGeom prst="rect">
            <a:avLst/>
          </a:prstGeom>
          <a:solidFill>
            <a:srgbClr val="171817"/>
          </a:solidFill>
          <a:ln w="12700">
            <a:solidFill>
              <a:srgbClr val="171817"/>
            </a:solidFill>
            <a:prstDash val="solid"/>
          </a:ln>
        </p:spPr>
      </p:sp>
      <p:sp>
        <p:nvSpPr>
          <p:cNvPr id="27" name="Text 24"/>
          <p:cNvSpPr/>
          <p:nvPr/>
        </p:nvSpPr>
        <p:spPr>
          <a:xfrm>
            <a:off x="868680" y="4956048"/>
            <a:ext cx="1234440" cy="182880"/>
          </a:xfrm>
          <a:prstGeom prst="rect">
            <a:avLst/>
          </a:prstGeom>
          <a:noFill/>
          <a:ln/>
        </p:spPr>
        <p:txBody>
          <a:bodyPr wrap="square" lIns="0" tIns="0" rIns="0" bIns="0" rtlCol="0" anchor="ctr"/>
          <a:lstStyle/>
          <a:p>
            <a:pPr indent="0" marL="0">
              <a:buNone/>
            </a:pPr>
            <a:r>
              <a:rPr lang="en-US" sz="850" b="1" spc="140" kern="0" dirty="0">
                <a:solidFill>
                  <a:srgbClr val="C9F044"/>
                </a:solidFill>
              </a:rPr>
              <a:t>NORTH STAR</a:t>
            </a:r>
            <a:endParaRPr lang="en-US" sz="850" dirty="0"/>
          </a:p>
        </p:txBody>
      </p:sp>
      <p:sp>
        <p:nvSpPr>
          <p:cNvPr id="28" name="Text 25"/>
          <p:cNvSpPr/>
          <p:nvPr/>
        </p:nvSpPr>
        <p:spPr>
          <a:xfrm>
            <a:off x="2176272" y="4873752"/>
            <a:ext cx="8138160" cy="347472"/>
          </a:xfrm>
          <a:prstGeom prst="rect">
            <a:avLst/>
          </a:prstGeom>
          <a:noFill/>
          <a:ln/>
        </p:spPr>
        <p:txBody>
          <a:bodyPr wrap="square" lIns="0" tIns="0" rIns="0" bIns="0" rtlCol="0" anchor="ctr"/>
          <a:lstStyle/>
          <a:p>
            <a:pPr indent="0" marL="0">
              <a:buNone/>
            </a:pPr>
            <a:r>
              <a:rPr lang="en-US" sz="2000" b="1" dirty="0">
                <a:solidFill>
                  <a:srgbClr val="FFFFFF"/>
                </a:solidFill>
              </a:rPr>
              <a:t>Contribution-positive financed GMV from repeat users</a:t>
            </a:r>
            <a:endParaRPr lang="en-US" sz="2000" dirty="0"/>
          </a:p>
        </p:txBody>
      </p:sp>
      <p:sp>
        <p:nvSpPr>
          <p:cNvPr id="29" name="Text 26"/>
          <p:cNvSpPr/>
          <p:nvPr/>
        </p:nvSpPr>
        <p:spPr>
          <a:xfrm>
            <a:off x="10378440" y="4956048"/>
            <a:ext cx="932688" cy="219456"/>
          </a:xfrm>
          <a:prstGeom prst="rect">
            <a:avLst/>
          </a:prstGeom>
          <a:noFill/>
          <a:ln/>
        </p:spPr>
        <p:txBody>
          <a:bodyPr wrap="square" lIns="0" tIns="0" rIns="0" bIns="0" rtlCol="0" anchor="ctr"/>
          <a:lstStyle/>
          <a:p>
            <a:pPr algn="r" indent="0" marL="0">
              <a:buNone/>
            </a:pPr>
            <a:r>
              <a:rPr lang="en-US" sz="900" b="1" dirty="0">
                <a:solidFill>
                  <a:srgbClr val="F26A5D"/>
                </a:solidFill>
              </a:rPr>
              <a:t>Not raw GMV</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PERSONAS</a:t>
            </a:r>
            <a:endParaRPr lang="en-US" sz="850" dirty="0"/>
          </a:p>
        </p:txBody>
      </p:sp>
      <p:sp>
        <p:nvSpPr>
          <p:cNvPr id="6" name="Text 4"/>
          <p:cNvSpPr/>
          <p:nvPr/>
        </p:nvSpPr>
        <p:spPr>
          <a:xfrm>
            <a:off x="566928" y="1033272"/>
            <a:ext cx="8046720" cy="530352"/>
          </a:xfrm>
          <a:prstGeom prst="rect">
            <a:avLst/>
          </a:prstGeom>
          <a:noFill/>
          <a:ln/>
        </p:spPr>
        <p:txBody>
          <a:bodyPr wrap="square" lIns="0" tIns="0" rIns="0" bIns="0" rtlCol="0" anchor="ctr">
            <a:normAutofit/>
          </a:bodyPr>
          <a:lstStyle/>
          <a:p>
            <a:pPr indent="0" marL="0">
              <a:buNone/>
            </a:pPr>
            <a:r>
              <a:rPr lang="en-US" sz="2700" b="1" dirty="0">
                <a:solidFill>
                  <a:srgbClr val="171817"/>
                </a:solidFill>
              </a:rPr>
              <a:t>Two users, one shared affordability problem.</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The buyer needs certainty about cash flow. The seller needs measurable conversion without becoming a lender.</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AFFORDABLE COMMERCE CONCEPT</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03</a:t>
            </a:r>
            <a:endParaRPr lang="en-US" sz="800" dirty="0"/>
          </a:p>
        </p:txBody>
      </p:sp>
      <p:sp>
        <p:nvSpPr>
          <p:cNvPr id="12" name="Shape 9"/>
          <p:cNvSpPr/>
          <p:nvPr/>
        </p:nvSpPr>
        <p:spPr>
          <a:xfrm>
            <a:off x="594360" y="2212848"/>
            <a:ext cx="5230368" cy="3401568"/>
          </a:xfrm>
          <a:prstGeom prst="rect">
            <a:avLst/>
          </a:prstGeom>
          <a:solidFill>
            <a:srgbClr val="FFFFFF"/>
          </a:solidFill>
          <a:ln w="12700">
            <a:solidFill>
              <a:srgbClr val="DFE2DB"/>
            </a:solidFill>
            <a:prstDash val="solid"/>
          </a:ln>
        </p:spPr>
      </p:sp>
      <p:sp>
        <p:nvSpPr>
          <p:cNvPr id="13" name="Shape 10"/>
          <p:cNvSpPr/>
          <p:nvPr/>
        </p:nvSpPr>
        <p:spPr>
          <a:xfrm>
            <a:off x="868680" y="2542032"/>
            <a:ext cx="804672" cy="804672"/>
          </a:xfrm>
          <a:prstGeom prst="ellipse">
            <a:avLst/>
          </a:prstGeom>
          <a:solidFill>
            <a:srgbClr val="E8EDFF"/>
          </a:solidFill>
          <a:ln w="12700">
            <a:solidFill>
              <a:srgbClr val="E8EDFF"/>
            </a:solidFill>
            <a:prstDash val="solid"/>
          </a:ln>
        </p:spPr>
      </p:sp>
      <p:sp>
        <p:nvSpPr>
          <p:cNvPr id="14" name="Text 11"/>
          <p:cNvSpPr/>
          <p:nvPr/>
        </p:nvSpPr>
        <p:spPr>
          <a:xfrm>
            <a:off x="868680" y="2788920"/>
            <a:ext cx="804672" cy="182880"/>
          </a:xfrm>
          <a:prstGeom prst="rect">
            <a:avLst/>
          </a:prstGeom>
          <a:noFill/>
          <a:ln/>
        </p:spPr>
        <p:txBody>
          <a:bodyPr wrap="square" lIns="0" tIns="0" rIns="0" bIns="0" rtlCol="0" anchor="ctr"/>
          <a:lstStyle/>
          <a:p>
            <a:pPr algn="ctr" indent="0" marL="0">
              <a:buNone/>
            </a:pPr>
            <a:r>
              <a:rPr lang="en-US" sz="1300" b="1" dirty="0">
                <a:solidFill>
                  <a:srgbClr val="3566E8"/>
                </a:solidFill>
              </a:rPr>
              <a:t>AM</a:t>
            </a:r>
            <a:endParaRPr lang="en-US" sz="1300" dirty="0"/>
          </a:p>
        </p:txBody>
      </p:sp>
      <p:sp>
        <p:nvSpPr>
          <p:cNvPr id="15" name="Text 12"/>
          <p:cNvSpPr/>
          <p:nvPr/>
        </p:nvSpPr>
        <p:spPr>
          <a:xfrm>
            <a:off x="1874520" y="2551176"/>
            <a:ext cx="2011680" cy="292608"/>
          </a:xfrm>
          <a:prstGeom prst="rect">
            <a:avLst/>
          </a:prstGeom>
          <a:noFill/>
          <a:ln/>
        </p:spPr>
        <p:txBody>
          <a:bodyPr wrap="square" lIns="0" tIns="0" rIns="0" bIns="0" rtlCol="0" anchor="ctr"/>
          <a:lstStyle/>
          <a:p>
            <a:pPr indent="0" marL="0">
              <a:buNone/>
            </a:pPr>
            <a:r>
              <a:rPr lang="en-US" sz="2000" b="1" dirty="0">
                <a:solidFill>
                  <a:srgbClr val="171817"/>
                </a:solidFill>
              </a:rPr>
              <a:t>Asha, 26</a:t>
            </a:r>
            <a:endParaRPr lang="en-US" sz="2000" dirty="0"/>
          </a:p>
        </p:txBody>
      </p:sp>
      <p:sp>
        <p:nvSpPr>
          <p:cNvPr id="16" name="Text 13"/>
          <p:cNvSpPr/>
          <p:nvPr/>
        </p:nvSpPr>
        <p:spPr>
          <a:xfrm>
            <a:off x="1892808" y="2916936"/>
            <a:ext cx="3154680" cy="219456"/>
          </a:xfrm>
          <a:prstGeom prst="rect">
            <a:avLst/>
          </a:prstGeom>
          <a:noFill/>
          <a:ln/>
        </p:spPr>
        <p:txBody>
          <a:bodyPr wrap="square" lIns="0" tIns="0" rIns="0" bIns="0" rtlCol="0" anchor="ctr"/>
          <a:lstStyle/>
          <a:p>
            <a:pPr indent="0" marL="0">
              <a:buNone/>
            </a:pPr>
            <a:r>
              <a:rPr lang="en-US" sz="1000" dirty="0">
                <a:solidFill>
                  <a:srgbClr val="666C64"/>
                </a:solidFill>
              </a:rPr>
              <a:t>First-job salaried user  |  Bengaluru</a:t>
            </a:r>
            <a:endParaRPr lang="en-US" sz="1000" dirty="0"/>
          </a:p>
        </p:txBody>
      </p:sp>
      <p:sp>
        <p:nvSpPr>
          <p:cNvPr id="17" name="Text 14"/>
          <p:cNvSpPr/>
          <p:nvPr/>
        </p:nvSpPr>
        <p:spPr>
          <a:xfrm>
            <a:off x="877824" y="3575304"/>
            <a:ext cx="1828800" cy="164592"/>
          </a:xfrm>
          <a:prstGeom prst="rect">
            <a:avLst/>
          </a:prstGeom>
          <a:noFill/>
          <a:ln/>
        </p:spPr>
        <p:txBody>
          <a:bodyPr wrap="square" lIns="0" tIns="0" rIns="0" bIns="0" rtlCol="0" anchor="ctr"/>
          <a:lstStyle/>
          <a:p>
            <a:pPr indent="0" marL="0">
              <a:buNone/>
            </a:pPr>
            <a:r>
              <a:rPr lang="en-US" sz="750" b="1" spc="130" kern="0" dirty="0">
                <a:solidFill>
                  <a:srgbClr val="666C64"/>
                </a:solidFill>
              </a:rPr>
              <a:t>JOBS TO BE DONE</a:t>
            </a:r>
            <a:endParaRPr lang="en-US" sz="750" dirty="0"/>
          </a:p>
        </p:txBody>
      </p:sp>
      <p:sp>
        <p:nvSpPr>
          <p:cNvPr id="18" name="Text 15"/>
          <p:cNvSpPr/>
          <p:nvPr/>
        </p:nvSpPr>
        <p:spPr>
          <a:xfrm>
            <a:off x="914400" y="3858768"/>
            <a:ext cx="4480560" cy="1261872"/>
          </a:xfrm>
          <a:prstGeom prst="rect">
            <a:avLst/>
          </a:prstGeom>
          <a:noFill/>
          <a:ln/>
        </p:spPr>
        <p:txBody>
          <a:bodyPr wrap="square" lIns="0" tIns="0" rIns="0" bIns="0" rtlCol="0" anchor="t">
            <a:normAutofit/>
          </a:bodyPr>
          <a:lstStyle/>
          <a:p>
            <a:pPr marL="165100" indent="-165100">
              <a:buSzPct val="100000"/>
              <a:buChar char="•"/>
            </a:pPr>
            <a:r>
              <a:rPr lang="en-US" sz="1100" dirty="0">
                <a:solidFill>
                  <a:srgbClr val="171817"/>
                </a:solidFill>
              </a:rPr>
              <a:t>Know the exact amount due today before browsing deeply</a:t>
            </a:r>
            <a:endParaRPr lang="en-US" sz="1100" dirty="0"/>
          </a:p>
          <a:p>
            <a:pPr marL="165100" indent="-165100">
              <a:buSzPct val="100000"/>
              <a:buChar char="•"/>
            </a:pPr>
            <a:r>
              <a:rPr lang="en-US" sz="1100" dirty="0">
                <a:solidFill>
                  <a:srgbClr val="171817"/>
                </a:solidFill>
              </a:rPr>
              <a:t>Compare transparent plans without credit-card anxiety</a:t>
            </a:r>
            <a:endParaRPr lang="en-US" sz="1100" dirty="0"/>
          </a:p>
          <a:p>
            <a:pPr marL="165100" indent="-165100">
              <a:buSzPct val="100000"/>
              <a:buChar char="•"/>
            </a:pPr>
            <a:r>
              <a:rPr lang="en-US" sz="1100" dirty="0">
                <a:solidFill>
                  <a:srgbClr val="171817"/>
                </a:solidFill>
              </a:rPr>
              <a:t>Track order, loan, refund, and repayment in one place</a:t>
            </a:r>
            <a:endParaRPr lang="en-US" sz="1100" dirty="0"/>
          </a:p>
        </p:txBody>
      </p:sp>
      <p:sp>
        <p:nvSpPr>
          <p:cNvPr id="19" name="Shape 16"/>
          <p:cNvSpPr/>
          <p:nvPr/>
        </p:nvSpPr>
        <p:spPr>
          <a:xfrm>
            <a:off x="914400" y="5202936"/>
            <a:ext cx="2331720" cy="292608"/>
          </a:xfrm>
          <a:prstGeom prst="roundRect">
            <a:avLst>
              <a:gd name="adj" fmla="val 25000"/>
            </a:avLst>
          </a:prstGeom>
          <a:solidFill>
            <a:srgbClr val="E8EDFF"/>
          </a:solidFill>
          <a:ln w="12700">
            <a:solidFill>
              <a:srgbClr val="E8EDFF"/>
            </a:solidFill>
            <a:prstDash val="solid"/>
          </a:ln>
        </p:spPr>
      </p:sp>
      <p:sp>
        <p:nvSpPr>
          <p:cNvPr id="20" name="Text 17"/>
          <p:cNvSpPr/>
          <p:nvPr/>
        </p:nvSpPr>
        <p:spPr>
          <a:xfrm>
            <a:off x="987552" y="5230368"/>
            <a:ext cx="2185416" cy="219456"/>
          </a:xfrm>
          <a:prstGeom prst="rect">
            <a:avLst/>
          </a:prstGeom>
          <a:noFill/>
          <a:ln/>
        </p:spPr>
        <p:txBody>
          <a:bodyPr wrap="square" lIns="0" tIns="0" rIns="0" bIns="0" rtlCol="0" anchor="ctr">
            <a:normAutofit/>
          </a:bodyPr>
          <a:lstStyle/>
          <a:p>
            <a:pPr algn="ctr" indent="0" marL="0">
              <a:buNone/>
            </a:pPr>
            <a:r>
              <a:rPr lang="en-US" sz="850" b="1" dirty="0">
                <a:solidFill>
                  <a:srgbClr val="3566E8"/>
                </a:solidFill>
              </a:rPr>
              <a:t>Thin-file, not high-risk by default</a:t>
            </a:r>
            <a:endParaRPr lang="en-US" sz="850" dirty="0"/>
          </a:p>
        </p:txBody>
      </p:sp>
      <p:sp>
        <p:nvSpPr>
          <p:cNvPr id="21" name="Shape 18"/>
          <p:cNvSpPr/>
          <p:nvPr/>
        </p:nvSpPr>
        <p:spPr>
          <a:xfrm>
            <a:off x="6080760" y="2212848"/>
            <a:ext cx="5532120" cy="3401568"/>
          </a:xfrm>
          <a:prstGeom prst="rect">
            <a:avLst/>
          </a:prstGeom>
          <a:solidFill>
            <a:srgbClr val="171817"/>
          </a:solidFill>
          <a:ln w="12700">
            <a:solidFill>
              <a:srgbClr val="171817"/>
            </a:solidFill>
            <a:prstDash val="solid"/>
          </a:ln>
        </p:spPr>
      </p:sp>
      <p:sp>
        <p:nvSpPr>
          <p:cNvPr id="22" name="Shape 19"/>
          <p:cNvSpPr/>
          <p:nvPr/>
        </p:nvSpPr>
        <p:spPr>
          <a:xfrm>
            <a:off x="6355080" y="2542032"/>
            <a:ext cx="804672" cy="804672"/>
          </a:xfrm>
          <a:prstGeom prst="roundRect">
            <a:avLst>
              <a:gd name="adj" fmla="val 6818"/>
            </a:avLst>
          </a:prstGeom>
          <a:solidFill>
            <a:srgbClr val="C9F044"/>
          </a:solidFill>
          <a:ln w="12700">
            <a:solidFill>
              <a:srgbClr val="C9F044"/>
            </a:solidFill>
            <a:prstDash val="solid"/>
          </a:ln>
        </p:spPr>
      </p:sp>
      <p:sp>
        <p:nvSpPr>
          <p:cNvPr id="23" name="Text 20"/>
          <p:cNvSpPr/>
          <p:nvPr/>
        </p:nvSpPr>
        <p:spPr>
          <a:xfrm>
            <a:off x="6355080" y="2788920"/>
            <a:ext cx="804672" cy="182880"/>
          </a:xfrm>
          <a:prstGeom prst="rect">
            <a:avLst/>
          </a:prstGeom>
          <a:noFill/>
          <a:ln/>
        </p:spPr>
        <p:txBody>
          <a:bodyPr wrap="square" lIns="0" tIns="0" rIns="0" bIns="0" rtlCol="0" anchor="ctr"/>
          <a:lstStyle/>
          <a:p>
            <a:pPr algn="ctr" indent="0" marL="0">
              <a:buNone/>
            </a:pPr>
            <a:r>
              <a:rPr lang="en-US" sz="1300" b="1" dirty="0">
                <a:solidFill>
                  <a:srgbClr val="171817"/>
                </a:solidFill>
              </a:rPr>
              <a:t>VK</a:t>
            </a:r>
            <a:endParaRPr lang="en-US" sz="1300" dirty="0"/>
          </a:p>
        </p:txBody>
      </p:sp>
      <p:sp>
        <p:nvSpPr>
          <p:cNvPr id="24" name="Text 21"/>
          <p:cNvSpPr/>
          <p:nvPr/>
        </p:nvSpPr>
        <p:spPr>
          <a:xfrm>
            <a:off x="7360920" y="2551176"/>
            <a:ext cx="2560320" cy="292608"/>
          </a:xfrm>
          <a:prstGeom prst="rect">
            <a:avLst/>
          </a:prstGeom>
          <a:noFill/>
          <a:ln/>
        </p:spPr>
        <p:txBody>
          <a:bodyPr wrap="square" lIns="0" tIns="0" rIns="0" bIns="0" rtlCol="0" anchor="ctr"/>
          <a:lstStyle/>
          <a:p>
            <a:pPr indent="0" marL="0">
              <a:buNone/>
            </a:pPr>
            <a:r>
              <a:rPr lang="en-US" sz="2000" b="1" dirty="0">
                <a:solidFill>
                  <a:srgbClr val="FFFFFF"/>
                </a:solidFill>
              </a:rPr>
              <a:t>Value merchant</a:t>
            </a:r>
            <a:endParaRPr lang="en-US" sz="2000" dirty="0"/>
          </a:p>
        </p:txBody>
      </p:sp>
      <p:sp>
        <p:nvSpPr>
          <p:cNvPr id="25" name="Text 22"/>
          <p:cNvSpPr/>
          <p:nvPr/>
        </p:nvSpPr>
        <p:spPr>
          <a:xfrm>
            <a:off x="7379208" y="2916936"/>
            <a:ext cx="3383280" cy="219456"/>
          </a:xfrm>
          <a:prstGeom prst="rect">
            <a:avLst/>
          </a:prstGeom>
          <a:noFill/>
          <a:ln/>
        </p:spPr>
        <p:txBody>
          <a:bodyPr wrap="square" lIns="0" tIns="0" rIns="0" bIns="0" rtlCol="0" anchor="ctr"/>
          <a:lstStyle/>
          <a:p>
            <a:pPr indent="0" marL="0">
              <a:buNone/>
            </a:pPr>
            <a:r>
              <a:rPr lang="en-US" sz="1000" dirty="0">
                <a:solidFill>
                  <a:srgbClr val="B8BFB6"/>
                </a:solidFill>
              </a:rPr>
              <a:t>Mobile accessories / small appliances</a:t>
            </a:r>
            <a:endParaRPr lang="en-US" sz="1000" dirty="0"/>
          </a:p>
        </p:txBody>
      </p:sp>
      <p:sp>
        <p:nvSpPr>
          <p:cNvPr id="26" name="Text 23"/>
          <p:cNvSpPr/>
          <p:nvPr/>
        </p:nvSpPr>
        <p:spPr>
          <a:xfrm>
            <a:off x="6382512" y="3575304"/>
            <a:ext cx="1828800" cy="164592"/>
          </a:xfrm>
          <a:prstGeom prst="rect">
            <a:avLst/>
          </a:prstGeom>
          <a:noFill/>
          <a:ln/>
        </p:spPr>
        <p:txBody>
          <a:bodyPr wrap="square" lIns="0" tIns="0" rIns="0" bIns="0" rtlCol="0" anchor="ctr"/>
          <a:lstStyle/>
          <a:p>
            <a:pPr indent="0" marL="0">
              <a:buNone/>
            </a:pPr>
            <a:r>
              <a:rPr lang="en-US" sz="750" b="1" spc="130" kern="0" dirty="0">
                <a:solidFill>
                  <a:srgbClr val="C9F044"/>
                </a:solidFill>
              </a:rPr>
              <a:t>JOBS TO BE DONE</a:t>
            </a:r>
            <a:endParaRPr lang="en-US" sz="750" dirty="0"/>
          </a:p>
        </p:txBody>
      </p:sp>
      <p:sp>
        <p:nvSpPr>
          <p:cNvPr id="27" name="Text 24"/>
          <p:cNvSpPr/>
          <p:nvPr/>
        </p:nvSpPr>
        <p:spPr>
          <a:xfrm>
            <a:off x="6419088" y="3858768"/>
            <a:ext cx="4572000" cy="1261872"/>
          </a:xfrm>
          <a:prstGeom prst="rect">
            <a:avLst/>
          </a:prstGeom>
          <a:noFill/>
          <a:ln/>
        </p:spPr>
        <p:txBody>
          <a:bodyPr wrap="square" lIns="0" tIns="0" rIns="0" bIns="0" rtlCol="0" anchor="t">
            <a:normAutofit/>
          </a:bodyPr>
          <a:lstStyle/>
          <a:p>
            <a:pPr marL="165100" indent="-165100">
              <a:buSzPct val="100000"/>
              <a:buChar char="•"/>
            </a:pPr>
            <a:r>
              <a:rPr lang="en-US" sz="1100" dirty="0">
                <a:solidFill>
                  <a:srgbClr val="FFFFFF"/>
                </a:solidFill>
              </a:rPr>
              <a:t>Make more SKUs financeable without integrating lenders</a:t>
            </a:r>
            <a:endParaRPr lang="en-US" sz="1100" dirty="0"/>
          </a:p>
          <a:p>
            <a:pPr marL="165100" indent="-165100">
              <a:buSzPct val="100000"/>
              <a:buChar char="•"/>
            </a:pPr>
            <a:r>
              <a:rPr lang="en-US" sz="1100" dirty="0">
                <a:solidFill>
                  <a:srgbClr val="FFFFFF"/>
                </a:solidFill>
              </a:rPr>
              <a:t>Fund only offers that create incremental conversion</a:t>
            </a:r>
            <a:endParaRPr lang="en-US" sz="1100" dirty="0"/>
          </a:p>
          <a:p>
            <a:pPr marL="165100" indent="-165100">
              <a:buSzPct val="100000"/>
              <a:buChar char="•"/>
            </a:pPr>
            <a:r>
              <a:rPr lang="en-US" sz="1100" dirty="0">
                <a:solidFill>
                  <a:srgbClr val="FFFFFF"/>
                </a:solidFill>
              </a:rPr>
              <a:t>Reconcile orders, refunds, fees, and settlement cleanly</a:t>
            </a:r>
            <a:endParaRPr lang="en-US" sz="1100" dirty="0"/>
          </a:p>
        </p:txBody>
      </p:sp>
      <p:sp>
        <p:nvSpPr>
          <p:cNvPr id="28" name="Shape 25"/>
          <p:cNvSpPr/>
          <p:nvPr/>
        </p:nvSpPr>
        <p:spPr>
          <a:xfrm>
            <a:off x="6419088" y="5202936"/>
            <a:ext cx="1993392" cy="292608"/>
          </a:xfrm>
          <a:prstGeom prst="roundRect">
            <a:avLst>
              <a:gd name="adj" fmla="val 25000"/>
            </a:avLst>
          </a:prstGeom>
          <a:solidFill>
            <a:srgbClr val="3B4430"/>
          </a:solidFill>
          <a:ln w="12700">
            <a:solidFill>
              <a:srgbClr val="3B4430"/>
            </a:solidFill>
            <a:prstDash val="solid"/>
          </a:ln>
        </p:spPr>
      </p:sp>
      <p:sp>
        <p:nvSpPr>
          <p:cNvPr id="29" name="Text 26"/>
          <p:cNvSpPr/>
          <p:nvPr/>
        </p:nvSpPr>
        <p:spPr>
          <a:xfrm>
            <a:off x="6492240" y="5230368"/>
            <a:ext cx="1847088" cy="219456"/>
          </a:xfrm>
          <a:prstGeom prst="rect">
            <a:avLst/>
          </a:prstGeom>
          <a:noFill/>
          <a:ln/>
        </p:spPr>
        <p:txBody>
          <a:bodyPr wrap="square" lIns="0" tIns="0" rIns="0" bIns="0" rtlCol="0" anchor="ctr">
            <a:normAutofit/>
          </a:bodyPr>
          <a:lstStyle/>
          <a:p>
            <a:pPr algn="ctr" indent="0" marL="0">
              <a:buNone/>
            </a:pPr>
            <a:r>
              <a:rPr lang="en-US" sz="850" b="1" dirty="0">
                <a:solidFill>
                  <a:srgbClr val="C9F044"/>
                </a:solidFill>
              </a:rPr>
              <a:t>Pays for measured outcomes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NARROW SCOPE</a:t>
            </a:r>
            <a:endParaRPr lang="en-US" sz="850" dirty="0"/>
          </a:p>
        </p:txBody>
      </p:sp>
      <p:sp>
        <p:nvSpPr>
          <p:cNvPr id="6" name="Text 4"/>
          <p:cNvSpPr/>
          <p:nvPr/>
        </p:nvSpPr>
        <p:spPr>
          <a:xfrm>
            <a:off x="566928" y="1033272"/>
            <a:ext cx="8046720" cy="530352"/>
          </a:xfrm>
          <a:prstGeom prst="rect">
            <a:avLst/>
          </a:prstGeom>
          <a:noFill/>
          <a:ln/>
        </p:spPr>
        <p:txBody>
          <a:bodyPr wrap="square" lIns="0" tIns="0" rIns="0" bIns="0" rtlCol="0" anchor="ctr">
            <a:normAutofit/>
          </a:bodyPr>
          <a:lstStyle/>
          <a:p>
            <a:pPr indent="0" marL="0">
              <a:buNone/>
            </a:pPr>
            <a:r>
              <a:rPr lang="en-US" sz="2700" b="1" dirty="0">
                <a:solidFill>
                  <a:srgbClr val="171817"/>
                </a:solidFill>
              </a:rPr>
              <a:t>Three connected functions, not marketplace breadth.</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Each function closes a specific commerce-credit loop and has a measurable P&amp;L consequence.</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AFFORDABLE COMMERCE CONCEPT</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04</a:t>
            </a:r>
            <a:endParaRPr lang="en-US" sz="800" dirty="0"/>
          </a:p>
        </p:txBody>
      </p:sp>
      <p:sp>
        <p:nvSpPr>
          <p:cNvPr id="12" name="Shape 9"/>
          <p:cNvSpPr/>
          <p:nvPr/>
        </p:nvSpPr>
        <p:spPr>
          <a:xfrm>
            <a:off x="594360" y="2176272"/>
            <a:ext cx="3401568" cy="2962656"/>
          </a:xfrm>
          <a:prstGeom prst="rect">
            <a:avLst/>
          </a:prstGeom>
          <a:solidFill>
            <a:srgbClr val="E8EDFF"/>
          </a:solidFill>
          <a:ln w="12700">
            <a:solidFill>
              <a:srgbClr val="E8EDFF"/>
            </a:solidFill>
            <a:prstDash val="solid"/>
          </a:ln>
        </p:spPr>
      </p:sp>
      <p:sp>
        <p:nvSpPr>
          <p:cNvPr id="13" name="Text 10"/>
          <p:cNvSpPr/>
          <p:nvPr/>
        </p:nvSpPr>
        <p:spPr>
          <a:xfrm>
            <a:off x="822960" y="2441448"/>
            <a:ext cx="475488" cy="274320"/>
          </a:xfrm>
          <a:prstGeom prst="rect">
            <a:avLst/>
          </a:prstGeom>
          <a:noFill/>
          <a:ln/>
        </p:spPr>
        <p:txBody>
          <a:bodyPr wrap="square" lIns="0" tIns="0" rIns="0" bIns="0" rtlCol="0" anchor="ctr"/>
          <a:lstStyle/>
          <a:p>
            <a:pPr indent="0" marL="0">
              <a:buNone/>
            </a:pPr>
            <a:r>
              <a:rPr lang="en-US" sz="1700" b="1" dirty="0">
                <a:solidFill>
                  <a:srgbClr val="3566E8"/>
                </a:solidFill>
              </a:rPr>
              <a:t>01</a:t>
            </a:r>
            <a:endParaRPr lang="en-US" sz="1700" dirty="0"/>
          </a:p>
        </p:txBody>
      </p:sp>
      <p:sp>
        <p:nvSpPr>
          <p:cNvPr id="14" name="Text 11"/>
          <p:cNvSpPr/>
          <p:nvPr/>
        </p:nvSpPr>
        <p:spPr>
          <a:xfrm>
            <a:off x="822960" y="2889504"/>
            <a:ext cx="2907792" cy="475488"/>
          </a:xfrm>
          <a:prstGeom prst="rect">
            <a:avLst/>
          </a:prstGeom>
          <a:noFill/>
          <a:ln/>
        </p:spPr>
        <p:txBody>
          <a:bodyPr wrap="square" lIns="0" tIns="0" rIns="0" bIns="0" rtlCol="0" anchor="ctr">
            <a:normAutofit/>
          </a:bodyPr>
          <a:lstStyle/>
          <a:p>
            <a:pPr indent="0" marL="0">
              <a:buNone/>
            </a:pPr>
            <a:r>
              <a:rPr lang="en-US" sz="1800" b="1" dirty="0">
                <a:solidFill>
                  <a:srgbClr val="171817"/>
                </a:solidFill>
              </a:rPr>
              <a:t>Credit-aware catalogue</a:t>
            </a:r>
            <a:endParaRPr lang="en-US" sz="1800" dirty="0"/>
          </a:p>
        </p:txBody>
      </p:sp>
      <p:sp>
        <p:nvSpPr>
          <p:cNvPr id="15" name="Text 12"/>
          <p:cNvSpPr/>
          <p:nvPr/>
        </p:nvSpPr>
        <p:spPr>
          <a:xfrm>
            <a:off x="822960" y="3502152"/>
            <a:ext cx="2816352" cy="603504"/>
          </a:xfrm>
          <a:prstGeom prst="rect">
            <a:avLst/>
          </a:prstGeom>
          <a:noFill/>
          <a:ln/>
        </p:spPr>
        <p:txBody>
          <a:bodyPr wrap="square" lIns="0" tIns="0" rIns="0" bIns="0" rtlCol="0" anchor="ctr">
            <a:normAutofit/>
          </a:bodyPr>
          <a:lstStyle/>
          <a:p>
            <a:pPr indent="0" marL="0">
              <a:buNone/>
            </a:pPr>
            <a:r>
              <a:rPr lang="en-US" sz="1050" dirty="0">
                <a:solidFill>
                  <a:srgbClr val="666C64"/>
                </a:solidFill>
              </a:rPr>
              <a:t>Show only relevant, financeable choices with the upfront amount first.</a:t>
            </a:r>
            <a:endParaRPr lang="en-US" sz="1050" dirty="0"/>
          </a:p>
        </p:txBody>
      </p:sp>
      <p:sp>
        <p:nvSpPr>
          <p:cNvPr id="16" name="Text 13"/>
          <p:cNvSpPr/>
          <p:nvPr/>
        </p:nvSpPr>
        <p:spPr>
          <a:xfrm>
            <a:off x="822960" y="4325112"/>
            <a:ext cx="1371600" cy="164592"/>
          </a:xfrm>
          <a:prstGeom prst="rect">
            <a:avLst/>
          </a:prstGeom>
          <a:noFill/>
          <a:ln/>
        </p:spPr>
        <p:txBody>
          <a:bodyPr wrap="square" lIns="0" tIns="0" rIns="0" bIns="0" rtlCol="0" anchor="ctr"/>
          <a:lstStyle/>
          <a:p>
            <a:pPr indent="0" marL="0">
              <a:buNone/>
            </a:pPr>
            <a:r>
              <a:rPr lang="en-US" sz="750" b="1" spc="130" kern="0" dirty="0">
                <a:solidFill>
                  <a:srgbClr val="3566E8"/>
                </a:solidFill>
              </a:rPr>
              <a:t>PRIMARY METRIC</a:t>
            </a:r>
            <a:endParaRPr lang="en-US" sz="750" dirty="0"/>
          </a:p>
        </p:txBody>
      </p:sp>
      <p:sp>
        <p:nvSpPr>
          <p:cNvPr id="17" name="Text 14"/>
          <p:cNvSpPr/>
          <p:nvPr/>
        </p:nvSpPr>
        <p:spPr>
          <a:xfrm>
            <a:off x="822960" y="4562856"/>
            <a:ext cx="1828800" cy="228600"/>
          </a:xfrm>
          <a:prstGeom prst="rect">
            <a:avLst/>
          </a:prstGeom>
          <a:noFill/>
          <a:ln/>
        </p:spPr>
        <p:txBody>
          <a:bodyPr wrap="square" lIns="0" tIns="0" rIns="0" bIns="0" rtlCol="0" anchor="ctr"/>
          <a:lstStyle/>
          <a:p>
            <a:pPr indent="0" marL="0">
              <a:buNone/>
            </a:pPr>
            <a:r>
              <a:rPr lang="en-US" sz="1000" b="1" dirty="0">
                <a:solidFill>
                  <a:srgbClr val="171817"/>
                </a:solidFill>
              </a:rPr>
              <a:t>PDP open + quote view</a:t>
            </a:r>
            <a:endParaRPr lang="en-US" sz="1000" dirty="0"/>
          </a:p>
        </p:txBody>
      </p:sp>
      <p:sp>
        <p:nvSpPr>
          <p:cNvPr id="18" name="Shape 15"/>
          <p:cNvSpPr/>
          <p:nvPr/>
        </p:nvSpPr>
        <p:spPr>
          <a:xfrm>
            <a:off x="2587752" y="4498848"/>
            <a:ext cx="1078992" cy="292608"/>
          </a:xfrm>
          <a:prstGeom prst="roundRect">
            <a:avLst>
              <a:gd name="adj" fmla="val 25000"/>
            </a:avLst>
          </a:prstGeom>
          <a:solidFill>
            <a:srgbClr val="FFFFFF"/>
          </a:solidFill>
          <a:ln w="12700">
            <a:solidFill>
              <a:srgbClr val="FFFFFF"/>
            </a:solidFill>
            <a:prstDash val="solid"/>
          </a:ln>
        </p:spPr>
      </p:sp>
      <p:sp>
        <p:nvSpPr>
          <p:cNvPr id="19" name="Text 16"/>
          <p:cNvSpPr/>
          <p:nvPr/>
        </p:nvSpPr>
        <p:spPr>
          <a:xfrm>
            <a:off x="2660904" y="4526280"/>
            <a:ext cx="932688" cy="219456"/>
          </a:xfrm>
          <a:prstGeom prst="rect">
            <a:avLst/>
          </a:prstGeom>
          <a:noFill/>
          <a:ln/>
        </p:spPr>
        <p:txBody>
          <a:bodyPr wrap="square" lIns="0" tIns="0" rIns="0" bIns="0" rtlCol="0" anchor="ctr">
            <a:normAutofit/>
          </a:bodyPr>
          <a:lstStyle/>
          <a:p>
            <a:pPr algn="ctr" indent="0" marL="0">
              <a:buNone/>
            </a:pPr>
            <a:r>
              <a:rPr lang="en-US" sz="850" b="1" dirty="0">
                <a:solidFill>
                  <a:srgbClr val="3566E8"/>
                </a:solidFill>
              </a:rPr>
              <a:t>Qualified demand</a:t>
            </a:r>
            <a:endParaRPr lang="en-US" sz="850" dirty="0"/>
          </a:p>
        </p:txBody>
      </p:sp>
      <p:sp>
        <p:nvSpPr>
          <p:cNvPr id="20" name="Shape 17"/>
          <p:cNvSpPr/>
          <p:nvPr/>
        </p:nvSpPr>
        <p:spPr>
          <a:xfrm>
            <a:off x="4389120" y="2176272"/>
            <a:ext cx="3401568" cy="2962656"/>
          </a:xfrm>
          <a:prstGeom prst="rect">
            <a:avLst/>
          </a:prstGeom>
          <a:solidFill>
            <a:srgbClr val="EFF9CB"/>
          </a:solidFill>
          <a:ln w="12700">
            <a:solidFill>
              <a:srgbClr val="EFF9CB"/>
            </a:solidFill>
            <a:prstDash val="solid"/>
          </a:ln>
        </p:spPr>
      </p:sp>
      <p:sp>
        <p:nvSpPr>
          <p:cNvPr id="21" name="Text 18"/>
          <p:cNvSpPr/>
          <p:nvPr/>
        </p:nvSpPr>
        <p:spPr>
          <a:xfrm>
            <a:off x="4617720" y="2441448"/>
            <a:ext cx="475488" cy="274320"/>
          </a:xfrm>
          <a:prstGeom prst="rect">
            <a:avLst/>
          </a:prstGeom>
          <a:noFill/>
          <a:ln/>
        </p:spPr>
        <p:txBody>
          <a:bodyPr wrap="square" lIns="0" tIns="0" rIns="0" bIns="0" rtlCol="0" anchor="ctr"/>
          <a:lstStyle/>
          <a:p>
            <a:pPr indent="0" marL="0">
              <a:buNone/>
            </a:pPr>
            <a:r>
              <a:rPr lang="en-US" sz="1700" b="1" dirty="0">
                <a:solidFill>
                  <a:srgbClr val="668700"/>
                </a:solidFill>
              </a:rPr>
              <a:t>02</a:t>
            </a:r>
            <a:endParaRPr lang="en-US" sz="1700" dirty="0"/>
          </a:p>
        </p:txBody>
      </p:sp>
      <p:sp>
        <p:nvSpPr>
          <p:cNvPr id="22" name="Text 19"/>
          <p:cNvSpPr/>
          <p:nvPr/>
        </p:nvSpPr>
        <p:spPr>
          <a:xfrm>
            <a:off x="4617720" y="2889504"/>
            <a:ext cx="2907792" cy="475488"/>
          </a:xfrm>
          <a:prstGeom prst="rect">
            <a:avLst/>
          </a:prstGeom>
          <a:noFill/>
          <a:ln/>
        </p:spPr>
        <p:txBody>
          <a:bodyPr wrap="square" lIns="0" tIns="0" rIns="0" bIns="0" rtlCol="0" anchor="ctr">
            <a:normAutofit/>
          </a:bodyPr>
          <a:lstStyle/>
          <a:p>
            <a:pPr indent="0" marL="0">
              <a:buNone/>
            </a:pPr>
            <a:r>
              <a:rPr lang="en-US" sz="1800" b="1" dirty="0">
                <a:solidFill>
                  <a:srgbClr val="171817"/>
                </a:solidFill>
              </a:rPr>
              <a:t>Native financed checkout</a:t>
            </a:r>
            <a:endParaRPr lang="en-US" sz="1800" dirty="0"/>
          </a:p>
        </p:txBody>
      </p:sp>
      <p:sp>
        <p:nvSpPr>
          <p:cNvPr id="23" name="Text 20"/>
          <p:cNvSpPr/>
          <p:nvPr/>
        </p:nvSpPr>
        <p:spPr>
          <a:xfrm>
            <a:off x="4617720" y="3502152"/>
            <a:ext cx="2816352" cy="603504"/>
          </a:xfrm>
          <a:prstGeom prst="rect">
            <a:avLst/>
          </a:prstGeom>
          <a:noFill/>
          <a:ln/>
        </p:spPr>
        <p:txBody>
          <a:bodyPr wrap="square" lIns="0" tIns="0" rIns="0" bIns="0" rtlCol="0" anchor="ctr">
            <a:normAutofit/>
          </a:bodyPr>
          <a:lstStyle/>
          <a:p>
            <a:pPr indent="0" marL="0">
              <a:buNone/>
            </a:pPr>
            <a:r>
              <a:rPr lang="en-US" sz="1050" dirty="0">
                <a:solidFill>
                  <a:srgbClr val="666C64"/>
                </a:solidFill>
              </a:rPr>
              <a:t>Orchestrate payment, mandate, loan, and order behind one review.</a:t>
            </a:r>
            <a:endParaRPr lang="en-US" sz="1050" dirty="0"/>
          </a:p>
        </p:txBody>
      </p:sp>
      <p:sp>
        <p:nvSpPr>
          <p:cNvPr id="24" name="Text 21"/>
          <p:cNvSpPr/>
          <p:nvPr/>
        </p:nvSpPr>
        <p:spPr>
          <a:xfrm>
            <a:off x="4617720" y="4325112"/>
            <a:ext cx="1371600" cy="164592"/>
          </a:xfrm>
          <a:prstGeom prst="rect">
            <a:avLst/>
          </a:prstGeom>
          <a:noFill/>
          <a:ln/>
        </p:spPr>
        <p:txBody>
          <a:bodyPr wrap="square" lIns="0" tIns="0" rIns="0" bIns="0" rtlCol="0" anchor="ctr"/>
          <a:lstStyle/>
          <a:p>
            <a:pPr indent="0" marL="0">
              <a:buNone/>
            </a:pPr>
            <a:r>
              <a:rPr lang="en-US" sz="750" b="1" spc="130" kern="0" dirty="0">
                <a:solidFill>
                  <a:srgbClr val="668700"/>
                </a:solidFill>
              </a:rPr>
              <a:t>PRIMARY METRIC</a:t>
            </a:r>
            <a:endParaRPr lang="en-US" sz="750" dirty="0"/>
          </a:p>
        </p:txBody>
      </p:sp>
      <p:sp>
        <p:nvSpPr>
          <p:cNvPr id="25" name="Text 22"/>
          <p:cNvSpPr/>
          <p:nvPr/>
        </p:nvSpPr>
        <p:spPr>
          <a:xfrm>
            <a:off x="4617720" y="4562856"/>
            <a:ext cx="1828800" cy="228600"/>
          </a:xfrm>
          <a:prstGeom prst="rect">
            <a:avLst/>
          </a:prstGeom>
          <a:noFill/>
          <a:ln/>
        </p:spPr>
        <p:txBody>
          <a:bodyPr wrap="square" lIns="0" tIns="0" rIns="0" bIns="0" rtlCol="0" anchor="ctr"/>
          <a:lstStyle/>
          <a:p>
            <a:pPr indent="0" marL="0">
              <a:buNone/>
            </a:pPr>
            <a:r>
              <a:rPr lang="en-US" sz="1000" b="1" dirty="0">
                <a:solidFill>
                  <a:srgbClr val="171817"/>
                </a:solidFill>
              </a:rPr>
              <a:t>Cart-to-order success</a:t>
            </a:r>
            <a:endParaRPr lang="en-US" sz="1000" dirty="0"/>
          </a:p>
        </p:txBody>
      </p:sp>
      <p:sp>
        <p:nvSpPr>
          <p:cNvPr id="26" name="Shape 23"/>
          <p:cNvSpPr/>
          <p:nvPr/>
        </p:nvSpPr>
        <p:spPr>
          <a:xfrm>
            <a:off x="6382512" y="4498848"/>
            <a:ext cx="1078992" cy="292608"/>
          </a:xfrm>
          <a:prstGeom prst="roundRect">
            <a:avLst>
              <a:gd name="adj" fmla="val 25000"/>
            </a:avLst>
          </a:prstGeom>
          <a:solidFill>
            <a:srgbClr val="FFFFFF"/>
          </a:solidFill>
          <a:ln w="12700">
            <a:solidFill>
              <a:srgbClr val="FFFFFF"/>
            </a:solidFill>
            <a:prstDash val="solid"/>
          </a:ln>
        </p:spPr>
      </p:sp>
      <p:sp>
        <p:nvSpPr>
          <p:cNvPr id="27" name="Text 24"/>
          <p:cNvSpPr/>
          <p:nvPr/>
        </p:nvSpPr>
        <p:spPr>
          <a:xfrm>
            <a:off x="6455664" y="4526280"/>
            <a:ext cx="932688" cy="219456"/>
          </a:xfrm>
          <a:prstGeom prst="rect">
            <a:avLst/>
          </a:prstGeom>
          <a:noFill/>
          <a:ln/>
        </p:spPr>
        <p:txBody>
          <a:bodyPr wrap="square" lIns="0" tIns="0" rIns="0" bIns="0" rtlCol="0" anchor="ctr">
            <a:normAutofit/>
          </a:bodyPr>
          <a:lstStyle/>
          <a:p>
            <a:pPr algn="ctr" indent="0" marL="0">
              <a:buNone/>
            </a:pPr>
            <a:r>
              <a:rPr lang="en-US" sz="850" b="1" dirty="0">
                <a:solidFill>
                  <a:srgbClr val="668700"/>
                </a:solidFill>
              </a:rPr>
              <a:t>Less abandonment</a:t>
            </a:r>
            <a:endParaRPr lang="en-US" sz="850" dirty="0"/>
          </a:p>
        </p:txBody>
      </p:sp>
      <p:sp>
        <p:nvSpPr>
          <p:cNvPr id="28" name="Shape 25"/>
          <p:cNvSpPr/>
          <p:nvPr/>
        </p:nvSpPr>
        <p:spPr>
          <a:xfrm>
            <a:off x="8183880" y="2176272"/>
            <a:ext cx="3401568" cy="2962656"/>
          </a:xfrm>
          <a:prstGeom prst="rect">
            <a:avLst/>
          </a:prstGeom>
          <a:solidFill>
            <a:srgbClr val="FFEBE8"/>
          </a:solidFill>
          <a:ln w="12700">
            <a:solidFill>
              <a:srgbClr val="FFEBE8"/>
            </a:solidFill>
            <a:prstDash val="solid"/>
          </a:ln>
        </p:spPr>
      </p:sp>
      <p:sp>
        <p:nvSpPr>
          <p:cNvPr id="29" name="Text 26"/>
          <p:cNvSpPr/>
          <p:nvPr/>
        </p:nvSpPr>
        <p:spPr>
          <a:xfrm>
            <a:off x="8412480" y="2441448"/>
            <a:ext cx="475488" cy="274320"/>
          </a:xfrm>
          <a:prstGeom prst="rect">
            <a:avLst/>
          </a:prstGeom>
          <a:noFill/>
          <a:ln/>
        </p:spPr>
        <p:txBody>
          <a:bodyPr wrap="square" lIns="0" tIns="0" rIns="0" bIns="0" rtlCol="0" anchor="ctr"/>
          <a:lstStyle/>
          <a:p>
            <a:pPr indent="0" marL="0">
              <a:buNone/>
            </a:pPr>
            <a:r>
              <a:rPr lang="en-US" sz="1700" b="1" dirty="0">
                <a:solidFill>
                  <a:srgbClr val="F26A5D"/>
                </a:solidFill>
              </a:rPr>
              <a:t>03</a:t>
            </a:r>
            <a:endParaRPr lang="en-US" sz="1700" dirty="0"/>
          </a:p>
        </p:txBody>
      </p:sp>
      <p:sp>
        <p:nvSpPr>
          <p:cNvPr id="30" name="Text 27"/>
          <p:cNvSpPr/>
          <p:nvPr/>
        </p:nvSpPr>
        <p:spPr>
          <a:xfrm>
            <a:off x="8412480" y="2889504"/>
            <a:ext cx="2907792" cy="475488"/>
          </a:xfrm>
          <a:prstGeom prst="rect">
            <a:avLst/>
          </a:prstGeom>
          <a:noFill/>
          <a:ln/>
        </p:spPr>
        <p:txBody>
          <a:bodyPr wrap="square" lIns="0" tIns="0" rIns="0" bIns="0" rtlCol="0" anchor="ctr">
            <a:normAutofit/>
          </a:bodyPr>
          <a:lstStyle/>
          <a:p>
            <a:pPr indent="0" marL="0">
              <a:buNone/>
            </a:pPr>
            <a:r>
              <a:rPr lang="en-US" sz="1800" b="1" dirty="0">
                <a:solidFill>
                  <a:srgbClr val="171817"/>
                </a:solidFill>
              </a:rPr>
              <a:t>Merchant affordability OS</a:t>
            </a:r>
            <a:endParaRPr lang="en-US" sz="1800" dirty="0"/>
          </a:p>
        </p:txBody>
      </p:sp>
      <p:sp>
        <p:nvSpPr>
          <p:cNvPr id="31" name="Text 28"/>
          <p:cNvSpPr/>
          <p:nvPr/>
        </p:nvSpPr>
        <p:spPr>
          <a:xfrm>
            <a:off x="8412480" y="3502152"/>
            <a:ext cx="2816352" cy="603504"/>
          </a:xfrm>
          <a:prstGeom prst="rect">
            <a:avLst/>
          </a:prstGeom>
          <a:noFill/>
          <a:ln/>
        </p:spPr>
        <p:txBody>
          <a:bodyPr wrap="square" lIns="0" tIns="0" rIns="0" bIns="0" rtlCol="0" anchor="ctr">
            <a:normAutofit/>
          </a:bodyPr>
          <a:lstStyle/>
          <a:p>
            <a:pPr indent="0" marL="0">
              <a:buNone/>
            </a:pPr>
            <a:r>
              <a:rPr lang="en-US" sz="1050" dirty="0">
                <a:solidFill>
                  <a:srgbClr val="666C64"/>
                </a:solidFill>
              </a:rPr>
              <a:t>Make SKU and offer economics visible before a seller spends.</a:t>
            </a:r>
            <a:endParaRPr lang="en-US" sz="1050" dirty="0"/>
          </a:p>
        </p:txBody>
      </p:sp>
      <p:sp>
        <p:nvSpPr>
          <p:cNvPr id="32" name="Text 29"/>
          <p:cNvSpPr/>
          <p:nvPr/>
        </p:nvSpPr>
        <p:spPr>
          <a:xfrm>
            <a:off x="8412480" y="4325112"/>
            <a:ext cx="1371600" cy="164592"/>
          </a:xfrm>
          <a:prstGeom prst="rect">
            <a:avLst/>
          </a:prstGeom>
          <a:noFill/>
          <a:ln/>
        </p:spPr>
        <p:txBody>
          <a:bodyPr wrap="square" lIns="0" tIns="0" rIns="0" bIns="0" rtlCol="0" anchor="ctr"/>
          <a:lstStyle/>
          <a:p>
            <a:pPr indent="0" marL="0">
              <a:buNone/>
            </a:pPr>
            <a:r>
              <a:rPr lang="en-US" sz="750" b="1" spc="130" kern="0" dirty="0">
                <a:solidFill>
                  <a:srgbClr val="F26A5D"/>
                </a:solidFill>
              </a:rPr>
              <a:t>PRIMARY METRIC</a:t>
            </a:r>
            <a:endParaRPr lang="en-US" sz="750" dirty="0"/>
          </a:p>
        </p:txBody>
      </p:sp>
      <p:sp>
        <p:nvSpPr>
          <p:cNvPr id="33" name="Text 30"/>
          <p:cNvSpPr/>
          <p:nvPr/>
        </p:nvSpPr>
        <p:spPr>
          <a:xfrm>
            <a:off x="8412480" y="4562856"/>
            <a:ext cx="1828800" cy="228600"/>
          </a:xfrm>
          <a:prstGeom prst="rect">
            <a:avLst/>
          </a:prstGeom>
          <a:noFill/>
          <a:ln/>
        </p:spPr>
        <p:txBody>
          <a:bodyPr wrap="square" lIns="0" tIns="0" rIns="0" bIns="0" rtlCol="0" anchor="ctr"/>
          <a:lstStyle/>
          <a:p>
            <a:pPr indent="0" marL="0">
              <a:buNone/>
            </a:pPr>
            <a:r>
              <a:rPr lang="en-US" sz="1000" b="1" dirty="0">
                <a:solidFill>
                  <a:srgbClr val="171817"/>
                </a:solidFill>
              </a:rPr>
              <a:t>Incremental conversion</a:t>
            </a:r>
            <a:endParaRPr lang="en-US" sz="1000" dirty="0"/>
          </a:p>
        </p:txBody>
      </p:sp>
      <p:sp>
        <p:nvSpPr>
          <p:cNvPr id="34" name="Shape 31"/>
          <p:cNvSpPr/>
          <p:nvPr/>
        </p:nvSpPr>
        <p:spPr>
          <a:xfrm>
            <a:off x="10177272" y="4498848"/>
            <a:ext cx="1078992" cy="292608"/>
          </a:xfrm>
          <a:prstGeom prst="roundRect">
            <a:avLst>
              <a:gd name="adj" fmla="val 25000"/>
            </a:avLst>
          </a:prstGeom>
          <a:solidFill>
            <a:srgbClr val="FFFFFF"/>
          </a:solidFill>
          <a:ln w="12700">
            <a:solidFill>
              <a:srgbClr val="FFFFFF"/>
            </a:solidFill>
            <a:prstDash val="solid"/>
          </a:ln>
        </p:spPr>
      </p:sp>
      <p:sp>
        <p:nvSpPr>
          <p:cNvPr id="35" name="Text 32"/>
          <p:cNvSpPr/>
          <p:nvPr/>
        </p:nvSpPr>
        <p:spPr>
          <a:xfrm>
            <a:off x="10250424" y="4526280"/>
            <a:ext cx="932688" cy="219456"/>
          </a:xfrm>
          <a:prstGeom prst="rect">
            <a:avLst/>
          </a:prstGeom>
          <a:noFill/>
          <a:ln/>
        </p:spPr>
        <p:txBody>
          <a:bodyPr wrap="square" lIns="0" tIns="0" rIns="0" bIns="0" rtlCol="0" anchor="ctr">
            <a:normAutofit/>
          </a:bodyPr>
          <a:lstStyle/>
          <a:p>
            <a:pPr algn="ctr" indent="0" marL="0">
              <a:buNone/>
            </a:pPr>
            <a:r>
              <a:rPr lang="en-US" sz="850" b="1" dirty="0">
                <a:solidFill>
                  <a:srgbClr val="F26A5D"/>
                </a:solidFill>
              </a:rPr>
              <a:t>Profitable supply</a:t>
            </a:r>
            <a:endParaRPr lang="en-US" sz="850" dirty="0"/>
          </a:p>
        </p:txBody>
      </p:sp>
      <p:sp>
        <p:nvSpPr>
          <p:cNvPr id="36" name="Shape 33"/>
          <p:cNvSpPr/>
          <p:nvPr/>
        </p:nvSpPr>
        <p:spPr>
          <a:xfrm>
            <a:off x="594360" y="5440680"/>
            <a:ext cx="11018520" cy="667512"/>
          </a:xfrm>
          <a:prstGeom prst="rect">
            <a:avLst/>
          </a:prstGeom>
          <a:solidFill>
            <a:srgbClr val="FFFFFF"/>
          </a:solidFill>
          <a:ln w="12700">
            <a:solidFill>
              <a:srgbClr val="DFE2DB"/>
            </a:solidFill>
            <a:prstDash val="solid"/>
          </a:ln>
        </p:spPr>
      </p:sp>
      <p:sp>
        <p:nvSpPr>
          <p:cNvPr id="37" name="Text 34"/>
          <p:cNvSpPr/>
          <p:nvPr/>
        </p:nvSpPr>
        <p:spPr>
          <a:xfrm>
            <a:off x="822960" y="5669280"/>
            <a:ext cx="1097280" cy="164592"/>
          </a:xfrm>
          <a:prstGeom prst="rect">
            <a:avLst/>
          </a:prstGeom>
          <a:noFill/>
          <a:ln/>
        </p:spPr>
        <p:txBody>
          <a:bodyPr wrap="square" lIns="0" tIns="0" rIns="0" bIns="0" rtlCol="0" anchor="ctr"/>
          <a:lstStyle/>
          <a:p>
            <a:pPr indent="0" marL="0">
              <a:buNone/>
            </a:pPr>
            <a:r>
              <a:rPr lang="en-US" sz="800" b="1" spc="130" kern="0" dirty="0">
                <a:solidFill>
                  <a:srgbClr val="F26A5D"/>
                </a:solidFill>
              </a:rPr>
              <a:t>OUT OF SCOPE</a:t>
            </a:r>
            <a:endParaRPr lang="en-US" sz="800" dirty="0"/>
          </a:p>
        </p:txBody>
      </p:sp>
      <p:sp>
        <p:nvSpPr>
          <p:cNvPr id="38" name="Text 35"/>
          <p:cNvSpPr/>
          <p:nvPr/>
        </p:nvSpPr>
        <p:spPr>
          <a:xfrm>
            <a:off x="1965960" y="5605272"/>
            <a:ext cx="9326880" cy="256032"/>
          </a:xfrm>
          <a:prstGeom prst="rect">
            <a:avLst/>
          </a:prstGeom>
          <a:noFill/>
          <a:ln/>
        </p:spPr>
        <p:txBody>
          <a:bodyPr wrap="square" lIns="0" tIns="0" rIns="0" bIns="0" rtlCol="0" anchor="ctr">
            <a:normAutofit/>
          </a:bodyPr>
          <a:lstStyle/>
          <a:p>
            <a:pPr indent="0" marL="0">
              <a:buNone/>
            </a:pPr>
            <a:r>
              <a:rPr lang="en-US" sz="950" dirty="0">
                <a:solidFill>
                  <a:srgbClr val="666C64"/>
                </a:solidFill>
              </a:rPr>
              <a:t>Broad marketplace  |  Inventory ownership  |  High-return categories  |  Long-tenor shopping loans  |  Full LMS / collections stack</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BUYER MOBILE</a:t>
            </a:r>
            <a:endParaRPr lang="en-US" sz="850" dirty="0"/>
          </a:p>
        </p:txBody>
      </p:sp>
      <p:sp>
        <p:nvSpPr>
          <p:cNvPr id="6" name="Text 4"/>
          <p:cNvSpPr/>
          <p:nvPr/>
        </p:nvSpPr>
        <p:spPr>
          <a:xfrm>
            <a:off x="566928" y="1033272"/>
            <a:ext cx="10332720" cy="530352"/>
          </a:xfrm>
          <a:prstGeom prst="rect">
            <a:avLst/>
          </a:prstGeom>
          <a:noFill/>
          <a:ln/>
        </p:spPr>
        <p:txBody>
          <a:bodyPr wrap="square" lIns="0" tIns="0" rIns="0" bIns="0" rtlCol="0" anchor="ctr">
            <a:normAutofit/>
          </a:bodyPr>
          <a:lstStyle/>
          <a:p>
            <a:pPr indent="0" marL="0">
              <a:buNone/>
            </a:pPr>
            <a:r>
              <a:rPr lang="en-US" sz="2700" b="1" dirty="0">
                <a:solidFill>
                  <a:srgbClr val="171817"/>
                </a:solidFill>
              </a:rPr>
              <a:t>Affordability starts discovery - it does not interrupt checkout.</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Every screen answers a credit question before the user is asked to commit.</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AFFORDABLE COMMERCE CONCEPT</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05</a:t>
            </a:r>
            <a:endParaRPr lang="en-US" sz="800" dirty="0"/>
          </a:p>
        </p:txBody>
      </p:sp>
      <p:sp>
        <p:nvSpPr>
          <p:cNvPr id="12" name="Shape 9"/>
          <p:cNvSpPr/>
          <p:nvPr/>
        </p:nvSpPr>
        <p:spPr>
          <a:xfrm>
            <a:off x="594360" y="2212848"/>
            <a:ext cx="2880360" cy="3593592"/>
          </a:xfrm>
          <a:prstGeom prst="rect">
            <a:avLst/>
          </a:prstGeom>
          <a:solidFill>
            <a:srgbClr val="171817"/>
          </a:solidFill>
          <a:ln w="12700">
            <a:solidFill>
              <a:srgbClr val="171817"/>
            </a:solidFill>
            <a:prstDash val="solid"/>
          </a:ln>
        </p:spPr>
      </p:sp>
      <p:sp>
        <p:nvSpPr>
          <p:cNvPr id="13" name="Text 10"/>
          <p:cNvSpPr/>
          <p:nvPr/>
        </p:nvSpPr>
        <p:spPr>
          <a:xfrm>
            <a:off x="868680" y="2523744"/>
            <a:ext cx="2011680" cy="164592"/>
          </a:xfrm>
          <a:prstGeom prst="rect">
            <a:avLst/>
          </a:prstGeom>
          <a:noFill/>
          <a:ln/>
        </p:spPr>
        <p:txBody>
          <a:bodyPr wrap="square" lIns="0" tIns="0" rIns="0" bIns="0" rtlCol="0" anchor="ctr"/>
          <a:lstStyle/>
          <a:p>
            <a:pPr indent="0" marL="0">
              <a:buNone/>
            </a:pPr>
            <a:r>
              <a:rPr lang="en-US" sz="750" b="1" spc="130" kern="0" dirty="0">
                <a:solidFill>
                  <a:srgbClr val="C9F044"/>
                </a:solidFill>
              </a:rPr>
              <a:t>THE PRODUCT DECISIONS</a:t>
            </a:r>
            <a:endParaRPr lang="en-US" sz="750" dirty="0"/>
          </a:p>
        </p:txBody>
      </p:sp>
      <p:sp>
        <p:nvSpPr>
          <p:cNvPr id="14" name="Text 11"/>
          <p:cNvSpPr/>
          <p:nvPr/>
        </p:nvSpPr>
        <p:spPr>
          <a:xfrm>
            <a:off x="896112" y="2907792"/>
            <a:ext cx="2240280" cy="1874520"/>
          </a:xfrm>
          <a:prstGeom prst="rect">
            <a:avLst/>
          </a:prstGeom>
          <a:noFill/>
          <a:ln/>
        </p:spPr>
        <p:txBody>
          <a:bodyPr wrap="square" lIns="0" tIns="0" rIns="0" bIns="0" rtlCol="0" anchor="t">
            <a:normAutofit/>
          </a:bodyPr>
          <a:lstStyle/>
          <a:p>
            <a:pPr marL="165100" indent="-165100">
              <a:buSzPct val="100000"/>
              <a:buChar char="•"/>
            </a:pPr>
            <a:r>
              <a:rPr lang="en-US" sz="1100" dirty="0">
                <a:solidFill>
                  <a:srgbClr val="FFFFFF"/>
                </a:solidFill>
              </a:rPr>
              <a:t>Activate with a responsible limit, not a sale banner</a:t>
            </a:r>
            <a:endParaRPr lang="en-US" sz="1100" dirty="0"/>
          </a:p>
          <a:p>
            <a:pPr marL="165100" indent="-165100">
              <a:buSzPct val="100000"/>
              <a:buChar char="•"/>
            </a:pPr>
            <a:r>
              <a:rPr lang="en-US" sz="1100" dirty="0">
                <a:solidFill>
                  <a:srgbClr val="FFFFFF"/>
                </a:solidFill>
              </a:rPr>
              <a:t>Rank by upfront affordability and approval fit</a:t>
            </a:r>
            <a:endParaRPr lang="en-US" sz="1100" dirty="0"/>
          </a:p>
          <a:p>
            <a:pPr marL="165100" indent="-165100">
              <a:buSzPct val="100000"/>
              <a:buChar char="•"/>
            </a:pPr>
            <a:r>
              <a:rPr lang="en-US" sz="1100" dirty="0">
                <a:solidFill>
                  <a:srgbClr val="FFFFFF"/>
                </a:solidFill>
              </a:rPr>
              <a:t>Show lender, fees, KFS, dates, and fallback early</a:t>
            </a:r>
            <a:endParaRPr lang="en-US" sz="1100" dirty="0"/>
          </a:p>
          <a:p>
            <a:pPr marL="165100" indent="-165100">
              <a:buSzPct val="100000"/>
              <a:buChar char="•"/>
            </a:pPr>
            <a:r>
              <a:rPr lang="en-US" sz="1100" dirty="0">
                <a:solidFill>
                  <a:srgbClr val="FFFFFF"/>
                </a:solidFill>
              </a:rPr>
              <a:t>Unify order and repayment after purchase</a:t>
            </a:r>
            <a:endParaRPr lang="en-US" sz="1100" dirty="0"/>
          </a:p>
        </p:txBody>
      </p:sp>
      <p:sp>
        <p:nvSpPr>
          <p:cNvPr id="15" name="Shape 12"/>
          <p:cNvSpPr/>
          <p:nvPr/>
        </p:nvSpPr>
        <p:spPr>
          <a:xfrm>
            <a:off x="896112" y="5166360"/>
            <a:ext cx="1481328" cy="292608"/>
          </a:xfrm>
          <a:prstGeom prst="roundRect">
            <a:avLst>
              <a:gd name="adj" fmla="val 25000"/>
            </a:avLst>
          </a:prstGeom>
          <a:solidFill>
            <a:srgbClr val="3B4430"/>
          </a:solidFill>
          <a:ln w="12700">
            <a:solidFill>
              <a:srgbClr val="3B4430"/>
            </a:solidFill>
            <a:prstDash val="solid"/>
          </a:ln>
        </p:spPr>
      </p:sp>
      <p:sp>
        <p:nvSpPr>
          <p:cNvPr id="16" name="Text 13"/>
          <p:cNvSpPr/>
          <p:nvPr/>
        </p:nvSpPr>
        <p:spPr>
          <a:xfrm>
            <a:off x="969264" y="5193792"/>
            <a:ext cx="1335024" cy="219456"/>
          </a:xfrm>
          <a:prstGeom prst="rect">
            <a:avLst/>
          </a:prstGeom>
          <a:noFill/>
          <a:ln/>
        </p:spPr>
        <p:txBody>
          <a:bodyPr wrap="square" lIns="0" tIns="0" rIns="0" bIns="0" rtlCol="0" anchor="ctr">
            <a:normAutofit/>
          </a:bodyPr>
          <a:lstStyle/>
          <a:p>
            <a:pPr algn="ctr" indent="0" marL="0">
              <a:buNone/>
            </a:pPr>
            <a:r>
              <a:rPr lang="en-US" sz="850" b="1" dirty="0">
                <a:solidFill>
                  <a:srgbClr val="C9F044"/>
                </a:solidFill>
              </a:rPr>
              <a:t>Buyer app = mobile</a:t>
            </a:r>
            <a:endParaRPr lang="en-US" sz="850" dirty="0"/>
          </a:p>
        </p:txBody>
      </p:sp>
      <p:sp>
        <p:nvSpPr>
          <p:cNvPr id="17" name="Text 14"/>
          <p:cNvSpPr/>
          <p:nvPr/>
        </p:nvSpPr>
        <p:spPr>
          <a:xfrm>
            <a:off x="3694176" y="2157984"/>
            <a:ext cx="1591056" cy="164592"/>
          </a:xfrm>
          <a:prstGeom prst="rect">
            <a:avLst/>
          </a:prstGeom>
          <a:noFill/>
          <a:ln/>
        </p:spPr>
        <p:txBody>
          <a:bodyPr wrap="square" lIns="0" tIns="0" rIns="0" bIns="0" rtlCol="0" anchor="ctr"/>
          <a:lstStyle/>
          <a:p>
            <a:pPr indent="0" marL="0">
              <a:buNone/>
            </a:pPr>
            <a:r>
              <a:rPr lang="en-US" sz="750" b="1" spc="130" kern="0" dirty="0">
                <a:solidFill>
                  <a:srgbClr val="666C64"/>
                </a:solidFill>
              </a:rPr>
              <a:t>1. ACTIVATE</a:t>
            </a:r>
            <a:endParaRPr lang="en-US" sz="750" dirty="0"/>
          </a:p>
        </p:txBody>
      </p:sp>
      <p:sp>
        <p:nvSpPr>
          <p:cNvPr id="18" name="Shape 15"/>
          <p:cNvSpPr/>
          <p:nvPr/>
        </p:nvSpPr>
        <p:spPr>
          <a:xfrm>
            <a:off x="3657600" y="2423160"/>
            <a:ext cx="1719072" cy="3639312"/>
          </a:xfrm>
          <a:prstGeom prst="rect">
            <a:avLst/>
          </a:prstGeom>
          <a:solidFill>
            <a:srgbClr val="FFFFFF"/>
          </a:solidFill>
          <a:ln w="10160">
            <a:solidFill>
              <a:srgbClr val="DFE2DB"/>
            </a:solidFill>
            <a:prstDash val="solid"/>
          </a:ln>
          <a:effectLst>
            <a:outerShdw sx="100000" sy="100000" kx="0" ky="0" algn="bl" rotWithShape="0" blurRad="12700" dist="50800" dir="2700000">
              <a:srgbClr val="000000">
                <a:alpha val="16000"/>
              </a:srgbClr>
            </a:outerShdw>
          </a:effectLst>
        </p:spPr>
      </p:sp>
      <p:pic>
        <p:nvPicPr>
          <p:cNvPr id="19" name="Image 0" descr="/Users/namanjain/super-money-affordable-commerce/prototype/test-artifacts/mobile-home.png">    </p:cNvPr>
          <p:cNvPicPr>
            <a:picLocks noChangeAspect="1"/>
          </p:cNvPicPr>
          <p:nvPr/>
        </p:nvPicPr>
        <p:blipFill>
          <a:blip r:embed="rId1"/>
          <a:srcRect l="0" r="0" t="0" b="0"/>
          <a:stretch/>
        </p:blipFill>
        <p:spPr>
          <a:xfrm>
            <a:off x="3694176" y="2459736"/>
            <a:ext cx="1645920" cy="3566160"/>
          </a:xfrm>
          <a:prstGeom prst="rect">
            <a:avLst/>
          </a:prstGeom>
        </p:spPr>
      </p:pic>
      <p:sp>
        <p:nvSpPr>
          <p:cNvPr id="20" name="Shape 16"/>
          <p:cNvSpPr/>
          <p:nvPr/>
        </p:nvSpPr>
        <p:spPr>
          <a:xfrm>
            <a:off x="5404104" y="4087368"/>
            <a:ext cx="164592" cy="237744"/>
          </a:xfrm>
          <a:prstGeom prst="chevron">
            <a:avLst/>
          </a:prstGeom>
          <a:solidFill>
            <a:srgbClr val="C9CDC4"/>
          </a:solidFill>
          <a:ln w="12700">
            <a:solidFill>
              <a:srgbClr val="C9CDC4"/>
            </a:solidFill>
            <a:prstDash val="solid"/>
          </a:ln>
        </p:spPr>
      </p:sp>
      <p:sp>
        <p:nvSpPr>
          <p:cNvPr id="21" name="Text 17"/>
          <p:cNvSpPr/>
          <p:nvPr/>
        </p:nvSpPr>
        <p:spPr>
          <a:xfrm>
            <a:off x="5650992" y="2157984"/>
            <a:ext cx="1591056" cy="164592"/>
          </a:xfrm>
          <a:prstGeom prst="rect">
            <a:avLst/>
          </a:prstGeom>
          <a:noFill/>
          <a:ln/>
        </p:spPr>
        <p:txBody>
          <a:bodyPr wrap="square" lIns="0" tIns="0" rIns="0" bIns="0" rtlCol="0" anchor="ctr"/>
          <a:lstStyle/>
          <a:p>
            <a:pPr indent="0" marL="0">
              <a:buNone/>
            </a:pPr>
            <a:r>
              <a:rPr lang="en-US" sz="750" b="1" spc="130" kern="0" dirty="0">
                <a:solidFill>
                  <a:srgbClr val="3566E8"/>
                </a:solidFill>
              </a:rPr>
              <a:t>2. EXPLAIN</a:t>
            </a:r>
            <a:endParaRPr lang="en-US" sz="750" dirty="0"/>
          </a:p>
        </p:txBody>
      </p:sp>
      <p:sp>
        <p:nvSpPr>
          <p:cNvPr id="22" name="Shape 18"/>
          <p:cNvSpPr/>
          <p:nvPr/>
        </p:nvSpPr>
        <p:spPr>
          <a:xfrm>
            <a:off x="5614416" y="2423160"/>
            <a:ext cx="1719072" cy="3639312"/>
          </a:xfrm>
          <a:prstGeom prst="rect">
            <a:avLst/>
          </a:prstGeom>
          <a:solidFill>
            <a:srgbClr val="FFFFFF"/>
          </a:solidFill>
          <a:ln w="10160">
            <a:solidFill>
              <a:srgbClr val="DFE2DB"/>
            </a:solidFill>
            <a:prstDash val="solid"/>
          </a:ln>
          <a:effectLst>
            <a:outerShdw sx="100000" sy="100000" kx="0" ky="0" algn="bl" rotWithShape="0" blurRad="12700" dist="50800" dir="2700000">
              <a:srgbClr val="000000">
                <a:alpha val="16000"/>
              </a:srgbClr>
            </a:outerShdw>
          </a:effectLst>
        </p:spPr>
      </p:sp>
      <p:pic>
        <p:nvPicPr>
          <p:cNvPr id="23" name="Image 1" descr="/Users/namanjain/super-money-affordable-commerce/prototype/test-artifacts/mobile-product.png">    </p:cNvPr>
          <p:cNvPicPr>
            <a:picLocks noChangeAspect="1"/>
          </p:cNvPicPr>
          <p:nvPr/>
        </p:nvPicPr>
        <p:blipFill>
          <a:blip r:embed="rId2"/>
          <a:srcRect l="0" r="0" t="0" b="0"/>
          <a:stretch/>
        </p:blipFill>
        <p:spPr>
          <a:xfrm>
            <a:off x="5650992" y="2459736"/>
            <a:ext cx="1645920" cy="3566160"/>
          </a:xfrm>
          <a:prstGeom prst="rect">
            <a:avLst/>
          </a:prstGeom>
        </p:spPr>
      </p:pic>
      <p:sp>
        <p:nvSpPr>
          <p:cNvPr id="24" name="Shape 19"/>
          <p:cNvSpPr/>
          <p:nvPr/>
        </p:nvSpPr>
        <p:spPr>
          <a:xfrm>
            <a:off x="7360920" y="4087368"/>
            <a:ext cx="164592" cy="237744"/>
          </a:xfrm>
          <a:prstGeom prst="chevron">
            <a:avLst/>
          </a:prstGeom>
          <a:solidFill>
            <a:srgbClr val="C9CDC4"/>
          </a:solidFill>
          <a:ln w="12700">
            <a:solidFill>
              <a:srgbClr val="C9CDC4"/>
            </a:solidFill>
            <a:prstDash val="solid"/>
          </a:ln>
        </p:spPr>
      </p:sp>
      <p:sp>
        <p:nvSpPr>
          <p:cNvPr id="25" name="Text 20"/>
          <p:cNvSpPr/>
          <p:nvPr/>
        </p:nvSpPr>
        <p:spPr>
          <a:xfrm>
            <a:off x="7607808" y="2157984"/>
            <a:ext cx="1591056" cy="164592"/>
          </a:xfrm>
          <a:prstGeom prst="rect">
            <a:avLst/>
          </a:prstGeom>
          <a:noFill/>
          <a:ln/>
        </p:spPr>
        <p:txBody>
          <a:bodyPr wrap="square" lIns="0" tIns="0" rIns="0" bIns="0" rtlCol="0" anchor="ctr"/>
          <a:lstStyle/>
          <a:p>
            <a:pPr indent="0" marL="0">
              <a:buNone/>
            </a:pPr>
            <a:r>
              <a:rPr lang="en-US" sz="750" b="1" spc="130" kern="0" dirty="0">
                <a:solidFill>
                  <a:srgbClr val="666C64"/>
                </a:solidFill>
              </a:rPr>
              <a:t>3. CONSENT</a:t>
            </a:r>
            <a:endParaRPr lang="en-US" sz="750" dirty="0"/>
          </a:p>
        </p:txBody>
      </p:sp>
      <p:sp>
        <p:nvSpPr>
          <p:cNvPr id="26" name="Shape 21"/>
          <p:cNvSpPr/>
          <p:nvPr/>
        </p:nvSpPr>
        <p:spPr>
          <a:xfrm>
            <a:off x="7571232" y="2423160"/>
            <a:ext cx="1719072" cy="3639312"/>
          </a:xfrm>
          <a:prstGeom prst="rect">
            <a:avLst/>
          </a:prstGeom>
          <a:solidFill>
            <a:srgbClr val="FFFFFF"/>
          </a:solidFill>
          <a:ln w="10160">
            <a:solidFill>
              <a:srgbClr val="DFE2DB"/>
            </a:solidFill>
            <a:prstDash val="solid"/>
          </a:ln>
          <a:effectLst>
            <a:outerShdw sx="100000" sy="100000" kx="0" ky="0" algn="bl" rotWithShape="0" blurRad="12700" dist="50800" dir="2700000">
              <a:srgbClr val="000000">
                <a:alpha val="16000"/>
              </a:srgbClr>
            </a:outerShdw>
          </a:effectLst>
        </p:spPr>
      </p:sp>
      <p:pic>
        <p:nvPicPr>
          <p:cNvPr id="27" name="Image 2" descr="/Users/namanjain/super-money-affordable-commerce/prototype/test-artifacts/mobile-checkout.png">    </p:cNvPr>
          <p:cNvPicPr>
            <a:picLocks noChangeAspect="1"/>
          </p:cNvPicPr>
          <p:nvPr/>
        </p:nvPicPr>
        <p:blipFill>
          <a:blip r:embed="rId3"/>
          <a:srcRect l="0" r="0" t="0" b="0"/>
          <a:stretch/>
        </p:blipFill>
        <p:spPr>
          <a:xfrm>
            <a:off x="7607808" y="2459736"/>
            <a:ext cx="1645920" cy="3566160"/>
          </a:xfrm>
          <a:prstGeom prst="rect">
            <a:avLst/>
          </a:prstGeom>
        </p:spPr>
      </p:pic>
      <p:sp>
        <p:nvSpPr>
          <p:cNvPr id="28" name="Shape 22"/>
          <p:cNvSpPr/>
          <p:nvPr/>
        </p:nvSpPr>
        <p:spPr>
          <a:xfrm>
            <a:off x="9317736" y="4087368"/>
            <a:ext cx="164592" cy="237744"/>
          </a:xfrm>
          <a:prstGeom prst="chevron">
            <a:avLst/>
          </a:prstGeom>
          <a:solidFill>
            <a:srgbClr val="C9CDC4"/>
          </a:solidFill>
          <a:ln w="12700">
            <a:solidFill>
              <a:srgbClr val="C9CDC4"/>
            </a:solidFill>
            <a:prstDash val="solid"/>
          </a:ln>
        </p:spPr>
      </p:sp>
      <p:sp>
        <p:nvSpPr>
          <p:cNvPr id="29" name="Text 23"/>
          <p:cNvSpPr/>
          <p:nvPr/>
        </p:nvSpPr>
        <p:spPr>
          <a:xfrm>
            <a:off x="9564624" y="2157984"/>
            <a:ext cx="1591056" cy="164592"/>
          </a:xfrm>
          <a:prstGeom prst="rect">
            <a:avLst/>
          </a:prstGeom>
          <a:noFill/>
          <a:ln/>
        </p:spPr>
        <p:txBody>
          <a:bodyPr wrap="square" lIns="0" tIns="0" rIns="0" bIns="0" rtlCol="0" anchor="ctr"/>
          <a:lstStyle/>
          <a:p>
            <a:pPr indent="0" marL="0">
              <a:buNone/>
            </a:pPr>
            <a:r>
              <a:rPr lang="en-US" sz="750" b="1" spc="130" kern="0" dirty="0">
                <a:solidFill>
                  <a:srgbClr val="666C64"/>
                </a:solidFill>
              </a:rPr>
              <a:t>4. UNIFY</a:t>
            </a:r>
            <a:endParaRPr lang="en-US" sz="750" dirty="0"/>
          </a:p>
        </p:txBody>
      </p:sp>
      <p:sp>
        <p:nvSpPr>
          <p:cNvPr id="30" name="Shape 24"/>
          <p:cNvSpPr/>
          <p:nvPr/>
        </p:nvSpPr>
        <p:spPr>
          <a:xfrm>
            <a:off x="9528048" y="2423160"/>
            <a:ext cx="1719072" cy="3639312"/>
          </a:xfrm>
          <a:prstGeom prst="rect">
            <a:avLst/>
          </a:prstGeom>
          <a:solidFill>
            <a:srgbClr val="FFFFFF"/>
          </a:solidFill>
          <a:ln w="10160">
            <a:solidFill>
              <a:srgbClr val="DFE2DB"/>
            </a:solidFill>
            <a:prstDash val="solid"/>
          </a:ln>
          <a:effectLst>
            <a:outerShdw sx="100000" sy="100000" kx="0" ky="0" algn="bl" rotWithShape="0" blurRad="12700" dist="50800" dir="2700000">
              <a:srgbClr val="000000">
                <a:alpha val="16000"/>
              </a:srgbClr>
            </a:outerShdw>
          </a:effectLst>
        </p:spPr>
      </p:sp>
      <p:pic>
        <p:nvPicPr>
          <p:cNvPr id="31" name="Image 3" descr="/Users/namanjain/super-money-affordable-commerce/prototype/test-artifacts/mobile-success.png">    </p:cNvPr>
          <p:cNvPicPr>
            <a:picLocks noChangeAspect="1"/>
          </p:cNvPicPr>
          <p:nvPr/>
        </p:nvPicPr>
        <p:blipFill>
          <a:blip r:embed="rId4"/>
          <a:srcRect l="0" r="0" t="0" b="0"/>
          <a:stretch/>
        </p:blipFill>
        <p:spPr>
          <a:xfrm>
            <a:off x="9564624" y="2459736"/>
            <a:ext cx="1645920" cy="35661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SELLER WEB PORTAL</a:t>
            </a:r>
            <a:endParaRPr lang="en-US" sz="850" dirty="0"/>
          </a:p>
        </p:txBody>
      </p:sp>
      <p:sp>
        <p:nvSpPr>
          <p:cNvPr id="6" name="Text 4"/>
          <p:cNvSpPr/>
          <p:nvPr/>
        </p:nvSpPr>
        <p:spPr>
          <a:xfrm>
            <a:off x="566928" y="1033272"/>
            <a:ext cx="8046720" cy="530352"/>
          </a:xfrm>
          <a:prstGeom prst="rect">
            <a:avLst/>
          </a:prstGeom>
          <a:noFill/>
          <a:ln/>
        </p:spPr>
        <p:txBody>
          <a:bodyPr wrap="square" lIns="0" tIns="0" rIns="0" bIns="0" rtlCol="0" anchor="ctr">
            <a:normAutofit/>
          </a:bodyPr>
          <a:lstStyle/>
          <a:p>
            <a:pPr indent="0" marL="0">
              <a:buNone/>
            </a:pPr>
            <a:r>
              <a:rPr lang="en-US" sz="2700" b="1" dirty="0">
                <a:solidFill>
                  <a:srgbClr val="171817"/>
                </a:solidFill>
              </a:rPr>
              <a:t>The supply side is an affordability operating system.</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Sellers should manage SKU quality, offer incrementality, fulfilment, and payout - not lender workflows.</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AFFORDABLE COMMERCE CONCEPT</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06</a:t>
            </a:r>
            <a:endParaRPr lang="en-US" sz="800" dirty="0"/>
          </a:p>
        </p:txBody>
      </p:sp>
      <p:sp>
        <p:nvSpPr>
          <p:cNvPr id="12" name="Text 9"/>
          <p:cNvSpPr/>
          <p:nvPr/>
        </p:nvSpPr>
        <p:spPr>
          <a:xfrm>
            <a:off x="594360" y="2167128"/>
            <a:ext cx="3383280" cy="164592"/>
          </a:xfrm>
          <a:prstGeom prst="rect">
            <a:avLst/>
          </a:prstGeom>
          <a:noFill/>
          <a:ln/>
        </p:spPr>
        <p:txBody>
          <a:bodyPr wrap="square" lIns="0" tIns="0" rIns="0" bIns="0" rtlCol="0" anchor="ctr"/>
          <a:lstStyle/>
          <a:p>
            <a:pPr indent="0" marL="0">
              <a:buNone/>
            </a:pPr>
            <a:r>
              <a:rPr lang="en-US" sz="750" b="1" spc="130" kern="0" dirty="0">
                <a:solidFill>
                  <a:srgbClr val="666C64"/>
                </a:solidFill>
              </a:rPr>
              <a:t>SKU-LEVEL CATALOGUE</a:t>
            </a:r>
            <a:endParaRPr lang="en-US" sz="750" dirty="0"/>
          </a:p>
        </p:txBody>
      </p:sp>
      <p:sp>
        <p:nvSpPr>
          <p:cNvPr id="13" name="Shape 10"/>
          <p:cNvSpPr/>
          <p:nvPr/>
        </p:nvSpPr>
        <p:spPr>
          <a:xfrm>
            <a:off x="557784" y="2450592"/>
            <a:ext cx="3474720" cy="2203704"/>
          </a:xfrm>
          <a:prstGeom prst="rect">
            <a:avLst/>
          </a:prstGeom>
          <a:solidFill>
            <a:srgbClr val="FFFFFF"/>
          </a:solidFill>
          <a:ln w="10160">
            <a:solidFill>
              <a:srgbClr val="DFE2DB"/>
            </a:solidFill>
            <a:prstDash val="solid"/>
          </a:ln>
          <a:effectLst>
            <a:outerShdw sx="100000" sy="100000" kx="0" ky="0" algn="bl" rotWithShape="0" blurRad="12700" dist="50800" dir="2700000">
              <a:srgbClr val="000000">
                <a:alpha val="16000"/>
              </a:srgbClr>
            </a:outerShdw>
          </a:effectLst>
        </p:spPr>
      </p:sp>
      <p:pic>
        <p:nvPicPr>
          <p:cNvPr id="14" name="Image 0" descr="/Users/namanjain/super-money-affordable-commerce/prototype/test-artifacts/seller-catalogue.png">    </p:cNvPr>
          <p:cNvPicPr>
            <a:picLocks noChangeAspect="1"/>
          </p:cNvPicPr>
          <p:nvPr/>
        </p:nvPicPr>
        <p:blipFill>
          <a:blip r:embed="rId1"/>
          <a:srcRect l="0" r="0" t="0" b="0"/>
          <a:stretch/>
        </p:blipFill>
        <p:spPr>
          <a:xfrm>
            <a:off x="594360" y="2487168"/>
            <a:ext cx="3401568" cy="2130552"/>
          </a:xfrm>
          <a:prstGeom prst="rect">
            <a:avLst/>
          </a:prstGeom>
        </p:spPr>
      </p:pic>
      <p:sp>
        <p:nvSpPr>
          <p:cNvPr id="15" name="Text 11"/>
          <p:cNvSpPr/>
          <p:nvPr/>
        </p:nvSpPr>
        <p:spPr>
          <a:xfrm>
            <a:off x="594360" y="4846320"/>
            <a:ext cx="3401568" cy="457200"/>
          </a:xfrm>
          <a:prstGeom prst="rect">
            <a:avLst/>
          </a:prstGeom>
          <a:noFill/>
          <a:ln/>
        </p:spPr>
        <p:txBody>
          <a:bodyPr wrap="square" lIns="0" tIns="0" rIns="0" bIns="0" rtlCol="0" anchor="ctr">
            <a:normAutofit/>
          </a:bodyPr>
          <a:lstStyle/>
          <a:p>
            <a:pPr algn="ctr" indent="0" marL="0">
              <a:buNone/>
            </a:pPr>
            <a:r>
              <a:rPr lang="en-US" sz="1030" b="1" dirty="0">
                <a:solidFill>
                  <a:srgbClr val="171817"/>
                </a:solidFill>
              </a:rPr>
              <a:t>Financeability, inventory, returns, and contribution per SKU</a:t>
            </a:r>
            <a:endParaRPr lang="en-US" sz="1030" dirty="0"/>
          </a:p>
        </p:txBody>
      </p:sp>
      <p:sp>
        <p:nvSpPr>
          <p:cNvPr id="16" name="Text 12"/>
          <p:cNvSpPr/>
          <p:nvPr/>
        </p:nvSpPr>
        <p:spPr>
          <a:xfrm>
            <a:off x="4389120" y="2167128"/>
            <a:ext cx="3383280" cy="164592"/>
          </a:xfrm>
          <a:prstGeom prst="rect">
            <a:avLst/>
          </a:prstGeom>
          <a:noFill/>
          <a:ln/>
        </p:spPr>
        <p:txBody>
          <a:bodyPr wrap="square" lIns="0" tIns="0" rIns="0" bIns="0" rtlCol="0" anchor="ctr"/>
          <a:lstStyle/>
          <a:p>
            <a:pPr indent="0" marL="0">
              <a:buNone/>
            </a:pPr>
            <a:r>
              <a:rPr lang="en-US" sz="750" b="1" spc="130" kern="0" dirty="0">
                <a:solidFill>
                  <a:srgbClr val="668700"/>
                </a:solidFill>
              </a:rPr>
              <a:t>OFFER SIMULATOR</a:t>
            </a:r>
            <a:endParaRPr lang="en-US" sz="750" dirty="0"/>
          </a:p>
        </p:txBody>
      </p:sp>
      <p:sp>
        <p:nvSpPr>
          <p:cNvPr id="17" name="Shape 13"/>
          <p:cNvSpPr/>
          <p:nvPr/>
        </p:nvSpPr>
        <p:spPr>
          <a:xfrm>
            <a:off x="4352544" y="2450592"/>
            <a:ext cx="3474720" cy="2203704"/>
          </a:xfrm>
          <a:prstGeom prst="rect">
            <a:avLst/>
          </a:prstGeom>
          <a:solidFill>
            <a:srgbClr val="FFFFFF"/>
          </a:solidFill>
          <a:ln w="10160">
            <a:solidFill>
              <a:srgbClr val="DFE2DB"/>
            </a:solidFill>
            <a:prstDash val="solid"/>
          </a:ln>
          <a:effectLst>
            <a:outerShdw sx="100000" sy="100000" kx="0" ky="0" algn="bl" rotWithShape="0" blurRad="12700" dist="50800" dir="2700000">
              <a:srgbClr val="000000">
                <a:alpha val="16000"/>
              </a:srgbClr>
            </a:outerShdw>
          </a:effectLst>
        </p:spPr>
      </p:sp>
      <p:pic>
        <p:nvPicPr>
          <p:cNvPr id="18" name="Image 1" descr="/Users/namanjain/super-money-affordable-commerce/prototype/test-artifacts/seller-affordability.png">    </p:cNvPr>
          <p:cNvPicPr>
            <a:picLocks noChangeAspect="1"/>
          </p:cNvPicPr>
          <p:nvPr/>
        </p:nvPicPr>
        <p:blipFill>
          <a:blip r:embed="rId2"/>
          <a:srcRect l="0" r="0" t="0" b="0"/>
          <a:stretch/>
        </p:blipFill>
        <p:spPr>
          <a:xfrm>
            <a:off x="4389120" y="2487168"/>
            <a:ext cx="3401568" cy="2130552"/>
          </a:xfrm>
          <a:prstGeom prst="rect">
            <a:avLst/>
          </a:prstGeom>
        </p:spPr>
      </p:pic>
      <p:sp>
        <p:nvSpPr>
          <p:cNvPr id="19" name="Text 14"/>
          <p:cNvSpPr/>
          <p:nvPr/>
        </p:nvSpPr>
        <p:spPr>
          <a:xfrm>
            <a:off x="4389120" y="4846320"/>
            <a:ext cx="3401568" cy="457200"/>
          </a:xfrm>
          <a:prstGeom prst="rect">
            <a:avLst/>
          </a:prstGeom>
          <a:noFill/>
          <a:ln/>
        </p:spPr>
        <p:txBody>
          <a:bodyPr wrap="square" lIns="0" tIns="0" rIns="0" bIns="0" rtlCol="0" anchor="ctr">
            <a:normAutofit/>
          </a:bodyPr>
          <a:lstStyle/>
          <a:p>
            <a:pPr algn="ctr" indent="0" marL="0">
              <a:buNone/>
            </a:pPr>
            <a:r>
              <a:rPr lang="en-US" sz="1030" b="1" dirty="0">
                <a:solidFill>
                  <a:srgbClr val="171817"/>
                </a:solidFill>
              </a:rPr>
              <a:t>Fund the smallest offer that creates measurable lift</a:t>
            </a:r>
            <a:endParaRPr lang="en-US" sz="1030" dirty="0"/>
          </a:p>
        </p:txBody>
      </p:sp>
      <p:sp>
        <p:nvSpPr>
          <p:cNvPr id="20" name="Text 15"/>
          <p:cNvSpPr/>
          <p:nvPr/>
        </p:nvSpPr>
        <p:spPr>
          <a:xfrm>
            <a:off x="8183880" y="2167128"/>
            <a:ext cx="3383280" cy="164592"/>
          </a:xfrm>
          <a:prstGeom prst="rect">
            <a:avLst/>
          </a:prstGeom>
          <a:noFill/>
          <a:ln/>
        </p:spPr>
        <p:txBody>
          <a:bodyPr wrap="square" lIns="0" tIns="0" rIns="0" bIns="0" rtlCol="0" anchor="ctr"/>
          <a:lstStyle/>
          <a:p>
            <a:pPr indent="0" marL="0">
              <a:buNone/>
            </a:pPr>
            <a:r>
              <a:rPr lang="en-US" sz="750" b="1" spc="130" kern="0" dirty="0">
                <a:solidFill>
                  <a:srgbClr val="666C64"/>
                </a:solidFill>
              </a:rPr>
              <a:t>SHARED ORDER STATE</a:t>
            </a:r>
            <a:endParaRPr lang="en-US" sz="750" dirty="0"/>
          </a:p>
        </p:txBody>
      </p:sp>
      <p:sp>
        <p:nvSpPr>
          <p:cNvPr id="21" name="Shape 16"/>
          <p:cNvSpPr/>
          <p:nvPr/>
        </p:nvSpPr>
        <p:spPr>
          <a:xfrm>
            <a:off x="8147304" y="2450592"/>
            <a:ext cx="3474720" cy="2203704"/>
          </a:xfrm>
          <a:prstGeom prst="rect">
            <a:avLst/>
          </a:prstGeom>
          <a:solidFill>
            <a:srgbClr val="FFFFFF"/>
          </a:solidFill>
          <a:ln w="10160">
            <a:solidFill>
              <a:srgbClr val="DFE2DB"/>
            </a:solidFill>
            <a:prstDash val="solid"/>
          </a:ln>
          <a:effectLst>
            <a:outerShdw sx="100000" sy="100000" kx="0" ky="0" algn="bl" rotWithShape="0" blurRad="12700" dist="50800" dir="2700000">
              <a:srgbClr val="000000">
                <a:alpha val="16000"/>
              </a:srgbClr>
            </a:outerShdw>
          </a:effectLst>
        </p:spPr>
      </p:sp>
      <p:pic>
        <p:nvPicPr>
          <p:cNvPr id="22" name="Image 2" descr="/Users/namanjain/super-money-affordable-commerce/prototype/test-artifacts/seller-orders.png">    </p:cNvPr>
          <p:cNvPicPr>
            <a:picLocks noChangeAspect="1"/>
          </p:cNvPicPr>
          <p:nvPr/>
        </p:nvPicPr>
        <p:blipFill>
          <a:blip r:embed="rId3"/>
          <a:srcRect l="0" r="0" t="0" b="0"/>
          <a:stretch/>
        </p:blipFill>
        <p:spPr>
          <a:xfrm>
            <a:off x="8183880" y="2487168"/>
            <a:ext cx="3401568" cy="2130552"/>
          </a:xfrm>
          <a:prstGeom prst="rect">
            <a:avLst/>
          </a:prstGeom>
        </p:spPr>
      </p:pic>
      <p:sp>
        <p:nvSpPr>
          <p:cNvPr id="23" name="Text 17"/>
          <p:cNvSpPr/>
          <p:nvPr/>
        </p:nvSpPr>
        <p:spPr>
          <a:xfrm>
            <a:off x="8183880" y="4846320"/>
            <a:ext cx="3401568" cy="457200"/>
          </a:xfrm>
          <a:prstGeom prst="rect">
            <a:avLst/>
          </a:prstGeom>
          <a:noFill/>
          <a:ln/>
        </p:spPr>
        <p:txBody>
          <a:bodyPr wrap="square" lIns="0" tIns="0" rIns="0" bIns="0" rtlCol="0" anchor="ctr">
            <a:normAutofit/>
          </a:bodyPr>
          <a:lstStyle/>
          <a:p>
            <a:pPr algn="ctr" indent="0" marL="0">
              <a:buNone/>
            </a:pPr>
            <a:r>
              <a:rPr lang="en-US" sz="1030" b="1" dirty="0">
                <a:solidFill>
                  <a:srgbClr val="171817"/>
                </a:solidFill>
              </a:rPr>
              <a:t>One fulfilment workflow across payment, loan, and settlement</a:t>
            </a:r>
            <a:endParaRPr lang="en-US" sz="1030" dirty="0"/>
          </a:p>
        </p:txBody>
      </p:sp>
      <p:sp>
        <p:nvSpPr>
          <p:cNvPr id="24" name="Shape 18"/>
          <p:cNvSpPr/>
          <p:nvPr/>
        </p:nvSpPr>
        <p:spPr>
          <a:xfrm>
            <a:off x="594360" y="5504688"/>
            <a:ext cx="11018520" cy="566928"/>
          </a:xfrm>
          <a:prstGeom prst="rect">
            <a:avLst/>
          </a:prstGeom>
          <a:solidFill>
            <a:srgbClr val="EFF9CB"/>
          </a:solidFill>
          <a:ln w="12700">
            <a:solidFill>
              <a:srgbClr val="EFF9CB"/>
            </a:solidFill>
            <a:prstDash val="solid"/>
          </a:ln>
        </p:spPr>
      </p:sp>
      <p:sp>
        <p:nvSpPr>
          <p:cNvPr id="25" name="Text 19"/>
          <p:cNvSpPr/>
          <p:nvPr/>
        </p:nvSpPr>
        <p:spPr>
          <a:xfrm>
            <a:off x="841248" y="5669280"/>
            <a:ext cx="10515600" cy="219456"/>
          </a:xfrm>
          <a:prstGeom prst="rect">
            <a:avLst/>
          </a:prstGeom>
          <a:noFill/>
          <a:ln/>
        </p:spPr>
        <p:txBody>
          <a:bodyPr wrap="square" lIns="0" tIns="0" rIns="0" bIns="0" rtlCol="0" anchor="ctr"/>
          <a:lstStyle/>
          <a:p>
            <a:pPr algn="ctr" indent="0" marL="0">
              <a:buNone/>
            </a:pPr>
            <a:r>
              <a:rPr lang="en-US" sz="1200" b="1" dirty="0">
                <a:solidFill>
                  <a:srgbClr val="171817"/>
                </a:solidFill>
              </a:rPr>
              <a:t>Merchant promise: higher conversion and AOV without building a lending stack.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FINTECH DEPTH</a:t>
            </a:r>
            <a:endParaRPr lang="en-US" sz="850" dirty="0"/>
          </a:p>
        </p:txBody>
      </p:sp>
      <p:sp>
        <p:nvSpPr>
          <p:cNvPr id="6" name="Text 4"/>
          <p:cNvSpPr/>
          <p:nvPr/>
        </p:nvSpPr>
        <p:spPr>
          <a:xfrm>
            <a:off x="566928" y="1033272"/>
            <a:ext cx="10607040" cy="530352"/>
          </a:xfrm>
          <a:prstGeom prst="rect">
            <a:avLst/>
          </a:prstGeom>
          <a:noFill/>
          <a:ln/>
        </p:spPr>
        <p:txBody>
          <a:bodyPr wrap="square" lIns="0" tIns="0" rIns="0" bIns="0" rtlCol="0" anchor="ctr">
            <a:normAutofit/>
          </a:bodyPr>
          <a:lstStyle/>
          <a:p>
            <a:pPr indent="0" marL="0">
              <a:buNone/>
            </a:pPr>
            <a:r>
              <a:rPr lang="en-US" sz="2700" b="1" dirty="0">
                <a:solidFill>
                  <a:srgbClr val="171817"/>
                </a:solidFill>
              </a:rPr>
              <a:t>One customer action coordinates four independently failing systems.</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The checkout orchestrator owns idempotency, state transitions, compensation, and one customer timeline.</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AFFORDABLE COMMERCE CONCEPT</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07</a:t>
            </a:r>
            <a:endParaRPr lang="en-US" sz="800" dirty="0"/>
          </a:p>
        </p:txBody>
      </p:sp>
      <p:sp>
        <p:nvSpPr>
          <p:cNvPr id="12" name="Shape 9"/>
          <p:cNvSpPr/>
          <p:nvPr/>
        </p:nvSpPr>
        <p:spPr>
          <a:xfrm>
            <a:off x="594360" y="2267712"/>
            <a:ext cx="1938528" cy="941832"/>
          </a:xfrm>
          <a:prstGeom prst="rect">
            <a:avLst/>
          </a:prstGeom>
          <a:solidFill>
            <a:srgbClr val="E8EDFF"/>
          </a:solidFill>
          <a:ln w="12700">
            <a:solidFill>
              <a:srgbClr val="E8EDFF"/>
            </a:solidFill>
            <a:prstDash val="solid"/>
          </a:ln>
        </p:spPr>
      </p:sp>
      <p:sp>
        <p:nvSpPr>
          <p:cNvPr id="13" name="Text 10"/>
          <p:cNvSpPr/>
          <p:nvPr/>
        </p:nvSpPr>
        <p:spPr>
          <a:xfrm>
            <a:off x="758952" y="2450592"/>
            <a:ext cx="347472" cy="192024"/>
          </a:xfrm>
          <a:prstGeom prst="rect">
            <a:avLst/>
          </a:prstGeom>
          <a:noFill/>
          <a:ln/>
        </p:spPr>
        <p:txBody>
          <a:bodyPr wrap="square" lIns="0" tIns="0" rIns="0" bIns="0" rtlCol="0" anchor="ctr"/>
          <a:lstStyle/>
          <a:p>
            <a:pPr indent="0" marL="0">
              <a:buNone/>
            </a:pPr>
            <a:r>
              <a:rPr lang="en-US" sz="1000" b="1" dirty="0">
                <a:solidFill>
                  <a:srgbClr val="3566E8"/>
                </a:solidFill>
              </a:rPr>
              <a:t>01</a:t>
            </a:r>
            <a:endParaRPr lang="en-US" sz="1000" dirty="0"/>
          </a:p>
        </p:txBody>
      </p:sp>
      <p:sp>
        <p:nvSpPr>
          <p:cNvPr id="14" name="Text 11"/>
          <p:cNvSpPr/>
          <p:nvPr/>
        </p:nvSpPr>
        <p:spPr>
          <a:xfrm>
            <a:off x="758952" y="2734056"/>
            <a:ext cx="1600200" cy="210312"/>
          </a:xfrm>
          <a:prstGeom prst="rect">
            <a:avLst/>
          </a:prstGeom>
          <a:noFill/>
          <a:ln/>
        </p:spPr>
        <p:txBody>
          <a:bodyPr wrap="square" lIns="0" tIns="0" rIns="0" bIns="0" rtlCol="0" anchor="ctr">
            <a:normAutofit/>
          </a:bodyPr>
          <a:lstStyle/>
          <a:p>
            <a:pPr indent="0" marL="0">
              <a:buNone/>
            </a:pPr>
            <a:r>
              <a:rPr lang="en-US" sz="1150" b="1" dirty="0">
                <a:solidFill>
                  <a:srgbClr val="171817"/>
                </a:solidFill>
              </a:rPr>
              <a:t>Quote locked</a:t>
            </a:r>
            <a:endParaRPr lang="en-US" sz="1150" dirty="0"/>
          </a:p>
        </p:txBody>
      </p:sp>
      <p:sp>
        <p:nvSpPr>
          <p:cNvPr id="15" name="Shape 12"/>
          <p:cNvSpPr/>
          <p:nvPr/>
        </p:nvSpPr>
        <p:spPr>
          <a:xfrm>
            <a:off x="2587752" y="2615184"/>
            <a:ext cx="182880" cy="237744"/>
          </a:xfrm>
          <a:prstGeom prst="chevron">
            <a:avLst/>
          </a:prstGeom>
          <a:solidFill>
            <a:srgbClr val="C9CDC4"/>
          </a:solidFill>
          <a:ln w="12700">
            <a:solidFill>
              <a:srgbClr val="C9CDC4"/>
            </a:solidFill>
            <a:prstDash val="solid"/>
          </a:ln>
        </p:spPr>
      </p:sp>
      <p:sp>
        <p:nvSpPr>
          <p:cNvPr id="16" name="Shape 13"/>
          <p:cNvSpPr/>
          <p:nvPr/>
        </p:nvSpPr>
        <p:spPr>
          <a:xfrm>
            <a:off x="2862072" y="2267712"/>
            <a:ext cx="1938528" cy="941832"/>
          </a:xfrm>
          <a:prstGeom prst="rect">
            <a:avLst/>
          </a:prstGeom>
          <a:solidFill>
            <a:srgbClr val="EFF9CB"/>
          </a:solidFill>
          <a:ln w="12700">
            <a:solidFill>
              <a:srgbClr val="EFF9CB"/>
            </a:solidFill>
            <a:prstDash val="solid"/>
          </a:ln>
        </p:spPr>
      </p:sp>
      <p:sp>
        <p:nvSpPr>
          <p:cNvPr id="17" name="Text 14"/>
          <p:cNvSpPr/>
          <p:nvPr/>
        </p:nvSpPr>
        <p:spPr>
          <a:xfrm>
            <a:off x="3026664" y="2450592"/>
            <a:ext cx="347472" cy="192024"/>
          </a:xfrm>
          <a:prstGeom prst="rect">
            <a:avLst/>
          </a:prstGeom>
          <a:noFill/>
          <a:ln/>
        </p:spPr>
        <p:txBody>
          <a:bodyPr wrap="square" lIns="0" tIns="0" rIns="0" bIns="0" rtlCol="0" anchor="ctr"/>
          <a:lstStyle/>
          <a:p>
            <a:pPr indent="0" marL="0">
              <a:buNone/>
            </a:pPr>
            <a:r>
              <a:rPr lang="en-US" sz="1000" b="1" dirty="0">
                <a:solidFill>
                  <a:srgbClr val="668700"/>
                </a:solidFill>
              </a:rPr>
              <a:t>02</a:t>
            </a:r>
            <a:endParaRPr lang="en-US" sz="1000" dirty="0"/>
          </a:p>
        </p:txBody>
      </p:sp>
      <p:sp>
        <p:nvSpPr>
          <p:cNvPr id="18" name="Text 15"/>
          <p:cNvSpPr/>
          <p:nvPr/>
        </p:nvSpPr>
        <p:spPr>
          <a:xfrm>
            <a:off x="3026664" y="2734056"/>
            <a:ext cx="1600200" cy="210312"/>
          </a:xfrm>
          <a:prstGeom prst="rect">
            <a:avLst/>
          </a:prstGeom>
          <a:noFill/>
          <a:ln/>
        </p:spPr>
        <p:txBody>
          <a:bodyPr wrap="square" lIns="0" tIns="0" rIns="0" bIns="0" rtlCol="0" anchor="ctr">
            <a:normAutofit/>
          </a:bodyPr>
          <a:lstStyle/>
          <a:p>
            <a:pPr indent="0" marL="0">
              <a:buNone/>
            </a:pPr>
            <a:r>
              <a:rPr lang="en-US" sz="1150" b="1" dirty="0">
                <a:solidFill>
                  <a:srgbClr val="171817"/>
                </a:solidFill>
              </a:rPr>
              <a:t>Consent + KFS</a:t>
            </a:r>
            <a:endParaRPr lang="en-US" sz="1150" dirty="0"/>
          </a:p>
        </p:txBody>
      </p:sp>
      <p:sp>
        <p:nvSpPr>
          <p:cNvPr id="19" name="Shape 16"/>
          <p:cNvSpPr/>
          <p:nvPr/>
        </p:nvSpPr>
        <p:spPr>
          <a:xfrm>
            <a:off x="4855464" y="2615184"/>
            <a:ext cx="182880" cy="237744"/>
          </a:xfrm>
          <a:prstGeom prst="chevron">
            <a:avLst/>
          </a:prstGeom>
          <a:solidFill>
            <a:srgbClr val="C9CDC4"/>
          </a:solidFill>
          <a:ln w="12700">
            <a:solidFill>
              <a:srgbClr val="C9CDC4"/>
            </a:solidFill>
            <a:prstDash val="solid"/>
          </a:ln>
        </p:spPr>
      </p:sp>
      <p:sp>
        <p:nvSpPr>
          <p:cNvPr id="20" name="Shape 17"/>
          <p:cNvSpPr/>
          <p:nvPr/>
        </p:nvSpPr>
        <p:spPr>
          <a:xfrm>
            <a:off x="5129784" y="2267712"/>
            <a:ext cx="1938528" cy="941832"/>
          </a:xfrm>
          <a:prstGeom prst="rect">
            <a:avLst/>
          </a:prstGeom>
          <a:solidFill>
            <a:srgbClr val="FFF5D9"/>
          </a:solidFill>
          <a:ln w="12700">
            <a:solidFill>
              <a:srgbClr val="FFF5D9"/>
            </a:solidFill>
            <a:prstDash val="solid"/>
          </a:ln>
        </p:spPr>
      </p:sp>
      <p:sp>
        <p:nvSpPr>
          <p:cNvPr id="21" name="Text 18"/>
          <p:cNvSpPr/>
          <p:nvPr/>
        </p:nvSpPr>
        <p:spPr>
          <a:xfrm>
            <a:off x="5294376" y="2450592"/>
            <a:ext cx="347472" cy="192024"/>
          </a:xfrm>
          <a:prstGeom prst="rect">
            <a:avLst/>
          </a:prstGeom>
          <a:noFill/>
          <a:ln/>
        </p:spPr>
        <p:txBody>
          <a:bodyPr wrap="square" lIns="0" tIns="0" rIns="0" bIns="0" rtlCol="0" anchor="ctr"/>
          <a:lstStyle/>
          <a:p>
            <a:pPr indent="0" marL="0">
              <a:buNone/>
            </a:pPr>
            <a:r>
              <a:rPr lang="en-US" sz="1000" b="1" dirty="0">
                <a:solidFill>
                  <a:srgbClr val="E9A323"/>
                </a:solidFill>
              </a:rPr>
              <a:t>03</a:t>
            </a:r>
            <a:endParaRPr lang="en-US" sz="1000" dirty="0"/>
          </a:p>
        </p:txBody>
      </p:sp>
      <p:sp>
        <p:nvSpPr>
          <p:cNvPr id="22" name="Text 19"/>
          <p:cNvSpPr/>
          <p:nvPr/>
        </p:nvSpPr>
        <p:spPr>
          <a:xfrm>
            <a:off x="5294376" y="2734056"/>
            <a:ext cx="1600200" cy="210312"/>
          </a:xfrm>
          <a:prstGeom prst="rect">
            <a:avLst/>
          </a:prstGeom>
          <a:noFill/>
          <a:ln/>
        </p:spPr>
        <p:txBody>
          <a:bodyPr wrap="square" lIns="0" tIns="0" rIns="0" bIns="0" rtlCol="0" anchor="ctr">
            <a:normAutofit/>
          </a:bodyPr>
          <a:lstStyle/>
          <a:p>
            <a:pPr indent="0" marL="0">
              <a:buNone/>
            </a:pPr>
            <a:r>
              <a:rPr lang="en-US" sz="1150" b="1" dirty="0">
                <a:solidFill>
                  <a:srgbClr val="171817"/>
                </a:solidFill>
              </a:rPr>
              <a:t>Pay + mandate</a:t>
            </a:r>
            <a:endParaRPr lang="en-US" sz="1150" dirty="0"/>
          </a:p>
        </p:txBody>
      </p:sp>
      <p:sp>
        <p:nvSpPr>
          <p:cNvPr id="23" name="Shape 20"/>
          <p:cNvSpPr/>
          <p:nvPr/>
        </p:nvSpPr>
        <p:spPr>
          <a:xfrm>
            <a:off x="7123176" y="2615184"/>
            <a:ext cx="182880" cy="237744"/>
          </a:xfrm>
          <a:prstGeom prst="chevron">
            <a:avLst/>
          </a:prstGeom>
          <a:solidFill>
            <a:srgbClr val="C9CDC4"/>
          </a:solidFill>
          <a:ln w="12700">
            <a:solidFill>
              <a:srgbClr val="C9CDC4"/>
            </a:solidFill>
            <a:prstDash val="solid"/>
          </a:ln>
        </p:spPr>
      </p:sp>
      <p:sp>
        <p:nvSpPr>
          <p:cNvPr id="24" name="Shape 21"/>
          <p:cNvSpPr/>
          <p:nvPr/>
        </p:nvSpPr>
        <p:spPr>
          <a:xfrm>
            <a:off x="7397496" y="2267712"/>
            <a:ext cx="1938528" cy="941832"/>
          </a:xfrm>
          <a:prstGeom prst="rect">
            <a:avLst/>
          </a:prstGeom>
          <a:solidFill>
            <a:srgbClr val="DFF4E5"/>
          </a:solidFill>
          <a:ln w="12700">
            <a:solidFill>
              <a:srgbClr val="DFF4E5"/>
            </a:solidFill>
            <a:prstDash val="solid"/>
          </a:ln>
        </p:spPr>
      </p:sp>
      <p:sp>
        <p:nvSpPr>
          <p:cNvPr id="25" name="Text 22"/>
          <p:cNvSpPr/>
          <p:nvPr/>
        </p:nvSpPr>
        <p:spPr>
          <a:xfrm>
            <a:off x="7562088" y="2450592"/>
            <a:ext cx="347472" cy="192024"/>
          </a:xfrm>
          <a:prstGeom prst="rect">
            <a:avLst/>
          </a:prstGeom>
          <a:noFill/>
          <a:ln/>
        </p:spPr>
        <p:txBody>
          <a:bodyPr wrap="square" lIns="0" tIns="0" rIns="0" bIns="0" rtlCol="0" anchor="ctr"/>
          <a:lstStyle/>
          <a:p>
            <a:pPr indent="0" marL="0">
              <a:buNone/>
            </a:pPr>
            <a:r>
              <a:rPr lang="en-US" sz="1000" b="1" dirty="0">
                <a:solidFill>
                  <a:srgbClr val="237346"/>
                </a:solidFill>
              </a:rPr>
              <a:t>04</a:t>
            </a:r>
            <a:endParaRPr lang="en-US" sz="1000" dirty="0"/>
          </a:p>
        </p:txBody>
      </p:sp>
      <p:sp>
        <p:nvSpPr>
          <p:cNvPr id="26" name="Text 23"/>
          <p:cNvSpPr/>
          <p:nvPr/>
        </p:nvSpPr>
        <p:spPr>
          <a:xfrm>
            <a:off x="7562088" y="2734056"/>
            <a:ext cx="1600200" cy="210312"/>
          </a:xfrm>
          <a:prstGeom prst="rect">
            <a:avLst/>
          </a:prstGeom>
          <a:noFill/>
          <a:ln/>
        </p:spPr>
        <p:txBody>
          <a:bodyPr wrap="square" lIns="0" tIns="0" rIns="0" bIns="0" rtlCol="0" anchor="ctr">
            <a:normAutofit/>
          </a:bodyPr>
          <a:lstStyle/>
          <a:p>
            <a:pPr indent="0" marL="0">
              <a:buNone/>
            </a:pPr>
            <a:r>
              <a:rPr lang="en-US" sz="1150" b="1" dirty="0">
                <a:solidFill>
                  <a:srgbClr val="171817"/>
                </a:solidFill>
              </a:rPr>
              <a:t>Loan booked</a:t>
            </a:r>
            <a:endParaRPr lang="en-US" sz="1150" dirty="0"/>
          </a:p>
        </p:txBody>
      </p:sp>
      <p:sp>
        <p:nvSpPr>
          <p:cNvPr id="27" name="Shape 24"/>
          <p:cNvSpPr/>
          <p:nvPr/>
        </p:nvSpPr>
        <p:spPr>
          <a:xfrm>
            <a:off x="9390888" y="2615184"/>
            <a:ext cx="182880" cy="237744"/>
          </a:xfrm>
          <a:prstGeom prst="chevron">
            <a:avLst/>
          </a:prstGeom>
          <a:solidFill>
            <a:srgbClr val="C9CDC4"/>
          </a:solidFill>
          <a:ln w="12700">
            <a:solidFill>
              <a:srgbClr val="C9CDC4"/>
            </a:solidFill>
            <a:prstDash val="solid"/>
          </a:ln>
        </p:spPr>
      </p:sp>
      <p:sp>
        <p:nvSpPr>
          <p:cNvPr id="28" name="Shape 25"/>
          <p:cNvSpPr/>
          <p:nvPr/>
        </p:nvSpPr>
        <p:spPr>
          <a:xfrm>
            <a:off x="9665208" y="2267712"/>
            <a:ext cx="1938528" cy="941832"/>
          </a:xfrm>
          <a:prstGeom prst="rect">
            <a:avLst/>
          </a:prstGeom>
          <a:solidFill>
            <a:srgbClr val="FFEBE8"/>
          </a:solidFill>
          <a:ln w="12700">
            <a:solidFill>
              <a:srgbClr val="FFEBE8"/>
            </a:solidFill>
            <a:prstDash val="solid"/>
          </a:ln>
        </p:spPr>
      </p:sp>
      <p:sp>
        <p:nvSpPr>
          <p:cNvPr id="29" name="Text 26"/>
          <p:cNvSpPr/>
          <p:nvPr/>
        </p:nvSpPr>
        <p:spPr>
          <a:xfrm>
            <a:off x="9829800" y="2450592"/>
            <a:ext cx="347472" cy="192024"/>
          </a:xfrm>
          <a:prstGeom prst="rect">
            <a:avLst/>
          </a:prstGeom>
          <a:noFill/>
          <a:ln/>
        </p:spPr>
        <p:txBody>
          <a:bodyPr wrap="square" lIns="0" tIns="0" rIns="0" bIns="0" rtlCol="0" anchor="ctr"/>
          <a:lstStyle/>
          <a:p>
            <a:pPr indent="0" marL="0">
              <a:buNone/>
            </a:pPr>
            <a:r>
              <a:rPr lang="en-US" sz="1000" b="1" dirty="0">
                <a:solidFill>
                  <a:srgbClr val="F26A5D"/>
                </a:solidFill>
              </a:rPr>
              <a:t>05</a:t>
            </a:r>
            <a:endParaRPr lang="en-US" sz="1000" dirty="0"/>
          </a:p>
        </p:txBody>
      </p:sp>
      <p:sp>
        <p:nvSpPr>
          <p:cNvPr id="30" name="Text 27"/>
          <p:cNvSpPr/>
          <p:nvPr/>
        </p:nvSpPr>
        <p:spPr>
          <a:xfrm>
            <a:off x="9829800" y="2734056"/>
            <a:ext cx="1600200" cy="210312"/>
          </a:xfrm>
          <a:prstGeom prst="rect">
            <a:avLst/>
          </a:prstGeom>
          <a:noFill/>
          <a:ln/>
        </p:spPr>
        <p:txBody>
          <a:bodyPr wrap="square" lIns="0" tIns="0" rIns="0" bIns="0" rtlCol="0" anchor="ctr">
            <a:normAutofit/>
          </a:bodyPr>
          <a:lstStyle/>
          <a:p>
            <a:pPr indent="0" marL="0">
              <a:buNone/>
            </a:pPr>
            <a:r>
              <a:rPr lang="en-US" sz="1150" b="1" dirty="0">
                <a:solidFill>
                  <a:srgbClr val="171817"/>
                </a:solidFill>
              </a:rPr>
              <a:t>Order placed</a:t>
            </a:r>
            <a:endParaRPr lang="en-US" sz="1150" dirty="0"/>
          </a:p>
        </p:txBody>
      </p:sp>
      <p:sp>
        <p:nvSpPr>
          <p:cNvPr id="31" name="Shape 28"/>
          <p:cNvSpPr/>
          <p:nvPr/>
        </p:nvSpPr>
        <p:spPr>
          <a:xfrm>
            <a:off x="594360" y="3639312"/>
            <a:ext cx="3456432" cy="393192"/>
          </a:xfrm>
          <a:prstGeom prst="roundRect">
            <a:avLst>
              <a:gd name="adj" fmla="val 9302"/>
            </a:avLst>
          </a:prstGeom>
          <a:solidFill>
            <a:srgbClr val="FFEBE8"/>
          </a:solidFill>
          <a:ln w="12700">
            <a:solidFill>
              <a:srgbClr val="FFEBE8"/>
            </a:solidFill>
            <a:prstDash val="solid"/>
          </a:ln>
        </p:spPr>
      </p:sp>
      <p:sp>
        <p:nvSpPr>
          <p:cNvPr id="32" name="Text 29"/>
          <p:cNvSpPr/>
          <p:nvPr/>
        </p:nvSpPr>
        <p:spPr>
          <a:xfrm>
            <a:off x="768096" y="3749040"/>
            <a:ext cx="3108960" cy="164592"/>
          </a:xfrm>
          <a:prstGeom prst="rect">
            <a:avLst/>
          </a:prstGeom>
          <a:noFill/>
          <a:ln/>
        </p:spPr>
        <p:txBody>
          <a:bodyPr wrap="square" lIns="0" tIns="0" rIns="0" bIns="0" rtlCol="0" anchor="ctr"/>
          <a:lstStyle/>
          <a:p>
            <a:pPr indent="0" marL="0">
              <a:buNone/>
            </a:pPr>
            <a:r>
              <a:rPr lang="en-US" sz="950" b="1" dirty="0">
                <a:solidFill>
                  <a:srgbClr val="F26A5D"/>
                </a:solidFill>
              </a:rPr>
              <a:t>Payment succeeds, loan fails</a:t>
            </a:r>
            <a:endParaRPr lang="en-US" sz="950" dirty="0"/>
          </a:p>
        </p:txBody>
      </p:sp>
      <p:sp>
        <p:nvSpPr>
          <p:cNvPr id="33" name="Shape 30"/>
          <p:cNvSpPr/>
          <p:nvPr/>
        </p:nvSpPr>
        <p:spPr>
          <a:xfrm>
            <a:off x="4160520" y="3712464"/>
            <a:ext cx="292608" cy="237744"/>
          </a:xfrm>
          <a:prstGeom prst="chevron">
            <a:avLst/>
          </a:prstGeom>
          <a:solidFill>
            <a:srgbClr val="C9CDC4"/>
          </a:solidFill>
          <a:ln w="12700">
            <a:solidFill>
              <a:srgbClr val="C9CDC4"/>
            </a:solidFill>
            <a:prstDash val="solid"/>
          </a:ln>
        </p:spPr>
      </p:sp>
      <p:sp>
        <p:nvSpPr>
          <p:cNvPr id="34" name="Shape 31"/>
          <p:cNvSpPr/>
          <p:nvPr/>
        </p:nvSpPr>
        <p:spPr>
          <a:xfrm>
            <a:off x="4572000" y="3639312"/>
            <a:ext cx="3401568" cy="393192"/>
          </a:xfrm>
          <a:prstGeom prst="roundRect">
            <a:avLst>
              <a:gd name="adj" fmla="val 9302"/>
            </a:avLst>
          </a:prstGeom>
          <a:solidFill>
            <a:srgbClr val="DFF4E5"/>
          </a:solidFill>
          <a:ln w="12700">
            <a:solidFill>
              <a:srgbClr val="DFF4E5"/>
            </a:solidFill>
            <a:prstDash val="solid"/>
          </a:ln>
        </p:spPr>
      </p:sp>
      <p:sp>
        <p:nvSpPr>
          <p:cNvPr id="35" name="Text 32"/>
          <p:cNvSpPr/>
          <p:nvPr/>
        </p:nvSpPr>
        <p:spPr>
          <a:xfrm>
            <a:off x="4745736" y="3749040"/>
            <a:ext cx="3063240" cy="164592"/>
          </a:xfrm>
          <a:prstGeom prst="rect">
            <a:avLst/>
          </a:prstGeom>
          <a:noFill/>
          <a:ln/>
        </p:spPr>
        <p:txBody>
          <a:bodyPr wrap="square" lIns="0" tIns="0" rIns="0" bIns="0" rtlCol="0" anchor="ctr"/>
          <a:lstStyle/>
          <a:p>
            <a:pPr indent="0" marL="0">
              <a:buNone/>
            </a:pPr>
            <a:r>
              <a:rPr lang="en-US" sz="950" b="1" dirty="0">
                <a:solidFill>
                  <a:srgbClr val="237346"/>
                </a:solidFill>
              </a:rPr>
              <a:t>Release / refund down payment</a:t>
            </a:r>
            <a:endParaRPr lang="en-US" sz="950" dirty="0"/>
          </a:p>
        </p:txBody>
      </p:sp>
      <p:sp>
        <p:nvSpPr>
          <p:cNvPr id="36" name="Shape 33"/>
          <p:cNvSpPr/>
          <p:nvPr/>
        </p:nvSpPr>
        <p:spPr>
          <a:xfrm>
            <a:off x="594360" y="4215384"/>
            <a:ext cx="3456432" cy="393192"/>
          </a:xfrm>
          <a:prstGeom prst="roundRect">
            <a:avLst>
              <a:gd name="adj" fmla="val 9302"/>
            </a:avLst>
          </a:prstGeom>
          <a:solidFill>
            <a:srgbClr val="FFEBE8"/>
          </a:solidFill>
          <a:ln w="12700">
            <a:solidFill>
              <a:srgbClr val="FFEBE8"/>
            </a:solidFill>
            <a:prstDash val="solid"/>
          </a:ln>
        </p:spPr>
      </p:sp>
      <p:sp>
        <p:nvSpPr>
          <p:cNvPr id="37" name="Text 34"/>
          <p:cNvSpPr/>
          <p:nvPr/>
        </p:nvSpPr>
        <p:spPr>
          <a:xfrm>
            <a:off x="768096" y="4325112"/>
            <a:ext cx="3108960" cy="164592"/>
          </a:xfrm>
          <a:prstGeom prst="rect">
            <a:avLst/>
          </a:prstGeom>
          <a:noFill/>
          <a:ln/>
        </p:spPr>
        <p:txBody>
          <a:bodyPr wrap="square" lIns="0" tIns="0" rIns="0" bIns="0" rtlCol="0" anchor="ctr"/>
          <a:lstStyle/>
          <a:p>
            <a:pPr indent="0" marL="0">
              <a:buNone/>
            </a:pPr>
            <a:r>
              <a:rPr lang="en-US" sz="950" b="1" dirty="0">
                <a:solidFill>
                  <a:srgbClr val="F26A5D"/>
                </a:solidFill>
              </a:rPr>
              <a:t>Loan books, order fails</a:t>
            </a:r>
            <a:endParaRPr lang="en-US" sz="950" dirty="0"/>
          </a:p>
        </p:txBody>
      </p:sp>
      <p:sp>
        <p:nvSpPr>
          <p:cNvPr id="38" name="Shape 35"/>
          <p:cNvSpPr/>
          <p:nvPr/>
        </p:nvSpPr>
        <p:spPr>
          <a:xfrm>
            <a:off x="4160520" y="4288536"/>
            <a:ext cx="292608" cy="237744"/>
          </a:xfrm>
          <a:prstGeom prst="chevron">
            <a:avLst/>
          </a:prstGeom>
          <a:solidFill>
            <a:srgbClr val="C9CDC4"/>
          </a:solidFill>
          <a:ln w="12700">
            <a:solidFill>
              <a:srgbClr val="C9CDC4"/>
            </a:solidFill>
            <a:prstDash val="solid"/>
          </a:ln>
        </p:spPr>
      </p:sp>
      <p:sp>
        <p:nvSpPr>
          <p:cNvPr id="39" name="Shape 36"/>
          <p:cNvSpPr/>
          <p:nvPr/>
        </p:nvSpPr>
        <p:spPr>
          <a:xfrm>
            <a:off x="4572000" y="4215384"/>
            <a:ext cx="3401568" cy="393192"/>
          </a:xfrm>
          <a:prstGeom prst="roundRect">
            <a:avLst>
              <a:gd name="adj" fmla="val 9302"/>
            </a:avLst>
          </a:prstGeom>
          <a:solidFill>
            <a:srgbClr val="DFF4E5"/>
          </a:solidFill>
          <a:ln w="12700">
            <a:solidFill>
              <a:srgbClr val="DFF4E5"/>
            </a:solidFill>
            <a:prstDash val="solid"/>
          </a:ln>
        </p:spPr>
      </p:sp>
      <p:sp>
        <p:nvSpPr>
          <p:cNvPr id="40" name="Text 37"/>
          <p:cNvSpPr/>
          <p:nvPr/>
        </p:nvSpPr>
        <p:spPr>
          <a:xfrm>
            <a:off x="4745736" y="4325112"/>
            <a:ext cx="3063240" cy="164592"/>
          </a:xfrm>
          <a:prstGeom prst="rect">
            <a:avLst/>
          </a:prstGeom>
          <a:noFill/>
          <a:ln/>
        </p:spPr>
        <p:txBody>
          <a:bodyPr wrap="square" lIns="0" tIns="0" rIns="0" bIns="0" rtlCol="0" anchor="ctr"/>
          <a:lstStyle/>
          <a:p>
            <a:pPr indent="0" marL="0">
              <a:buNone/>
            </a:pPr>
            <a:r>
              <a:rPr lang="en-US" sz="950" b="1" dirty="0">
                <a:solidFill>
                  <a:srgbClr val="237346"/>
                </a:solidFill>
              </a:rPr>
              <a:t>Cancel loan before success</a:t>
            </a:r>
            <a:endParaRPr lang="en-US" sz="950" dirty="0"/>
          </a:p>
        </p:txBody>
      </p:sp>
      <p:sp>
        <p:nvSpPr>
          <p:cNvPr id="41" name="Shape 38"/>
          <p:cNvSpPr/>
          <p:nvPr/>
        </p:nvSpPr>
        <p:spPr>
          <a:xfrm>
            <a:off x="594360" y="4791456"/>
            <a:ext cx="3456432" cy="393192"/>
          </a:xfrm>
          <a:prstGeom prst="roundRect">
            <a:avLst>
              <a:gd name="adj" fmla="val 9302"/>
            </a:avLst>
          </a:prstGeom>
          <a:solidFill>
            <a:srgbClr val="FFEBE8"/>
          </a:solidFill>
          <a:ln w="12700">
            <a:solidFill>
              <a:srgbClr val="FFEBE8"/>
            </a:solidFill>
            <a:prstDash val="solid"/>
          </a:ln>
        </p:spPr>
      </p:sp>
      <p:sp>
        <p:nvSpPr>
          <p:cNvPr id="42" name="Text 39"/>
          <p:cNvSpPr/>
          <p:nvPr/>
        </p:nvSpPr>
        <p:spPr>
          <a:xfrm>
            <a:off x="768096" y="4901184"/>
            <a:ext cx="3108960" cy="164592"/>
          </a:xfrm>
          <a:prstGeom prst="rect">
            <a:avLst/>
          </a:prstGeom>
          <a:noFill/>
          <a:ln/>
        </p:spPr>
        <p:txBody>
          <a:bodyPr wrap="square" lIns="0" tIns="0" rIns="0" bIns="0" rtlCol="0" anchor="ctr"/>
          <a:lstStyle/>
          <a:p>
            <a:pPr indent="0" marL="0">
              <a:buNone/>
            </a:pPr>
            <a:r>
              <a:rPr lang="en-US" sz="950" b="1" dirty="0">
                <a:solidFill>
                  <a:srgbClr val="F26A5D"/>
                </a:solidFill>
              </a:rPr>
              <a:t>Return after delivery</a:t>
            </a:r>
            <a:endParaRPr lang="en-US" sz="950" dirty="0"/>
          </a:p>
        </p:txBody>
      </p:sp>
      <p:sp>
        <p:nvSpPr>
          <p:cNvPr id="43" name="Shape 40"/>
          <p:cNvSpPr/>
          <p:nvPr/>
        </p:nvSpPr>
        <p:spPr>
          <a:xfrm>
            <a:off x="4160520" y="4864608"/>
            <a:ext cx="292608" cy="237744"/>
          </a:xfrm>
          <a:prstGeom prst="chevron">
            <a:avLst/>
          </a:prstGeom>
          <a:solidFill>
            <a:srgbClr val="C9CDC4"/>
          </a:solidFill>
          <a:ln w="12700">
            <a:solidFill>
              <a:srgbClr val="C9CDC4"/>
            </a:solidFill>
            <a:prstDash val="solid"/>
          </a:ln>
        </p:spPr>
      </p:sp>
      <p:sp>
        <p:nvSpPr>
          <p:cNvPr id="44" name="Shape 41"/>
          <p:cNvSpPr/>
          <p:nvPr/>
        </p:nvSpPr>
        <p:spPr>
          <a:xfrm>
            <a:off x="4572000" y="4791456"/>
            <a:ext cx="3401568" cy="393192"/>
          </a:xfrm>
          <a:prstGeom prst="roundRect">
            <a:avLst>
              <a:gd name="adj" fmla="val 9302"/>
            </a:avLst>
          </a:prstGeom>
          <a:solidFill>
            <a:srgbClr val="DFF4E5"/>
          </a:solidFill>
          <a:ln w="12700">
            <a:solidFill>
              <a:srgbClr val="DFF4E5"/>
            </a:solidFill>
            <a:prstDash val="solid"/>
          </a:ln>
        </p:spPr>
      </p:sp>
      <p:sp>
        <p:nvSpPr>
          <p:cNvPr id="45" name="Text 42"/>
          <p:cNvSpPr/>
          <p:nvPr/>
        </p:nvSpPr>
        <p:spPr>
          <a:xfrm>
            <a:off x="4745736" y="4901184"/>
            <a:ext cx="3063240" cy="164592"/>
          </a:xfrm>
          <a:prstGeom prst="rect">
            <a:avLst/>
          </a:prstGeom>
          <a:noFill/>
          <a:ln/>
        </p:spPr>
        <p:txBody>
          <a:bodyPr wrap="square" lIns="0" tIns="0" rIns="0" bIns="0" rtlCol="0" anchor="ctr"/>
          <a:lstStyle/>
          <a:p>
            <a:pPr indent="0" marL="0">
              <a:buNone/>
            </a:pPr>
            <a:r>
              <a:rPr lang="en-US" sz="950" b="1" dirty="0">
                <a:solidFill>
                  <a:srgbClr val="237346"/>
                </a:solidFill>
              </a:rPr>
              <a:t>Adjust principal, then user refund</a:t>
            </a:r>
            <a:endParaRPr lang="en-US" sz="950" dirty="0"/>
          </a:p>
        </p:txBody>
      </p:sp>
      <p:sp>
        <p:nvSpPr>
          <p:cNvPr id="46" name="Shape 43"/>
          <p:cNvSpPr/>
          <p:nvPr/>
        </p:nvSpPr>
        <p:spPr>
          <a:xfrm>
            <a:off x="8348472" y="3639312"/>
            <a:ext cx="3264408" cy="1545336"/>
          </a:xfrm>
          <a:prstGeom prst="rect">
            <a:avLst/>
          </a:prstGeom>
          <a:solidFill>
            <a:srgbClr val="171817"/>
          </a:solidFill>
          <a:ln w="12700">
            <a:solidFill>
              <a:srgbClr val="171817"/>
            </a:solidFill>
            <a:prstDash val="solid"/>
          </a:ln>
        </p:spPr>
      </p:sp>
      <p:sp>
        <p:nvSpPr>
          <p:cNvPr id="47" name="Text 44"/>
          <p:cNvSpPr/>
          <p:nvPr/>
        </p:nvSpPr>
        <p:spPr>
          <a:xfrm>
            <a:off x="8613648" y="3913632"/>
            <a:ext cx="2560320" cy="164592"/>
          </a:xfrm>
          <a:prstGeom prst="rect">
            <a:avLst/>
          </a:prstGeom>
          <a:noFill/>
          <a:ln/>
        </p:spPr>
        <p:txBody>
          <a:bodyPr wrap="square" lIns="0" tIns="0" rIns="0" bIns="0" rtlCol="0" anchor="ctr"/>
          <a:lstStyle/>
          <a:p>
            <a:pPr indent="0" marL="0">
              <a:buNone/>
            </a:pPr>
            <a:r>
              <a:rPr lang="en-US" sz="750" b="1" spc="130" kern="0" dirty="0">
                <a:solidFill>
                  <a:srgbClr val="C9F044"/>
                </a:solidFill>
              </a:rPr>
              <a:t>NON-NEGOTIABLE CONTROLS</a:t>
            </a:r>
            <a:endParaRPr lang="en-US" sz="750" dirty="0"/>
          </a:p>
        </p:txBody>
      </p:sp>
      <p:sp>
        <p:nvSpPr>
          <p:cNvPr id="48" name="Text 45"/>
          <p:cNvSpPr/>
          <p:nvPr/>
        </p:nvSpPr>
        <p:spPr>
          <a:xfrm>
            <a:off x="8650224" y="4224528"/>
            <a:ext cx="2606040" cy="731520"/>
          </a:xfrm>
          <a:prstGeom prst="rect">
            <a:avLst/>
          </a:prstGeom>
          <a:noFill/>
          <a:ln/>
        </p:spPr>
        <p:txBody>
          <a:bodyPr wrap="square" lIns="0" tIns="0" rIns="0" bIns="0" rtlCol="0" anchor="t">
            <a:normAutofit/>
          </a:bodyPr>
          <a:lstStyle/>
          <a:p>
            <a:pPr marL="165100" indent="-165100">
              <a:buSzPct val="100000"/>
              <a:buChar char="•"/>
            </a:pPr>
            <a:r>
              <a:rPr lang="en-US" sz="950" dirty="0">
                <a:solidFill>
                  <a:srgbClr val="FFFFFF"/>
                </a:solidFill>
              </a:rPr>
              <a:t>Idempotency on every external action</a:t>
            </a:r>
            <a:endParaRPr lang="en-US" sz="950" dirty="0"/>
          </a:p>
          <a:p>
            <a:pPr marL="165100" indent="-165100">
              <a:buSzPct val="100000"/>
              <a:buChar char="•"/>
            </a:pPr>
            <a:r>
              <a:rPr lang="en-US" sz="950" dirty="0">
                <a:solidFill>
                  <a:srgbClr val="FFFFFF"/>
                </a:solidFill>
              </a:rPr>
              <a:t>Persisted consent and KFS version</a:t>
            </a:r>
            <a:endParaRPr lang="en-US" sz="950" dirty="0"/>
          </a:p>
          <a:p>
            <a:pPr marL="165100" indent="-165100">
              <a:buSzPct val="100000"/>
              <a:buChar char="•"/>
            </a:pPr>
            <a:r>
              <a:rPr lang="en-US" sz="950" dirty="0">
                <a:solidFill>
                  <a:srgbClr val="FFFFFF"/>
                </a:solidFill>
              </a:rPr>
              <a:t>Full-UPI fallback</a:t>
            </a:r>
            <a:endParaRPr lang="en-US" sz="950" dirty="0"/>
          </a:p>
          <a:p>
            <a:pPr marL="165100" indent="-165100">
              <a:buSzPct val="100000"/>
              <a:buChar char="•"/>
            </a:pPr>
            <a:r>
              <a:rPr lang="en-US" sz="950" dirty="0">
                <a:solidFill>
                  <a:srgbClr val="FFFFFF"/>
                </a:solidFill>
              </a:rPr>
              <a:t>Unified support timeline</a:t>
            </a:r>
            <a:endParaRPr lang="en-US" sz="950" dirty="0"/>
          </a:p>
        </p:txBody>
      </p:sp>
      <p:sp>
        <p:nvSpPr>
          <p:cNvPr id="49" name="Shape 46"/>
          <p:cNvSpPr/>
          <p:nvPr/>
        </p:nvSpPr>
        <p:spPr>
          <a:xfrm>
            <a:off x="594360" y="5504688"/>
            <a:ext cx="11018520" cy="566928"/>
          </a:xfrm>
          <a:prstGeom prst="rect">
            <a:avLst/>
          </a:prstGeom>
          <a:solidFill>
            <a:srgbClr val="E8EDFF"/>
          </a:solidFill>
          <a:ln w="12700">
            <a:solidFill>
              <a:srgbClr val="E8EDFF"/>
            </a:solidFill>
            <a:prstDash val="solid"/>
          </a:ln>
        </p:spPr>
      </p:sp>
      <p:sp>
        <p:nvSpPr>
          <p:cNvPr id="50" name="Text 47"/>
          <p:cNvSpPr/>
          <p:nvPr/>
        </p:nvSpPr>
        <p:spPr>
          <a:xfrm>
            <a:off x="850392" y="5669280"/>
            <a:ext cx="10515600" cy="210312"/>
          </a:xfrm>
          <a:prstGeom prst="rect">
            <a:avLst/>
          </a:prstGeom>
          <a:noFill/>
          <a:ln/>
        </p:spPr>
        <p:txBody>
          <a:bodyPr wrap="square" lIns="0" tIns="0" rIns="0" bIns="0" rtlCol="0" anchor="ctr"/>
          <a:lstStyle/>
          <a:p>
            <a:pPr algn="ctr" indent="0" marL="0">
              <a:buNone/>
            </a:pPr>
            <a:r>
              <a:rPr lang="en-US" sz="1150" b="1" dirty="0">
                <a:solidFill>
                  <a:srgbClr val="3566E8"/>
                </a:solidFill>
              </a:rPr>
              <a:t>Central key: checkout_session_id links quote, payment, mandate, loan, order, refund, and support events.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ILLUSTRATIVE P&amp;L</a:t>
            </a:r>
            <a:endParaRPr lang="en-US" sz="850" dirty="0"/>
          </a:p>
        </p:txBody>
      </p:sp>
      <p:sp>
        <p:nvSpPr>
          <p:cNvPr id="6" name="Text 4"/>
          <p:cNvSpPr/>
          <p:nvPr/>
        </p:nvSpPr>
        <p:spPr>
          <a:xfrm>
            <a:off x="566928" y="1033272"/>
            <a:ext cx="10698480" cy="530352"/>
          </a:xfrm>
          <a:prstGeom prst="rect">
            <a:avLst/>
          </a:prstGeom>
          <a:noFill/>
          <a:ln/>
        </p:spPr>
        <p:txBody>
          <a:bodyPr wrap="square" lIns="0" tIns="0" rIns="0" bIns="0" rtlCol="0" anchor="ctr">
            <a:normAutofit/>
          </a:bodyPr>
          <a:lstStyle/>
          <a:p>
            <a:pPr indent="0" marL="0">
              <a:buNone/>
            </a:pPr>
            <a:r>
              <a:rPr lang="en-US" sz="2700" b="1" dirty="0">
                <a:solidFill>
                  <a:srgbClr val="171817"/>
                </a:solidFill>
              </a:rPr>
              <a:t>Scale the cohorts that repay and repeat - not the GMV that looks large.</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A simple funnel is useful only when revenue, incentives, returns, operations, and credit loss are joined.</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AFFORDABLE COMMERCE CONCEPT</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08</a:t>
            </a:r>
            <a:endParaRPr lang="en-US" sz="800" dirty="0"/>
          </a:p>
        </p:txBody>
      </p:sp>
      <p:sp>
        <p:nvSpPr>
          <p:cNvPr id="12" name="Text 9"/>
          <p:cNvSpPr/>
          <p:nvPr/>
        </p:nvSpPr>
        <p:spPr>
          <a:xfrm>
            <a:off x="594360" y="2194560"/>
            <a:ext cx="1828800" cy="164592"/>
          </a:xfrm>
          <a:prstGeom prst="rect">
            <a:avLst/>
          </a:prstGeom>
          <a:noFill/>
          <a:ln/>
        </p:spPr>
        <p:txBody>
          <a:bodyPr wrap="square" lIns="0" tIns="0" rIns="0" bIns="0" rtlCol="0" anchor="ctr"/>
          <a:lstStyle/>
          <a:p>
            <a:pPr indent="0" marL="0">
              <a:buNone/>
            </a:pPr>
            <a:r>
              <a:rPr lang="en-US" sz="750" b="1" spc="130" kern="0" dirty="0">
                <a:solidFill>
                  <a:srgbClr val="666C64"/>
                </a:solidFill>
              </a:rPr>
              <a:t>MONTHLY FUNNEL</a:t>
            </a:r>
            <a:endParaRPr lang="en-US" sz="750" dirty="0"/>
          </a:p>
        </p:txBody>
      </p:sp>
      <p:sp>
        <p:nvSpPr>
          <p:cNvPr id="13" name="Shape 10"/>
          <p:cNvSpPr/>
          <p:nvPr/>
        </p:nvSpPr>
        <p:spPr>
          <a:xfrm>
            <a:off x="594360" y="2542032"/>
            <a:ext cx="4389120" cy="429768"/>
          </a:xfrm>
          <a:prstGeom prst="rect">
            <a:avLst/>
          </a:prstGeom>
          <a:solidFill>
            <a:srgbClr val="3566E8"/>
          </a:solidFill>
          <a:ln w="12700">
            <a:solidFill>
              <a:srgbClr val="3566E8"/>
            </a:solidFill>
            <a:prstDash val="solid"/>
          </a:ln>
        </p:spPr>
      </p:sp>
      <p:sp>
        <p:nvSpPr>
          <p:cNvPr id="14" name="Text 11"/>
          <p:cNvSpPr/>
          <p:nvPr/>
        </p:nvSpPr>
        <p:spPr>
          <a:xfrm>
            <a:off x="731520" y="2660904"/>
            <a:ext cx="4114800" cy="164592"/>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5.0M  UPI users exposed</a:t>
            </a:r>
            <a:endParaRPr lang="en-US" sz="950" dirty="0"/>
          </a:p>
        </p:txBody>
      </p:sp>
      <p:sp>
        <p:nvSpPr>
          <p:cNvPr id="15" name="Shape 12"/>
          <p:cNvSpPr/>
          <p:nvPr/>
        </p:nvSpPr>
        <p:spPr>
          <a:xfrm>
            <a:off x="914400" y="3118104"/>
            <a:ext cx="3749040" cy="429768"/>
          </a:xfrm>
          <a:prstGeom prst="rect">
            <a:avLst/>
          </a:prstGeom>
          <a:solidFill>
            <a:srgbClr val="5B7EEA"/>
          </a:solidFill>
          <a:ln w="12700">
            <a:solidFill>
              <a:srgbClr val="5B7EEA"/>
            </a:solidFill>
            <a:prstDash val="solid"/>
          </a:ln>
        </p:spPr>
      </p:sp>
      <p:sp>
        <p:nvSpPr>
          <p:cNvPr id="16" name="Text 13"/>
          <p:cNvSpPr/>
          <p:nvPr/>
        </p:nvSpPr>
        <p:spPr>
          <a:xfrm>
            <a:off x="1051560" y="3236976"/>
            <a:ext cx="3474720" cy="164592"/>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400K  Commerce entries</a:t>
            </a:r>
            <a:endParaRPr lang="en-US" sz="950" dirty="0"/>
          </a:p>
        </p:txBody>
      </p:sp>
      <p:sp>
        <p:nvSpPr>
          <p:cNvPr id="17" name="Shape 14"/>
          <p:cNvSpPr/>
          <p:nvPr/>
        </p:nvSpPr>
        <p:spPr>
          <a:xfrm>
            <a:off x="1234440" y="3694176"/>
            <a:ext cx="3108960" cy="429768"/>
          </a:xfrm>
          <a:prstGeom prst="rect">
            <a:avLst/>
          </a:prstGeom>
          <a:solidFill>
            <a:srgbClr val="7E99EF"/>
          </a:solidFill>
          <a:ln w="12700">
            <a:solidFill>
              <a:srgbClr val="7E99EF"/>
            </a:solidFill>
            <a:prstDash val="solid"/>
          </a:ln>
        </p:spPr>
      </p:sp>
      <p:sp>
        <p:nvSpPr>
          <p:cNvPr id="18" name="Text 15"/>
          <p:cNvSpPr/>
          <p:nvPr/>
        </p:nvSpPr>
        <p:spPr>
          <a:xfrm>
            <a:off x="1371600" y="3813048"/>
            <a:ext cx="2834640" cy="164592"/>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140K  Product views</a:t>
            </a:r>
            <a:endParaRPr lang="en-US" sz="950" dirty="0"/>
          </a:p>
        </p:txBody>
      </p:sp>
      <p:sp>
        <p:nvSpPr>
          <p:cNvPr id="19" name="Shape 16"/>
          <p:cNvSpPr/>
          <p:nvPr/>
        </p:nvSpPr>
        <p:spPr>
          <a:xfrm>
            <a:off x="1531620" y="4270248"/>
            <a:ext cx="2514600" cy="429768"/>
          </a:xfrm>
          <a:prstGeom prst="rect">
            <a:avLst/>
          </a:prstGeom>
          <a:solidFill>
            <a:srgbClr val="A6B8F4"/>
          </a:solidFill>
          <a:ln w="12700">
            <a:solidFill>
              <a:srgbClr val="A6B8F4"/>
            </a:solidFill>
            <a:prstDash val="solid"/>
          </a:ln>
        </p:spPr>
      </p:sp>
      <p:sp>
        <p:nvSpPr>
          <p:cNvPr id="20" name="Text 17"/>
          <p:cNvSpPr/>
          <p:nvPr/>
        </p:nvSpPr>
        <p:spPr>
          <a:xfrm>
            <a:off x="1668780" y="4389120"/>
            <a:ext cx="2240280" cy="164592"/>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42K  Checkout starts</a:t>
            </a:r>
            <a:endParaRPr lang="en-US" sz="950" dirty="0"/>
          </a:p>
        </p:txBody>
      </p:sp>
      <p:sp>
        <p:nvSpPr>
          <p:cNvPr id="21" name="Shape 18"/>
          <p:cNvSpPr/>
          <p:nvPr/>
        </p:nvSpPr>
        <p:spPr>
          <a:xfrm>
            <a:off x="1805940" y="4846320"/>
            <a:ext cx="1965960" cy="429768"/>
          </a:xfrm>
          <a:prstGeom prst="rect">
            <a:avLst/>
          </a:prstGeom>
          <a:solidFill>
            <a:srgbClr val="C9F044"/>
          </a:solidFill>
          <a:ln w="12700">
            <a:solidFill>
              <a:srgbClr val="C9F044"/>
            </a:solidFill>
            <a:prstDash val="solid"/>
          </a:ln>
        </p:spPr>
      </p:sp>
      <p:sp>
        <p:nvSpPr>
          <p:cNvPr id="22" name="Text 19"/>
          <p:cNvSpPr/>
          <p:nvPr/>
        </p:nvSpPr>
        <p:spPr>
          <a:xfrm>
            <a:off x="1943100" y="4965192"/>
            <a:ext cx="1691640" cy="164592"/>
          </a:xfrm>
          <a:prstGeom prst="rect">
            <a:avLst/>
          </a:prstGeom>
          <a:noFill/>
          <a:ln/>
        </p:spPr>
        <p:txBody>
          <a:bodyPr wrap="square" lIns="0" tIns="0" rIns="0" bIns="0" rtlCol="0" anchor="ctr">
            <a:normAutofit/>
          </a:bodyPr>
          <a:lstStyle/>
          <a:p>
            <a:pPr algn="ctr" indent="0" marL="0">
              <a:buNone/>
            </a:pPr>
            <a:r>
              <a:rPr lang="en-US" sz="950" b="1" dirty="0">
                <a:solidFill>
                  <a:srgbClr val="171817"/>
                </a:solidFill>
              </a:rPr>
              <a:t>18.9K  Orders</a:t>
            </a:r>
            <a:endParaRPr lang="en-US" sz="950" dirty="0"/>
          </a:p>
        </p:txBody>
      </p:sp>
      <p:sp>
        <p:nvSpPr>
          <p:cNvPr id="23" name="Shape 20"/>
          <p:cNvSpPr/>
          <p:nvPr/>
        </p:nvSpPr>
        <p:spPr>
          <a:xfrm>
            <a:off x="5623560" y="2212848"/>
            <a:ext cx="5989320" cy="3337560"/>
          </a:xfrm>
          <a:prstGeom prst="rect">
            <a:avLst/>
          </a:prstGeom>
          <a:solidFill>
            <a:srgbClr val="FFFFFF"/>
          </a:solidFill>
          <a:ln w="12700">
            <a:solidFill>
              <a:srgbClr val="DFE2DB"/>
            </a:solidFill>
            <a:prstDash val="solid"/>
          </a:ln>
        </p:spPr>
      </p:sp>
      <p:sp>
        <p:nvSpPr>
          <p:cNvPr id="24" name="Text 21"/>
          <p:cNvSpPr/>
          <p:nvPr/>
        </p:nvSpPr>
        <p:spPr>
          <a:xfrm>
            <a:off x="5943600" y="2542032"/>
            <a:ext cx="2194560" cy="164592"/>
          </a:xfrm>
          <a:prstGeom prst="rect">
            <a:avLst/>
          </a:prstGeom>
          <a:noFill/>
          <a:ln/>
        </p:spPr>
        <p:txBody>
          <a:bodyPr wrap="square" lIns="0" tIns="0" rIns="0" bIns="0" rtlCol="0" anchor="ctr"/>
          <a:lstStyle/>
          <a:p>
            <a:pPr indent="0" marL="0">
              <a:buNone/>
            </a:pPr>
            <a:r>
              <a:rPr lang="en-US" sz="750" b="1" spc="130" kern="0" dirty="0">
                <a:solidFill>
                  <a:srgbClr val="3566E8"/>
                </a:solidFill>
              </a:rPr>
              <a:t>PER-MONTH OUTPUT</a:t>
            </a:r>
            <a:endParaRPr lang="en-US" sz="750" dirty="0"/>
          </a:p>
        </p:txBody>
      </p:sp>
      <p:sp>
        <p:nvSpPr>
          <p:cNvPr id="25" name="Text 22"/>
          <p:cNvSpPr/>
          <p:nvPr/>
        </p:nvSpPr>
        <p:spPr>
          <a:xfrm>
            <a:off x="5916168" y="2852928"/>
            <a:ext cx="1965960" cy="502920"/>
          </a:xfrm>
          <a:prstGeom prst="rect">
            <a:avLst/>
          </a:prstGeom>
          <a:noFill/>
          <a:ln/>
        </p:spPr>
        <p:txBody>
          <a:bodyPr wrap="square" lIns="0" tIns="0" rIns="0" bIns="0" rtlCol="0" anchor="ctr"/>
          <a:lstStyle/>
          <a:p>
            <a:pPr indent="0" marL="0">
              <a:buNone/>
            </a:pPr>
            <a:r>
              <a:rPr lang="en-US" sz="3000" b="1" dirty="0">
                <a:solidFill>
                  <a:srgbClr val="171817"/>
                </a:solidFill>
              </a:rPr>
              <a:t>₹5.7 Cr</a:t>
            </a:r>
            <a:endParaRPr lang="en-US" sz="3000" dirty="0"/>
          </a:p>
        </p:txBody>
      </p:sp>
      <p:sp>
        <p:nvSpPr>
          <p:cNvPr id="26" name="Text 23"/>
          <p:cNvSpPr/>
          <p:nvPr/>
        </p:nvSpPr>
        <p:spPr>
          <a:xfrm>
            <a:off x="5943600" y="3383280"/>
            <a:ext cx="1600200" cy="201168"/>
          </a:xfrm>
          <a:prstGeom prst="rect">
            <a:avLst/>
          </a:prstGeom>
          <a:noFill/>
          <a:ln/>
        </p:spPr>
        <p:txBody>
          <a:bodyPr wrap="square" lIns="0" tIns="0" rIns="0" bIns="0" rtlCol="0" anchor="ctr"/>
          <a:lstStyle/>
          <a:p>
            <a:pPr indent="0" marL="0">
              <a:buNone/>
            </a:pPr>
            <a:r>
              <a:rPr lang="en-US" sz="1000" dirty="0">
                <a:solidFill>
                  <a:srgbClr val="666C64"/>
                </a:solidFill>
              </a:rPr>
              <a:t>financed GMV</a:t>
            </a:r>
            <a:endParaRPr lang="en-US" sz="1000" dirty="0"/>
          </a:p>
        </p:txBody>
      </p:sp>
      <p:sp>
        <p:nvSpPr>
          <p:cNvPr id="27" name="Text 24"/>
          <p:cNvSpPr/>
          <p:nvPr/>
        </p:nvSpPr>
        <p:spPr>
          <a:xfrm>
            <a:off x="5943600" y="3886200"/>
            <a:ext cx="1325880" cy="182880"/>
          </a:xfrm>
          <a:prstGeom prst="rect">
            <a:avLst/>
          </a:prstGeom>
          <a:noFill/>
          <a:ln/>
        </p:spPr>
        <p:txBody>
          <a:bodyPr wrap="square" lIns="0" tIns="0" rIns="0" bIns="0" rtlCol="0" anchor="ctr"/>
          <a:lstStyle/>
          <a:p>
            <a:pPr indent="0" marL="0">
              <a:buNone/>
            </a:pPr>
            <a:r>
              <a:rPr lang="en-US" sz="1000" dirty="0">
                <a:solidFill>
                  <a:srgbClr val="666C64"/>
                </a:solidFill>
              </a:rPr>
              <a:t>Net revenue</a:t>
            </a:r>
            <a:endParaRPr lang="en-US" sz="1000" dirty="0"/>
          </a:p>
        </p:txBody>
      </p:sp>
      <p:sp>
        <p:nvSpPr>
          <p:cNvPr id="28" name="Shape 25"/>
          <p:cNvSpPr/>
          <p:nvPr/>
        </p:nvSpPr>
        <p:spPr>
          <a:xfrm>
            <a:off x="7360920" y="3913632"/>
            <a:ext cx="2423160" cy="128016"/>
          </a:xfrm>
          <a:prstGeom prst="rect">
            <a:avLst/>
          </a:prstGeom>
          <a:solidFill>
            <a:srgbClr val="3566E8"/>
          </a:solidFill>
          <a:ln w="12700">
            <a:solidFill>
              <a:srgbClr val="3566E8"/>
            </a:solidFill>
            <a:prstDash val="solid"/>
          </a:ln>
        </p:spPr>
      </p:sp>
      <p:sp>
        <p:nvSpPr>
          <p:cNvPr id="29" name="Text 26"/>
          <p:cNvSpPr/>
          <p:nvPr/>
        </p:nvSpPr>
        <p:spPr>
          <a:xfrm>
            <a:off x="9985248" y="3886200"/>
            <a:ext cx="658368" cy="182880"/>
          </a:xfrm>
          <a:prstGeom prst="rect">
            <a:avLst/>
          </a:prstGeom>
          <a:noFill/>
          <a:ln/>
        </p:spPr>
        <p:txBody>
          <a:bodyPr wrap="square" lIns="0" tIns="0" rIns="0" bIns="0" rtlCol="0" anchor="ctr"/>
          <a:lstStyle/>
          <a:p>
            <a:pPr algn="r" indent="0" marL="0">
              <a:buNone/>
            </a:pPr>
            <a:r>
              <a:rPr lang="en-US" sz="1050" b="1" dirty="0">
                <a:solidFill>
                  <a:srgbClr val="3566E8"/>
                </a:solidFill>
              </a:rPr>
              <a:t>3.0%</a:t>
            </a:r>
            <a:endParaRPr lang="en-US" sz="1050" dirty="0"/>
          </a:p>
        </p:txBody>
      </p:sp>
      <p:sp>
        <p:nvSpPr>
          <p:cNvPr id="30" name="Text 27"/>
          <p:cNvSpPr/>
          <p:nvPr/>
        </p:nvSpPr>
        <p:spPr>
          <a:xfrm>
            <a:off x="5943600" y="4325112"/>
            <a:ext cx="1325880" cy="182880"/>
          </a:xfrm>
          <a:prstGeom prst="rect">
            <a:avLst/>
          </a:prstGeom>
          <a:noFill/>
          <a:ln/>
        </p:spPr>
        <p:txBody>
          <a:bodyPr wrap="square" lIns="0" tIns="0" rIns="0" bIns="0" rtlCol="0" anchor="ctr"/>
          <a:lstStyle/>
          <a:p>
            <a:pPr indent="0" marL="0">
              <a:buNone/>
            </a:pPr>
            <a:r>
              <a:rPr lang="en-US" sz="1000" dirty="0">
                <a:solidFill>
                  <a:srgbClr val="666C64"/>
                </a:solidFill>
              </a:rPr>
              <a:t>Variable cost</a:t>
            </a:r>
            <a:endParaRPr lang="en-US" sz="1000" dirty="0"/>
          </a:p>
        </p:txBody>
      </p:sp>
      <p:sp>
        <p:nvSpPr>
          <p:cNvPr id="31" name="Shape 28"/>
          <p:cNvSpPr/>
          <p:nvPr/>
        </p:nvSpPr>
        <p:spPr>
          <a:xfrm>
            <a:off x="7360920" y="4352544"/>
            <a:ext cx="1371600" cy="128016"/>
          </a:xfrm>
          <a:prstGeom prst="rect">
            <a:avLst/>
          </a:prstGeom>
          <a:solidFill>
            <a:srgbClr val="F26A5D"/>
          </a:solidFill>
          <a:ln w="12700">
            <a:solidFill>
              <a:srgbClr val="F26A5D"/>
            </a:solidFill>
            <a:prstDash val="solid"/>
          </a:ln>
        </p:spPr>
      </p:sp>
      <p:sp>
        <p:nvSpPr>
          <p:cNvPr id="32" name="Text 29"/>
          <p:cNvSpPr/>
          <p:nvPr/>
        </p:nvSpPr>
        <p:spPr>
          <a:xfrm>
            <a:off x="9985248" y="4325112"/>
            <a:ext cx="658368" cy="182880"/>
          </a:xfrm>
          <a:prstGeom prst="rect">
            <a:avLst/>
          </a:prstGeom>
          <a:noFill/>
          <a:ln/>
        </p:spPr>
        <p:txBody>
          <a:bodyPr wrap="square" lIns="0" tIns="0" rIns="0" bIns="0" rtlCol="0" anchor="ctr"/>
          <a:lstStyle/>
          <a:p>
            <a:pPr algn="r" indent="0" marL="0">
              <a:buNone/>
            </a:pPr>
            <a:r>
              <a:rPr lang="en-US" sz="1050" b="1" dirty="0">
                <a:solidFill>
                  <a:srgbClr val="F26A5D"/>
                </a:solidFill>
              </a:rPr>
              <a:t>1.7%</a:t>
            </a:r>
            <a:endParaRPr lang="en-US" sz="1050" dirty="0"/>
          </a:p>
        </p:txBody>
      </p:sp>
      <p:sp>
        <p:nvSpPr>
          <p:cNvPr id="33" name="Text 30"/>
          <p:cNvSpPr/>
          <p:nvPr/>
        </p:nvSpPr>
        <p:spPr>
          <a:xfrm>
            <a:off x="5943600" y="4764024"/>
            <a:ext cx="1325880" cy="182880"/>
          </a:xfrm>
          <a:prstGeom prst="rect">
            <a:avLst/>
          </a:prstGeom>
          <a:noFill/>
          <a:ln/>
        </p:spPr>
        <p:txBody>
          <a:bodyPr wrap="square" lIns="0" tIns="0" rIns="0" bIns="0" rtlCol="0" anchor="ctr"/>
          <a:lstStyle/>
          <a:p>
            <a:pPr indent="0" marL="0">
              <a:buNone/>
            </a:pPr>
            <a:r>
              <a:rPr lang="en-US" sz="1000" dirty="0">
                <a:solidFill>
                  <a:srgbClr val="666C64"/>
                </a:solidFill>
              </a:rPr>
              <a:t>Contribution</a:t>
            </a:r>
            <a:endParaRPr lang="en-US" sz="1000" dirty="0"/>
          </a:p>
        </p:txBody>
      </p:sp>
      <p:sp>
        <p:nvSpPr>
          <p:cNvPr id="34" name="Shape 31"/>
          <p:cNvSpPr/>
          <p:nvPr/>
        </p:nvSpPr>
        <p:spPr>
          <a:xfrm>
            <a:off x="7360920" y="4791456"/>
            <a:ext cx="1051560" cy="128016"/>
          </a:xfrm>
          <a:prstGeom prst="rect">
            <a:avLst/>
          </a:prstGeom>
          <a:solidFill>
            <a:srgbClr val="237346"/>
          </a:solidFill>
          <a:ln w="12700">
            <a:solidFill>
              <a:srgbClr val="237346"/>
            </a:solidFill>
            <a:prstDash val="solid"/>
          </a:ln>
        </p:spPr>
      </p:sp>
      <p:sp>
        <p:nvSpPr>
          <p:cNvPr id="35" name="Text 32"/>
          <p:cNvSpPr/>
          <p:nvPr/>
        </p:nvSpPr>
        <p:spPr>
          <a:xfrm>
            <a:off x="9985248" y="4764024"/>
            <a:ext cx="658368" cy="182880"/>
          </a:xfrm>
          <a:prstGeom prst="rect">
            <a:avLst/>
          </a:prstGeom>
          <a:noFill/>
          <a:ln/>
        </p:spPr>
        <p:txBody>
          <a:bodyPr wrap="square" lIns="0" tIns="0" rIns="0" bIns="0" rtlCol="0" anchor="ctr"/>
          <a:lstStyle/>
          <a:p>
            <a:pPr algn="r" indent="0" marL="0">
              <a:buNone/>
            </a:pPr>
            <a:r>
              <a:rPr lang="en-US" sz="1050" b="1" dirty="0">
                <a:solidFill>
                  <a:srgbClr val="237346"/>
                </a:solidFill>
              </a:rPr>
              <a:t>1.3%</a:t>
            </a:r>
            <a:endParaRPr lang="en-US" sz="1050" dirty="0"/>
          </a:p>
        </p:txBody>
      </p:sp>
      <p:sp>
        <p:nvSpPr>
          <p:cNvPr id="36" name="Shape 33"/>
          <p:cNvSpPr/>
          <p:nvPr/>
        </p:nvSpPr>
        <p:spPr>
          <a:xfrm>
            <a:off x="10716768" y="2843784"/>
            <a:ext cx="621792" cy="2157984"/>
          </a:xfrm>
          <a:prstGeom prst="rect">
            <a:avLst/>
          </a:prstGeom>
          <a:solidFill>
            <a:srgbClr val="EFF9CB"/>
          </a:solidFill>
          <a:ln w="12700">
            <a:solidFill>
              <a:srgbClr val="EFF9CB"/>
            </a:solidFill>
            <a:prstDash val="solid"/>
          </a:ln>
        </p:spPr>
      </p:sp>
      <p:sp>
        <p:nvSpPr>
          <p:cNvPr id="37" name="Text 34"/>
          <p:cNvSpPr/>
          <p:nvPr/>
        </p:nvSpPr>
        <p:spPr>
          <a:xfrm rot="16200000">
            <a:off x="10762488" y="3401568"/>
            <a:ext cx="530352" cy="365760"/>
          </a:xfrm>
          <a:prstGeom prst="rect">
            <a:avLst/>
          </a:prstGeom>
          <a:noFill/>
          <a:ln/>
        </p:spPr>
        <p:txBody>
          <a:bodyPr wrap="square" lIns="0" tIns="0" rIns="0" bIns="0" rtlCol="0" anchor="ctr"/>
          <a:lstStyle/>
          <a:p>
            <a:pPr algn="ctr" indent="0" marL="0">
              <a:buNone/>
            </a:pPr>
            <a:r>
              <a:rPr lang="en-US" sz="1600" b="1" dirty="0">
                <a:solidFill>
                  <a:srgbClr val="668700"/>
                </a:solidFill>
              </a:rPr>
              <a:t>₹7.4L</a:t>
            </a:r>
            <a:endParaRPr lang="en-US" sz="1600" dirty="0"/>
          </a:p>
        </p:txBody>
      </p:sp>
      <p:sp>
        <p:nvSpPr>
          <p:cNvPr id="38" name="Text 35"/>
          <p:cNvSpPr/>
          <p:nvPr/>
        </p:nvSpPr>
        <p:spPr>
          <a:xfrm rot="16200000">
            <a:off x="10762488" y="3803904"/>
            <a:ext cx="530352" cy="502920"/>
          </a:xfrm>
          <a:prstGeom prst="rect">
            <a:avLst/>
          </a:prstGeom>
          <a:noFill/>
          <a:ln/>
        </p:spPr>
        <p:txBody>
          <a:bodyPr wrap="square" lIns="0" tIns="0" rIns="0" bIns="0" rtlCol="0" anchor="ctr"/>
          <a:lstStyle/>
          <a:p>
            <a:pPr algn="ctr" indent="0" marL="0">
              <a:buNone/>
            </a:pPr>
            <a:r>
              <a:rPr lang="en-US" sz="800" b="1" dirty="0">
                <a:solidFill>
                  <a:srgbClr val="668700"/>
                </a:solidFill>
              </a:rPr>
              <a:t>contribution</a:t>
            </a:r>
            <a:endParaRPr lang="en-US" sz="800" dirty="0"/>
          </a:p>
        </p:txBody>
      </p:sp>
      <p:sp>
        <p:nvSpPr>
          <p:cNvPr id="39" name="Shape 36"/>
          <p:cNvSpPr/>
          <p:nvPr/>
        </p:nvSpPr>
        <p:spPr>
          <a:xfrm>
            <a:off x="594360" y="5742432"/>
            <a:ext cx="11018520" cy="365760"/>
          </a:xfrm>
          <a:prstGeom prst="rect">
            <a:avLst/>
          </a:prstGeom>
          <a:solidFill>
            <a:srgbClr val="FFF5D9"/>
          </a:solidFill>
          <a:ln w="12700">
            <a:solidFill>
              <a:srgbClr val="FFF5D9"/>
            </a:solidFill>
            <a:prstDash val="solid"/>
          </a:ln>
        </p:spPr>
      </p:sp>
      <p:sp>
        <p:nvSpPr>
          <p:cNvPr id="40" name="Text 37"/>
          <p:cNvSpPr/>
          <p:nvPr/>
        </p:nvSpPr>
        <p:spPr>
          <a:xfrm>
            <a:off x="822960" y="5843016"/>
            <a:ext cx="10561320" cy="164592"/>
          </a:xfrm>
          <a:prstGeom prst="rect">
            <a:avLst/>
          </a:prstGeom>
          <a:noFill/>
          <a:ln/>
        </p:spPr>
        <p:txBody>
          <a:bodyPr wrap="square" lIns="0" tIns="0" rIns="0" bIns="0" rtlCol="0" anchor="ctr"/>
          <a:lstStyle/>
          <a:p>
            <a:pPr algn="ctr" indent="0" marL="0">
              <a:buNone/>
            </a:pPr>
            <a:r>
              <a:rPr lang="en-US" sz="880" b="1" dirty="0">
                <a:solidFill>
                  <a:srgbClr val="8A5C00"/>
                </a:solidFill>
              </a:rPr>
              <a:t>Illustrative assumptions, not a forecast. Expansion gate = repeat contribution after refunds, incentives, fraud, and expected credit loss.</a:t>
            </a:r>
            <a:endParaRPr lang="en-US" sz="8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MEASUREMENT</a:t>
            </a:r>
            <a:endParaRPr lang="en-US" sz="850" dirty="0"/>
          </a:p>
        </p:txBody>
      </p:sp>
      <p:sp>
        <p:nvSpPr>
          <p:cNvPr id="6" name="Text 4"/>
          <p:cNvSpPr/>
          <p:nvPr/>
        </p:nvSpPr>
        <p:spPr>
          <a:xfrm>
            <a:off x="566928" y="1033272"/>
            <a:ext cx="8046720" cy="530352"/>
          </a:xfrm>
          <a:prstGeom prst="rect">
            <a:avLst/>
          </a:prstGeom>
          <a:noFill/>
          <a:ln/>
        </p:spPr>
        <p:txBody>
          <a:bodyPr wrap="square" lIns="0" tIns="0" rIns="0" bIns="0" rtlCol="0" anchor="ctr">
            <a:normAutofit/>
          </a:bodyPr>
          <a:lstStyle/>
          <a:p>
            <a:pPr indent="0" marL="0">
              <a:buNone/>
            </a:pPr>
            <a:r>
              <a:rPr lang="en-US" sz="2700" b="1" dirty="0">
                <a:solidFill>
                  <a:srgbClr val="171817"/>
                </a:solidFill>
              </a:rPr>
              <a:t>A metric tree that protects growth from credit and incentive leakage.</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The North Star only moves when conversion, repayment, and unit economics improve together.</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AFFORDABLE COMMERCE CONCEPT</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09</a:t>
            </a:r>
            <a:endParaRPr lang="en-US" sz="800" dirty="0"/>
          </a:p>
        </p:txBody>
      </p:sp>
      <p:sp>
        <p:nvSpPr>
          <p:cNvPr id="12" name="Shape 9"/>
          <p:cNvSpPr/>
          <p:nvPr/>
        </p:nvSpPr>
        <p:spPr>
          <a:xfrm>
            <a:off x="594360" y="2185416"/>
            <a:ext cx="11018520" cy="731520"/>
          </a:xfrm>
          <a:prstGeom prst="rect">
            <a:avLst/>
          </a:prstGeom>
          <a:solidFill>
            <a:srgbClr val="171817"/>
          </a:solidFill>
          <a:ln w="12700">
            <a:solidFill>
              <a:srgbClr val="171817"/>
            </a:solidFill>
            <a:prstDash val="solid"/>
          </a:ln>
        </p:spPr>
      </p:sp>
      <p:sp>
        <p:nvSpPr>
          <p:cNvPr id="13" name="Text 10"/>
          <p:cNvSpPr/>
          <p:nvPr/>
        </p:nvSpPr>
        <p:spPr>
          <a:xfrm>
            <a:off x="896112" y="2441448"/>
            <a:ext cx="1005840" cy="164592"/>
          </a:xfrm>
          <a:prstGeom prst="rect">
            <a:avLst/>
          </a:prstGeom>
          <a:noFill/>
          <a:ln/>
        </p:spPr>
        <p:txBody>
          <a:bodyPr wrap="square" lIns="0" tIns="0" rIns="0" bIns="0" rtlCol="0" anchor="ctr"/>
          <a:lstStyle/>
          <a:p>
            <a:pPr indent="0" marL="0">
              <a:buNone/>
            </a:pPr>
            <a:r>
              <a:rPr lang="en-US" sz="800" b="1" spc="140" kern="0" dirty="0">
                <a:solidFill>
                  <a:srgbClr val="C9F044"/>
                </a:solidFill>
              </a:rPr>
              <a:t>NORTH STAR</a:t>
            </a:r>
            <a:endParaRPr lang="en-US" sz="800" dirty="0"/>
          </a:p>
        </p:txBody>
      </p:sp>
      <p:sp>
        <p:nvSpPr>
          <p:cNvPr id="14" name="Text 11"/>
          <p:cNvSpPr/>
          <p:nvPr/>
        </p:nvSpPr>
        <p:spPr>
          <a:xfrm>
            <a:off x="2066544" y="2340864"/>
            <a:ext cx="7772400" cy="274320"/>
          </a:xfrm>
          <a:prstGeom prst="rect">
            <a:avLst/>
          </a:prstGeom>
          <a:noFill/>
          <a:ln/>
        </p:spPr>
        <p:txBody>
          <a:bodyPr wrap="square" lIns="0" tIns="0" rIns="0" bIns="0" rtlCol="0" anchor="ctr"/>
          <a:lstStyle/>
          <a:p>
            <a:pPr indent="0" marL="0">
              <a:buNone/>
            </a:pPr>
            <a:r>
              <a:rPr lang="en-US" sz="1850" b="1" dirty="0">
                <a:solidFill>
                  <a:srgbClr val="FFFFFF"/>
                </a:solidFill>
              </a:rPr>
              <a:t>Contribution-positive financed GMV from repeat users</a:t>
            </a:r>
            <a:endParaRPr lang="en-US" sz="1850" dirty="0"/>
          </a:p>
        </p:txBody>
      </p:sp>
      <p:sp>
        <p:nvSpPr>
          <p:cNvPr id="15" name="Shape 12"/>
          <p:cNvSpPr/>
          <p:nvPr/>
        </p:nvSpPr>
        <p:spPr>
          <a:xfrm>
            <a:off x="594360" y="3182112"/>
            <a:ext cx="3401568" cy="1417320"/>
          </a:xfrm>
          <a:prstGeom prst="rect">
            <a:avLst/>
          </a:prstGeom>
          <a:solidFill>
            <a:srgbClr val="E8EDFF"/>
          </a:solidFill>
          <a:ln w="12700">
            <a:solidFill>
              <a:srgbClr val="E8EDFF"/>
            </a:solidFill>
            <a:prstDash val="solid"/>
          </a:ln>
        </p:spPr>
      </p:sp>
      <p:sp>
        <p:nvSpPr>
          <p:cNvPr id="16" name="Text 13"/>
          <p:cNvSpPr/>
          <p:nvPr/>
        </p:nvSpPr>
        <p:spPr>
          <a:xfrm>
            <a:off x="822960" y="3438144"/>
            <a:ext cx="1371600" cy="164592"/>
          </a:xfrm>
          <a:prstGeom prst="rect">
            <a:avLst/>
          </a:prstGeom>
          <a:noFill/>
          <a:ln/>
        </p:spPr>
        <p:txBody>
          <a:bodyPr wrap="square" lIns="0" tIns="0" rIns="0" bIns="0" rtlCol="0" anchor="ctr"/>
          <a:lstStyle/>
          <a:p>
            <a:pPr indent="0" marL="0">
              <a:buNone/>
            </a:pPr>
            <a:r>
              <a:rPr lang="en-US" sz="750" b="1" spc="130" kern="0" dirty="0">
                <a:solidFill>
                  <a:srgbClr val="3566E8"/>
                </a:solidFill>
              </a:rPr>
              <a:t>GROWTH</a:t>
            </a:r>
            <a:endParaRPr lang="en-US" sz="750" dirty="0"/>
          </a:p>
        </p:txBody>
      </p:sp>
      <p:sp>
        <p:nvSpPr>
          <p:cNvPr id="17" name="Text 14"/>
          <p:cNvSpPr/>
          <p:nvPr/>
        </p:nvSpPr>
        <p:spPr>
          <a:xfrm>
            <a:off x="832104" y="3749040"/>
            <a:ext cx="2743200" cy="612648"/>
          </a:xfrm>
          <a:prstGeom prst="rect">
            <a:avLst/>
          </a:prstGeom>
          <a:noFill/>
          <a:ln/>
        </p:spPr>
        <p:txBody>
          <a:bodyPr wrap="square" lIns="0" tIns="0" rIns="0" bIns="0" rtlCol="0" anchor="t">
            <a:normAutofit/>
          </a:bodyPr>
          <a:lstStyle/>
          <a:p>
            <a:pPr marL="165100" indent="-165100">
              <a:buSzPct val="100000"/>
              <a:buChar char="•"/>
            </a:pPr>
            <a:r>
              <a:rPr lang="en-US" sz="1050" dirty="0">
                <a:solidFill>
                  <a:srgbClr val="171817"/>
                </a:solidFill>
              </a:rPr>
              <a:t>Eligible-user activation</a:t>
            </a:r>
            <a:endParaRPr lang="en-US" sz="1050" dirty="0"/>
          </a:p>
          <a:p>
            <a:pPr marL="165100" indent="-165100">
              <a:buSzPct val="100000"/>
              <a:buChar char="•"/>
            </a:pPr>
            <a:r>
              <a:rPr lang="en-US" sz="1050" dirty="0">
                <a:solidFill>
                  <a:srgbClr val="171817"/>
                </a:solidFill>
              </a:rPr>
              <a:t>Checkout completion</a:t>
            </a:r>
            <a:endParaRPr lang="en-US" sz="1050" dirty="0"/>
          </a:p>
          <a:p>
            <a:pPr marL="165100" indent="-165100">
              <a:buSzPct val="100000"/>
              <a:buChar char="•"/>
            </a:pPr>
            <a:r>
              <a:rPr lang="en-US" sz="1050" dirty="0">
                <a:solidFill>
                  <a:srgbClr val="171817"/>
                </a:solidFill>
              </a:rPr>
              <a:t>AOV + 60-day repeat</a:t>
            </a:r>
            <a:endParaRPr lang="en-US" sz="1050" dirty="0"/>
          </a:p>
        </p:txBody>
      </p:sp>
      <p:sp>
        <p:nvSpPr>
          <p:cNvPr id="18" name="Shape 15"/>
          <p:cNvSpPr/>
          <p:nvPr/>
        </p:nvSpPr>
        <p:spPr>
          <a:xfrm>
            <a:off x="4389120" y="3182112"/>
            <a:ext cx="3401568" cy="1417320"/>
          </a:xfrm>
          <a:prstGeom prst="rect">
            <a:avLst/>
          </a:prstGeom>
          <a:solidFill>
            <a:srgbClr val="DFF4E5"/>
          </a:solidFill>
          <a:ln w="12700">
            <a:solidFill>
              <a:srgbClr val="DFF4E5"/>
            </a:solidFill>
            <a:prstDash val="solid"/>
          </a:ln>
        </p:spPr>
      </p:sp>
      <p:sp>
        <p:nvSpPr>
          <p:cNvPr id="19" name="Text 16"/>
          <p:cNvSpPr/>
          <p:nvPr/>
        </p:nvSpPr>
        <p:spPr>
          <a:xfrm>
            <a:off x="4617720" y="3438144"/>
            <a:ext cx="1371600" cy="164592"/>
          </a:xfrm>
          <a:prstGeom prst="rect">
            <a:avLst/>
          </a:prstGeom>
          <a:noFill/>
          <a:ln/>
        </p:spPr>
        <p:txBody>
          <a:bodyPr wrap="square" lIns="0" tIns="0" rIns="0" bIns="0" rtlCol="0" anchor="ctr"/>
          <a:lstStyle/>
          <a:p>
            <a:pPr indent="0" marL="0">
              <a:buNone/>
            </a:pPr>
            <a:r>
              <a:rPr lang="en-US" sz="750" b="1" spc="130" kern="0" dirty="0">
                <a:solidFill>
                  <a:srgbClr val="237346"/>
                </a:solidFill>
              </a:rPr>
              <a:t>CREDIT</a:t>
            </a:r>
            <a:endParaRPr lang="en-US" sz="750" dirty="0"/>
          </a:p>
        </p:txBody>
      </p:sp>
      <p:sp>
        <p:nvSpPr>
          <p:cNvPr id="20" name="Text 17"/>
          <p:cNvSpPr/>
          <p:nvPr/>
        </p:nvSpPr>
        <p:spPr>
          <a:xfrm>
            <a:off x="4626864" y="3749040"/>
            <a:ext cx="2743200" cy="612648"/>
          </a:xfrm>
          <a:prstGeom prst="rect">
            <a:avLst/>
          </a:prstGeom>
          <a:noFill/>
          <a:ln/>
        </p:spPr>
        <p:txBody>
          <a:bodyPr wrap="square" lIns="0" tIns="0" rIns="0" bIns="0" rtlCol="0" anchor="t">
            <a:normAutofit/>
          </a:bodyPr>
          <a:lstStyle/>
          <a:p>
            <a:pPr marL="165100" indent="-165100">
              <a:buSzPct val="100000"/>
              <a:buChar char="•"/>
            </a:pPr>
            <a:r>
              <a:rPr lang="en-US" sz="1050" dirty="0">
                <a:solidFill>
                  <a:srgbClr val="171817"/>
                </a:solidFill>
              </a:rPr>
              <a:t>Mandate success</a:t>
            </a:r>
            <a:endParaRPr lang="en-US" sz="1050" dirty="0"/>
          </a:p>
          <a:p>
            <a:pPr marL="165100" indent="-165100">
              <a:buSzPct val="100000"/>
              <a:buChar char="•"/>
            </a:pPr>
            <a:r>
              <a:rPr lang="en-US" sz="1050" dirty="0">
                <a:solidFill>
                  <a:srgbClr val="171817"/>
                </a:solidFill>
              </a:rPr>
              <a:t>7+ / 30+ DPD</a:t>
            </a:r>
            <a:endParaRPr lang="en-US" sz="1050" dirty="0"/>
          </a:p>
          <a:p>
            <a:pPr marL="165100" indent="-165100">
              <a:buSzPct val="100000"/>
              <a:buChar char="•"/>
            </a:pPr>
            <a:r>
              <a:rPr lang="en-US" sz="1050" dirty="0">
                <a:solidFill>
                  <a:srgbClr val="171817"/>
                </a:solidFill>
              </a:rPr>
              <a:t>Expected loss by cohort</a:t>
            </a:r>
            <a:endParaRPr lang="en-US" sz="1050" dirty="0"/>
          </a:p>
        </p:txBody>
      </p:sp>
      <p:sp>
        <p:nvSpPr>
          <p:cNvPr id="21" name="Shape 18"/>
          <p:cNvSpPr/>
          <p:nvPr/>
        </p:nvSpPr>
        <p:spPr>
          <a:xfrm>
            <a:off x="8183880" y="3182112"/>
            <a:ext cx="3401568" cy="1417320"/>
          </a:xfrm>
          <a:prstGeom prst="rect">
            <a:avLst/>
          </a:prstGeom>
          <a:solidFill>
            <a:srgbClr val="FFEBE8"/>
          </a:solidFill>
          <a:ln w="12700">
            <a:solidFill>
              <a:srgbClr val="FFEBE8"/>
            </a:solidFill>
            <a:prstDash val="solid"/>
          </a:ln>
        </p:spPr>
      </p:sp>
      <p:sp>
        <p:nvSpPr>
          <p:cNvPr id="22" name="Text 19"/>
          <p:cNvSpPr/>
          <p:nvPr/>
        </p:nvSpPr>
        <p:spPr>
          <a:xfrm>
            <a:off x="8412480" y="3438144"/>
            <a:ext cx="1371600" cy="164592"/>
          </a:xfrm>
          <a:prstGeom prst="rect">
            <a:avLst/>
          </a:prstGeom>
          <a:noFill/>
          <a:ln/>
        </p:spPr>
        <p:txBody>
          <a:bodyPr wrap="square" lIns="0" tIns="0" rIns="0" bIns="0" rtlCol="0" anchor="ctr"/>
          <a:lstStyle/>
          <a:p>
            <a:pPr indent="0" marL="0">
              <a:buNone/>
            </a:pPr>
            <a:r>
              <a:rPr lang="en-US" sz="750" b="1" spc="130" kern="0" dirty="0">
                <a:solidFill>
                  <a:srgbClr val="F26A5D"/>
                </a:solidFill>
              </a:rPr>
              <a:t>ECONOMICS</a:t>
            </a:r>
            <a:endParaRPr lang="en-US" sz="750" dirty="0"/>
          </a:p>
        </p:txBody>
      </p:sp>
      <p:sp>
        <p:nvSpPr>
          <p:cNvPr id="23" name="Text 20"/>
          <p:cNvSpPr/>
          <p:nvPr/>
        </p:nvSpPr>
        <p:spPr>
          <a:xfrm>
            <a:off x="8421624" y="3749040"/>
            <a:ext cx="2743200" cy="612648"/>
          </a:xfrm>
          <a:prstGeom prst="rect">
            <a:avLst/>
          </a:prstGeom>
          <a:noFill/>
          <a:ln/>
        </p:spPr>
        <p:txBody>
          <a:bodyPr wrap="square" lIns="0" tIns="0" rIns="0" bIns="0" rtlCol="0" anchor="t">
            <a:normAutofit/>
          </a:bodyPr>
          <a:lstStyle/>
          <a:p>
            <a:pPr marL="165100" indent="-165100">
              <a:buSzPct val="100000"/>
              <a:buChar char="•"/>
            </a:pPr>
            <a:r>
              <a:rPr lang="en-US" sz="1050" dirty="0">
                <a:solidFill>
                  <a:srgbClr val="171817"/>
                </a:solidFill>
              </a:rPr>
              <a:t>Contribution / order</a:t>
            </a:r>
            <a:endParaRPr lang="en-US" sz="1050" dirty="0"/>
          </a:p>
          <a:p>
            <a:pPr marL="165100" indent="-165100">
              <a:buSzPct val="100000"/>
              <a:buChar char="•"/>
            </a:pPr>
            <a:r>
              <a:rPr lang="en-US" sz="1050" dirty="0">
                <a:solidFill>
                  <a:srgbClr val="171817"/>
                </a:solidFill>
              </a:rPr>
              <a:t>Refund-adjusted GMV</a:t>
            </a:r>
            <a:endParaRPr lang="en-US" sz="1050" dirty="0"/>
          </a:p>
          <a:p>
            <a:pPr marL="165100" indent="-165100">
              <a:buSzPct val="100000"/>
              <a:buChar char="•"/>
            </a:pPr>
            <a:r>
              <a:rPr lang="en-US" sz="1050" dirty="0">
                <a:solidFill>
                  <a:srgbClr val="171817"/>
                </a:solidFill>
              </a:rPr>
              <a:t>Offer + support cost</a:t>
            </a:r>
            <a:endParaRPr lang="en-US" sz="1050" dirty="0"/>
          </a:p>
        </p:txBody>
      </p:sp>
      <p:sp>
        <p:nvSpPr>
          <p:cNvPr id="24" name="Text 21"/>
          <p:cNvSpPr/>
          <p:nvPr/>
        </p:nvSpPr>
        <p:spPr>
          <a:xfrm>
            <a:off x="594360" y="4882896"/>
            <a:ext cx="3017520" cy="164592"/>
          </a:xfrm>
          <a:prstGeom prst="rect">
            <a:avLst/>
          </a:prstGeom>
          <a:noFill/>
          <a:ln/>
        </p:spPr>
        <p:txBody>
          <a:bodyPr wrap="square" lIns="0" tIns="0" rIns="0" bIns="0" rtlCol="0" anchor="ctr"/>
          <a:lstStyle/>
          <a:p>
            <a:pPr indent="0" marL="0">
              <a:buNone/>
            </a:pPr>
            <a:r>
              <a:rPr lang="en-US" sz="750" b="1" spc="130" kern="0" dirty="0">
                <a:solidFill>
                  <a:srgbClr val="666C64"/>
                </a:solidFill>
              </a:rPr>
              <a:t>FIRST CONTROLLED EXPERIMENTS</a:t>
            </a:r>
            <a:endParaRPr lang="en-US" sz="750" dirty="0"/>
          </a:p>
        </p:txBody>
      </p:sp>
      <p:sp>
        <p:nvSpPr>
          <p:cNvPr id="25" name="Shape 22"/>
          <p:cNvSpPr/>
          <p:nvPr/>
        </p:nvSpPr>
        <p:spPr>
          <a:xfrm>
            <a:off x="594360" y="5230368"/>
            <a:ext cx="2450592" cy="566928"/>
          </a:xfrm>
          <a:prstGeom prst="roundRect">
            <a:avLst>
              <a:gd name="adj" fmla="val 8065"/>
            </a:avLst>
          </a:prstGeom>
          <a:solidFill>
            <a:srgbClr val="FFFFFF"/>
          </a:solidFill>
          <a:ln w="12700">
            <a:solidFill>
              <a:srgbClr val="DFE2DB"/>
            </a:solidFill>
            <a:prstDash val="solid"/>
          </a:ln>
        </p:spPr>
      </p:sp>
      <p:sp>
        <p:nvSpPr>
          <p:cNvPr id="26" name="Text 23"/>
          <p:cNvSpPr/>
          <p:nvPr/>
        </p:nvSpPr>
        <p:spPr>
          <a:xfrm>
            <a:off x="758952" y="5413248"/>
            <a:ext cx="2103120" cy="182880"/>
          </a:xfrm>
          <a:prstGeom prst="rect">
            <a:avLst/>
          </a:prstGeom>
          <a:noFill/>
          <a:ln/>
        </p:spPr>
        <p:txBody>
          <a:bodyPr wrap="square" lIns="0" tIns="0" rIns="0" bIns="0" rtlCol="0" anchor="ctr">
            <a:normAutofit/>
          </a:bodyPr>
          <a:lstStyle/>
          <a:p>
            <a:pPr algn="ctr" indent="0" marL="0">
              <a:buNone/>
            </a:pPr>
            <a:r>
              <a:rPr lang="en-US" sz="1050" b="1" dirty="0">
                <a:solidFill>
                  <a:srgbClr val="171817"/>
                </a:solidFill>
              </a:rPr>
              <a:t>1. Upfront label</a:t>
            </a:r>
            <a:endParaRPr lang="en-US" sz="1050" dirty="0"/>
          </a:p>
        </p:txBody>
      </p:sp>
      <p:sp>
        <p:nvSpPr>
          <p:cNvPr id="27" name="Shape 24"/>
          <p:cNvSpPr/>
          <p:nvPr/>
        </p:nvSpPr>
        <p:spPr>
          <a:xfrm>
            <a:off x="3355848" y="5230368"/>
            <a:ext cx="2450592" cy="566928"/>
          </a:xfrm>
          <a:prstGeom prst="roundRect">
            <a:avLst>
              <a:gd name="adj" fmla="val 8065"/>
            </a:avLst>
          </a:prstGeom>
          <a:solidFill>
            <a:srgbClr val="FFFFFF"/>
          </a:solidFill>
          <a:ln w="12700">
            <a:solidFill>
              <a:srgbClr val="DFE2DB"/>
            </a:solidFill>
            <a:prstDash val="solid"/>
          </a:ln>
        </p:spPr>
      </p:sp>
      <p:sp>
        <p:nvSpPr>
          <p:cNvPr id="28" name="Text 25"/>
          <p:cNvSpPr/>
          <p:nvPr/>
        </p:nvSpPr>
        <p:spPr>
          <a:xfrm>
            <a:off x="3520440" y="5413248"/>
            <a:ext cx="2103120" cy="182880"/>
          </a:xfrm>
          <a:prstGeom prst="rect">
            <a:avLst/>
          </a:prstGeom>
          <a:noFill/>
          <a:ln/>
        </p:spPr>
        <p:txBody>
          <a:bodyPr wrap="square" lIns="0" tIns="0" rIns="0" bIns="0" rtlCol="0" anchor="ctr">
            <a:normAutofit/>
          </a:bodyPr>
          <a:lstStyle/>
          <a:p>
            <a:pPr algn="ctr" indent="0" marL="0">
              <a:buNone/>
            </a:pPr>
            <a:r>
              <a:rPr lang="en-US" sz="1050" b="1" dirty="0">
                <a:solidFill>
                  <a:srgbClr val="171817"/>
                </a:solidFill>
              </a:rPr>
              <a:t>2. Down payment</a:t>
            </a:r>
            <a:endParaRPr lang="en-US" sz="1050" dirty="0"/>
          </a:p>
        </p:txBody>
      </p:sp>
      <p:sp>
        <p:nvSpPr>
          <p:cNvPr id="29" name="Shape 26"/>
          <p:cNvSpPr/>
          <p:nvPr/>
        </p:nvSpPr>
        <p:spPr>
          <a:xfrm>
            <a:off x="6117336" y="5230368"/>
            <a:ext cx="2450592" cy="566928"/>
          </a:xfrm>
          <a:prstGeom prst="roundRect">
            <a:avLst>
              <a:gd name="adj" fmla="val 8065"/>
            </a:avLst>
          </a:prstGeom>
          <a:solidFill>
            <a:srgbClr val="FFFFFF"/>
          </a:solidFill>
          <a:ln w="12700">
            <a:solidFill>
              <a:srgbClr val="DFE2DB"/>
            </a:solidFill>
            <a:prstDash val="solid"/>
          </a:ln>
        </p:spPr>
      </p:sp>
      <p:sp>
        <p:nvSpPr>
          <p:cNvPr id="30" name="Text 27"/>
          <p:cNvSpPr/>
          <p:nvPr/>
        </p:nvSpPr>
        <p:spPr>
          <a:xfrm>
            <a:off x="6281928" y="5413248"/>
            <a:ext cx="2103120" cy="182880"/>
          </a:xfrm>
          <a:prstGeom prst="rect">
            <a:avLst/>
          </a:prstGeom>
          <a:noFill/>
          <a:ln/>
        </p:spPr>
        <p:txBody>
          <a:bodyPr wrap="square" lIns="0" tIns="0" rIns="0" bIns="0" rtlCol="0" anchor="ctr">
            <a:normAutofit/>
          </a:bodyPr>
          <a:lstStyle/>
          <a:p>
            <a:pPr algn="ctr" indent="0" marL="0">
              <a:buNone/>
            </a:pPr>
            <a:r>
              <a:rPr lang="en-US" sz="1050" b="1" dirty="0">
                <a:solidFill>
                  <a:srgbClr val="171817"/>
                </a:solidFill>
              </a:rPr>
              <a:t>3. Seller subvention</a:t>
            </a:r>
            <a:endParaRPr lang="en-US" sz="1050" dirty="0"/>
          </a:p>
        </p:txBody>
      </p:sp>
      <p:sp>
        <p:nvSpPr>
          <p:cNvPr id="31" name="Shape 28"/>
          <p:cNvSpPr/>
          <p:nvPr/>
        </p:nvSpPr>
        <p:spPr>
          <a:xfrm>
            <a:off x="8878824" y="5230368"/>
            <a:ext cx="2450592" cy="566928"/>
          </a:xfrm>
          <a:prstGeom prst="roundRect">
            <a:avLst>
              <a:gd name="adj" fmla="val 8065"/>
            </a:avLst>
          </a:prstGeom>
          <a:solidFill>
            <a:srgbClr val="FFFFFF"/>
          </a:solidFill>
          <a:ln w="12700">
            <a:solidFill>
              <a:srgbClr val="DFE2DB"/>
            </a:solidFill>
            <a:prstDash val="solid"/>
          </a:ln>
        </p:spPr>
      </p:sp>
      <p:sp>
        <p:nvSpPr>
          <p:cNvPr id="32" name="Text 29"/>
          <p:cNvSpPr/>
          <p:nvPr/>
        </p:nvSpPr>
        <p:spPr>
          <a:xfrm>
            <a:off x="9043416" y="5413248"/>
            <a:ext cx="2103120" cy="182880"/>
          </a:xfrm>
          <a:prstGeom prst="rect">
            <a:avLst/>
          </a:prstGeom>
          <a:noFill/>
          <a:ln/>
        </p:spPr>
        <p:txBody>
          <a:bodyPr wrap="square" lIns="0" tIns="0" rIns="0" bIns="0" rtlCol="0" anchor="ctr">
            <a:normAutofit/>
          </a:bodyPr>
          <a:lstStyle/>
          <a:p>
            <a:pPr algn="ctr" indent="0" marL="0">
              <a:buNone/>
            </a:pPr>
            <a:r>
              <a:rPr lang="en-US" sz="1050" b="1" dirty="0">
                <a:solidFill>
                  <a:srgbClr val="171817"/>
                </a:solidFill>
              </a:rPr>
              <a:t>4. Repayment reminder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90-DAY MVP</a:t>
            </a:r>
            <a:endParaRPr lang="en-US" sz="850" dirty="0"/>
          </a:p>
        </p:txBody>
      </p:sp>
      <p:sp>
        <p:nvSpPr>
          <p:cNvPr id="6" name="Text 4"/>
          <p:cNvSpPr/>
          <p:nvPr/>
        </p:nvSpPr>
        <p:spPr>
          <a:xfrm>
            <a:off x="566928" y="1033272"/>
            <a:ext cx="8046720" cy="530352"/>
          </a:xfrm>
          <a:prstGeom prst="rect">
            <a:avLst/>
          </a:prstGeom>
          <a:noFill/>
          <a:ln/>
        </p:spPr>
        <p:txBody>
          <a:bodyPr wrap="square" lIns="0" tIns="0" rIns="0" bIns="0" rtlCol="0" anchor="ctr">
            <a:normAutofit/>
          </a:bodyPr>
          <a:lstStyle/>
          <a:p>
            <a:pPr indent="0" marL="0">
              <a:buNone/>
            </a:pPr>
            <a:r>
              <a:rPr lang="en-US" sz="2700" b="1" dirty="0">
                <a:solidFill>
                  <a:srgbClr val="171817"/>
                </a:solidFill>
              </a:rPr>
              <a:t>Build one closed loop before adding catalogue breadth.</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Launch with three categories, eligible users, one core BNPL plan, and a full-UPI fallback.</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AFFORDABLE COMMERCE CONCEPT</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10</a:t>
            </a:r>
            <a:endParaRPr lang="en-US" sz="800" dirty="0"/>
          </a:p>
        </p:txBody>
      </p:sp>
      <p:sp>
        <p:nvSpPr>
          <p:cNvPr id="12" name="Shape 9"/>
          <p:cNvSpPr/>
          <p:nvPr/>
        </p:nvSpPr>
        <p:spPr>
          <a:xfrm>
            <a:off x="594360" y="2286000"/>
            <a:ext cx="2450592" cy="2953512"/>
          </a:xfrm>
          <a:prstGeom prst="rect">
            <a:avLst/>
          </a:prstGeom>
          <a:solidFill>
            <a:srgbClr val="E8EDFF"/>
          </a:solidFill>
          <a:ln w="12700">
            <a:solidFill>
              <a:srgbClr val="E8EDFF"/>
            </a:solidFill>
            <a:prstDash val="solid"/>
          </a:ln>
        </p:spPr>
      </p:sp>
      <p:sp>
        <p:nvSpPr>
          <p:cNvPr id="13" name="Text 10"/>
          <p:cNvSpPr/>
          <p:nvPr/>
        </p:nvSpPr>
        <p:spPr>
          <a:xfrm>
            <a:off x="795528" y="2551176"/>
            <a:ext cx="1143000" cy="182880"/>
          </a:xfrm>
          <a:prstGeom prst="rect">
            <a:avLst/>
          </a:prstGeom>
          <a:noFill/>
          <a:ln/>
        </p:spPr>
        <p:txBody>
          <a:bodyPr wrap="square" lIns="0" tIns="0" rIns="0" bIns="0" rtlCol="0" anchor="ctr"/>
          <a:lstStyle/>
          <a:p>
            <a:pPr indent="0" marL="0">
              <a:buNone/>
            </a:pPr>
            <a:r>
              <a:rPr lang="en-US" sz="800" b="1" spc="120" kern="0" dirty="0">
                <a:solidFill>
                  <a:srgbClr val="3566E8"/>
                </a:solidFill>
              </a:rPr>
              <a:t>DAYS 0-15</a:t>
            </a:r>
            <a:endParaRPr lang="en-US" sz="800" dirty="0"/>
          </a:p>
        </p:txBody>
      </p:sp>
      <p:sp>
        <p:nvSpPr>
          <p:cNvPr id="14" name="Text 11"/>
          <p:cNvSpPr/>
          <p:nvPr/>
        </p:nvSpPr>
        <p:spPr>
          <a:xfrm>
            <a:off x="795528" y="2944368"/>
            <a:ext cx="2048256" cy="457200"/>
          </a:xfrm>
          <a:prstGeom prst="rect">
            <a:avLst/>
          </a:prstGeom>
          <a:noFill/>
          <a:ln/>
        </p:spPr>
        <p:txBody>
          <a:bodyPr wrap="square" lIns="0" tIns="0" rIns="0" bIns="0" rtlCol="0" anchor="ctr">
            <a:normAutofit/>
          </a:bodyPr>
          <a:lstStyle/>
          <a:p>
            <a:pPr indent="0" marL="0">
              <a:buNone/>
            </a:pPr>
            <a:r>
              <a:rPr lang="en-US" sz="1700" b="1" dirty="0">
                <a:solidFill>
                  <a:srgbClr val="171817"/>
                </a:solidFill>
              </a:rPr>
              <a:t>Define constraints</a:t>
            </a:r>
            <a:endParaRPr lang="en-US" sz="1700" dirty="0"/>
          </a:p>
        </p:txBody>
      </p:sp>
      <p:sp>
        <p:nvSpPr>
          <p:cNvPr id="15" name="Text 12"/>
          <p:cNvSpPr/>
          <p:nvPr/>
        </p:nvSpPr>
        <p:spPr>
          <a:xfrm>
            <a:off x="813816" y="3675888"/>
            <a:ext cx="1920240" cy="987552"/>
          </a:xfrm>
          <a:prstGeom prst="rect">
            <a:avLst/>
          </a:prstGeom>
          <a:noFill/>
          <a:ln/>
        </p:spPr>
        <p:txBody>
          <a:bodyPr wrap="square" lIns="0" tIns="0" rIns="0" bIns="0" rtlCol="0" anchor="t">
            <a:normAutofit/>
          </a:bodyPr>
          <a:lstStyle/>
          <a:p>
            <a:pPr marL="165100" indent="-165100">
              <a:buSzPct val="100000"/>
              <a:buChar char="•"/>
            </a:pPr>
            <a:r>
              <a:rPr lang="en-US" sz="1000" dirty="0">
                <a:solidFill>
                  <a:srgbClr val="171817"/>
                </a:solidFill>
              </a:rPr>
              <a:t>User + seller research</a:t>
            </a:r>
            <a:endParaRPr lang="en-US" sz="1000" dirty="0"/>
          </a:p>
          <a:p>
            <a:pPr marL="165100" indent="-165100">
              <a:buSzPct val="100000"/>
              <a:buChar char="•"/>
            </a:pPr>
            <a:r>
              <a:rPr lang="en-US" sz="1000" dirty="0">
                <a:solidFill>
                  <a:srgbClr val="171817"/>
                </a:solidFill>
              </a:rPr>
              <a:t>Lender / compliance map</a:t>
            </a:r>
            <a:endParaRPr lang="en-US" sz="1000" dirty="0"/>
          </a:p>
          <a:p>
            <a:pPr marL="165100" indent="-165100">
              <a:buSzPct val="100000"/>
              <a:buChar char="•"/>
            </a:pPr>
            <a:r>
              <a:rPr lang="en-US" sz="1000" dirty="0">
                <a:solidFill>
                  <a:srgbClr val="171817"/>
                </a:solidFill>
              </a:rPr>
              <a:t>Category + risk rules</a:t>
            </a:r>
            <a:endParaRPr lang="en-US" sz="1000" dirty="0"/>
          </a:p>
        </p:txBody>
      </p:sp>
      <p:sp>
        <p:nvSpPr>
          <p:cNvPr id="16" name="Shape 13"/>
          <p:cNvSpPr/>
          <p:nvPr/>
        </p:nvSpPr>
        <p:spPr>
          <a:xfrm>
            <a:off x="2633472" y="2478024"/>
            <a:ext cx="219456" cy="219456"/>
          </a:xfrm>
          <a:prstGeom prst="ellipse">
            <a:avLst/>
          </a:prstGeom>
          <a:solidFill>
            <a:srgbClr val="3566E8"/>
          </a:solidFill>
          <a:ln w="12700">
            <a:solidFill>
              <a:srgbClr val="3566E8"/>
            </a:solidFill>
            <a:prstDash val="solid"/>
          </a:ln>
        </p:spPr>
      </p:sp>
      <p:sp>
        <p:nvSpPr>
          <p:cNvPr id="17" name="Shape 14"/>
          <p:cNvSpPr/>
          <p:nvPr/>
        </p:nvSpPr>
        <p:spPr>
          <a:xfrm>
            <a:off x="3108960" y="3675888"/>
            <a:ext cx="164592" cy="237744"/>
          </a:xfrm>
          <a:prstGeom prst="chevron">
            <a:avLst/>
          </a:prstGeom>
          <a:solidFill>
            <a:srgbClr val="C9CDC4"/>
          </a:solidFill>
          <a:ln w="12700">
            <a:solidFill>
              <a:srgbClr val="C9CDC4"/>
            </a:solidFill>
            <a:prstDash val="solid"/>
          </a:ln>
        </p:spPr>
      </p:sp>
      <p:sp>
        <p:nvSpPr>
          <p:cNvPr id="18" name="Shape 15"/>
          <p:cNvSpPr/>
          <p:nvPr/>
        </p:nvSpPr>
        <p:spPr>
          <a:xfrm>
            <a:off x="3355848" y="2286000"/>
            <a:ext cx="2450592" cy="2953512"/>
          </a:xfrm>
          <a:prstGeom prst="rect">
            <a:avLst/>
          </a:prstGeom>
          <a:solidFill>
            <a:srgbClr val="EFF9CB"/>
          </a:solidFill>
          <a:ln w="12700">
            <a:solidFill>
              <a:srgbClr val="EFF9CB"/>
            </a:solidFill>
            <a:prstDash val="solid"/>
          </a:ln>
        </p:spPr>
      </p:sp>
      <p:sp>
        <p:nvSpPr>
          <p:cNvPr id="19" name="Text 16"/>
          <p:cNvSpPr/>
          <p:nvPr/>
        </p:nvSpPr>
        <p:spPr>
          <a:xfrm>
            <a:off x="3557016" y="2551176"/>
            <a:ext cx="1143000" cy="182880"/>
          </a:xfrm>
          <a:prstGeom prst="rect">
            <a:avLst/>
          </a:prstGeom>
          <a:noFill/>
          <a:ln/>
        </p:spPr>
        <p:txBody>
          <a:bodyPr wrap="square" lIns="0" tIns="0" rIns="0" bIns="0" rtlCol="0" anchor="ctr"/>
          <a:lstStyle/>
          <a:p>
            <a:pPr indent="0" marL="0">
              <a:buNone/>
            </a:pPr>
            <a:r>
              <a:rPr lang="en-US" sz="800" b="1" spc="120" kern="0" dirty="0">
                <a:solidFill>
                  <a:srgbClr val="668700"/>
                </a:solidFill>
              </a:rPr>
              <a:t>DAYS 16-30</a:t>
            </a:r>
            <a:endParaRPr lang="en-US" sz="800" dirty="0"/>
          </a:p>
        </p:txBody>
      </p:sp>
      <p:sp>
        <p:nvSpPr>
          <p:cNvPr id="20" name="Text 17"/>
          <p:cNvSpPr/>
          <p:nvPr/>
        </p:nvSpPr>
        <p:spPr>
          <a:xfrm>
            <a:off x="3557016" y="2944368"/>
            <a:ext cx="2048256" cy="457200"/>
          </a:xfrm>
          <a:prstGeom prst="rect">
            <a:avLst/>
          </a:prstGeom>
          <a:noFill/>
          <a:ln/>
        </p:spPr>
        <p:txBody>
          <a:bodyPr wrap="square" lIns="0" tIns="0" rIns="0" bIns="0" rtlCol="0" anchor="ctr">
            <a:normAutofit/>
          </a:bodyPr>
          <a:lstStyle/>
          <a:p>
            <a:pPr indent="0" marL="0">
              <a:buNone/>
            </a:pPr>
            <a:r>
              <a:rPr lang="en-US" sz="1700" b="1" dirty="0">
                <a:solidFill>
                  <a:srgbClr val="171817"/>
                </a:solidFill>
              </a:rPr>
              <a:t>Lock the contract</a:t>
            </a:r>
            <a:endParaRPr lang="en-US" sz="1700" dirty="0"/>
          </a:p>
        </p:txBody>
      </p:sp>
      <p:sp>
        <p:nvSpPr>
          <p:cNvPr id="21" name="Text 18"/>
          <p:cNvSpPr/>
          <p:nvPr/>
        </p:nvSpPr>
        <p:spPr>
          <a:xfrm>
            <a:off x="3575304" y="3675888"/>
            <a:ext cx="1920240" cy="987552"/>
          </a:xfrm>
          <a:prstGeom prst="rect">
            <a:avLst/>
          </a:prstGeom>
          <a:noFill/>
          <a:ln/>
        </p:spPr>
        <p:txBody>
          <a:bodyPr wrap="square" lIns="0" tIns="0" rIns="0" bIns="0" rtlCol="0" anchor="t">
            <a:normAutofit/>
          </a:bodyPr>
          <a:lstStyle/>
          <a:p>
            <a:pPr marL="165100" indent="-165100">
              <a:buSzPct val="100000"/>
              <a:buChar char="•"/>
            </a:pPr>
            <a:r>
              <a:rPr lang="en-US" sz="1000" dirty="0">
                <a:solidFill>
                  <a:srgbClr val="171817"/>
                </a:solidFill>
              </a:rPr>
              <a:t>Clickable prototype</a:t>
            </a:r>
            <a:endParaRPr lang="en-US" sz="1000" dirty="0"/>
          </a:p>
          <a:p>
            <a:pPr marL="165100" indent="-165100">
              <a:buSzPct val="100000"/>
              <a:buChar char="•"/>
            </a:pPr>
            <a:r>
              <a:rPr lang="en-US" sz="1000" dirty="0">
                <a:solidFill>
                  <a:srgbClr val="171817"/>
                </a:solidFill>
              </a:rPr>
              <a:t>Schema + API contracts</a:t>
            </a:r>
            <a:endParaRPr lang="en-US" sz="1000" dirty="0"/>
          </a:p>
          <a:p>
            <a:pPr marL="165100" indent="-165100">
              <a:buSzPct val="100000"/>
              <a:buChar char="•"/>
            </a:pPr>
            <a:r>
              <a:rPr lang="en-US" sz="1000" dirty="0">
                <a:solidFill>
                  <a:srgbClr val="171817"/>
                </a:solidFill>
              </a:rPr>
              <a:t>Refund + experiment plan</a:t>
            </a:r>
            <a:endParaRPr lang="en-US" sz="1000" dirty="0"/>
          </a:p>
        </p:txBody>
      </p:sp>
      <p:sp>
        <p:nvSpPr>
          <p:cNvPr id="22" name="Shape 19"/>
          <p:cNvSpPr/>
          <p:nvPr/>
        </p:nvSpPr>
        <p:spPr>
          <a:xfrm>
            <a:off x="5394960" y="2478024"/>
            <a:ext cx="219456" cy="219456"/>
          </a:xfrm>
          <a:prstGeom prst="ellipse">
            <a:avLst/>
          </a:prstGeom>
          <a:solidFill>
            <a:srgbClr val="668700"/>
          </a:solidFill>
          <a:ln w="12700">
            <a:solidFill>
              <a:srgbClr val="668700"/>
            </a:solidFill>
            <a:prstDash val="solid"/>
          </a:ln>
        </p:spPr>
      </p:sp>
      <p:sp>
        <p:nvSpPr>
          <p:cNvPr id="23" name="Shape 20"/>
          <p:cNvSpPr/>
          <p:nvPr/>
        </p:nvSpPr>
        <p:spPr>
          <a:xfrm>
            <a:off x="5870448" y="3675888"/>
            <a:ext cx="164592" cy="237744"/>
          </a:xfrm>
          <a:prstGeom prst="chevron">
            <a:avLst/>
          </a:prstGeom>
          <a:solidFill>
            <a:srgbClr val="C9CDC4"/>
          </a:solidFill>
          <a:ln w="12700">
            <a:solidFill>
              <a:srgbClr val="C9CDC4"/>
            </a:solidFill>
            <a:prstDash val="solid"/>
          </a:ln>
        </p:spPr>
      </p:sp>
      <p:sp>
        <p:nvSpPr>
          <p:cNvPr id="24" name="Shape 21"/>
          <p:cNvSpPr/>
          <p:nvPr/>
        </p:nvSpPr>
        <p:spPr>
          <a:xfrm>
            <a:off x="6117336" y="2286000"/>
            <a:ext cx="2450592" cy="2953512"/>
          </a:xfrm>
          <a:prstGeom prst="rect">
            <a:avLst/>
          </a:prstGeom>
          <a:solidFill>
            <a:srgbClr val="DFF4E5"/>
          </a:solidFill>
          <a:ln w="12700">
            <a:solidFill>
              <a:srgbClr val="DFF4E5"/>
            </a:solidFill>
            <a:prstDash val="solid"/>
          </a:ln>
        </p:spPr>
      </p:sp>
      <p:sp>
        <p:nvSpPr>
          <p:cNvPr id="25" name="Text 22"/>
          <p:cNvSpPr/>
          <p:nvPr/>
        </p:nvSpPr>
        <p:spPr>
          <a:xfrm>
            <a:off x="6318504" y="2551176"/>
            <a:ext cx="1143000" cy="182880"/>
          </a:xfrm>
          <a:prstGeom prst="rect">
            <a:avLst/>
          </a:prstGeom>
          <a:noFill/>
          <a:ln/>
        </p:spPr>
        <p:txBody>
          <a:bodyPr wrap="square" lIns="0" tIns="0" rIns="0" bIns="0" rtlCol="0" anchor="ctr"/>
          <a:lstStyle/>
          <a:p>
            <a:pPr indent="0" marL="0">
              <a:buNone/>
            </a:pPr>
            <a:r>
              <a:rPr lang="en-US" sz="800" b="1" spc="120" kern="0" dirty="0">
                <a:solidFill>
                  <a:srgbClr val="237346"/>
                </a:solidFill>
              </a:rPr>
              <a:t>DAYS 31-60</a:t>
            </a:r>
            <a:endParaRPr lang="en-US" sz="800" dirty="0"/>
          </a:p>
        </p:txBody>
      </p:sp>
      <p:sp>
        <p:nvSpPr>
          <p:cNvPr id="26" name="Text 23"/>
          <p:cNvSpPr/>
          <p:nvPr/>
        </p:nvSpPr>
        <p:spPr>
          <a:xfrm>
            <a:off x="6318504" y="2944368"/>
            <a:ext cx="2048256" cy="457200"/>
          </a:xfrm>
          <a:prstGeom prst="rect">
            <a:avLst/>
          </a:prstGeom>
          <a:noFill/>
          <a:ln/>
        </p:spPr>
        <p:txBody>
          <a:bodyPr wrap="square" lIns="0" tIns="0" rIns="0" bIns="0" rtlCol="0" anchor="ctr">
            <a:normAutofit/>
          </a:bodyPr>
          <a:lstStyle/>
          <a:p>
            <a:pPr indent="0" marL="0">
              <a:buNone/>
            </a:pPr>
            <a:r>
              <a:rPr lang="en-US" sz="1700" b="1" dirty="0">
                <a:solidFill>
                  <a:srgbClr val="171817"/>
                </a:solidFill>
              </a:rPr>
              <a:t>Build the loop</a:t>
            </a:r>
            <a:endParaRPr lang="en-US" sz="1700" dirty="0"/>
          </a:p>
        </p:txBody>
      </p:sp>
      <p:sp>
        <p:nvSpPr>
          <p:cNvPr id="27" name="Text 24"/>
          <p:cNvSpPr/>
          <p:nvPr/>
        </p:nvSpPr>
        <p:spPr>
          <a:xfrm>
            <a:off x="6336792" y="3675888"/>
            <a:ext cx="1920240" cy="987552"/>
          </a:xfrm>
          <a:prstGeom prst="rect">
            <a:avLst/>
          </a:prstGeom>
          <a:noFill/>
          <a:ln/>
        </p:spPr>
        <p:txBody>
          <a:bodyPr wrap="square" lIns="0" tIns="0" rIns="0" bIns="0" rtlCol="0" anchor="t">
            <a:normAutofit/>
          </a:bodyPr>
          <a:lstStyle/>
          <a:p>
            <a:pPr marL="165100" indent="-165100">
              <a:buSzPct val="100000"/>
              <a:buChar char="•"/>
            </a:pPr>
            <a:r>
              <a:rPr lang="en-US" sz="1000" dirty="0">
                <a:solidFill>
                  <a:srgbClr val="171817"/>
                </a:solidFill>
              </a:rPr>
              <a:t>Eligibility + quote</a:t>
            </a:r>
            <a:endParaRPr lang="en-US" sz="1000" dirty="0"/>
          </a:p>
          <a:p>
            <a:pPr marL="165100" indent="-165100">
              <a:buSzPct val="100000"/>
              <a:buChar char="•"/>
            </a:pPr>
            <a:r>
              <a:rPr lang="en-US" sz="1000" dirty="0">
                <a:solidFill>
                  <a:srgbClr val="171817"/>
                </a:solidFill>
              </a:rPr>
              <a:t>Checkout + lender + order</a:t>
            </a:r>
            <a:endParaRPr lang="en-US" sz="1000" dirty="0"/>
          </a:p>
          <a:p>
            <a:pPr marL="165100" indent="-165100">
              <a:buSzPct val="100000"/>
              <a:buChar char="•"/>
            </a:pPr>
            <a:r>
              <a:rPr lang="en-US" sz="1000" dirty="0">
                <a:solidFill>
                  <a:srgbClr val="171817"/>
                </a:solidFill>
              </a:rPr>
              <a:t>Ledger + support timeline</a:t>
            </a:r>
            <a:endParaRPr lang="en-US" sz="1000" dirty="0"/>
          </a:p>
        </p:txBody>
      </p:sp>
      <p:sp>
        <p:nvSpPr>
          <p:cNvPr id="28" name="Shape 25"/>
          <p:cNvSpPr/>
          <p:nvPr/>
        </p:nvSpPr>
        <p:spPr>
          <a:xfrm>
            <a:off x="8156448" y="2478024"/>
            <a:ext cx="219456" cy="219456"/>
          </a:xfrm>
          <a:prstGeom prst="ellipse">
            <a:avLst/>
          </a:prstGeom>
          <a:solidFill>
            <a:srgbClr val="237346"/>
          </a:solidFill>
          <a:ln w="12700">
            <a:solidFill>
              <a:srgbClr val="237346"/>
            </a:solidFill>
            <a:prstDash val="solid"/>
          </a:ln>
        </p:spPr>
      </p:sp>
      <p:sp>
        <p:nvSpPr>
          <p:cNvPr id="29" name="Shape 26"/>
          <p:cNvSpPr/>
          <p:nvPr/>
        </p:nvSpPr>
        <p:spPr>
          <a:xfrm>
            <a:off x="8631936" y="3675888"/>
            <a:ext cx="164592" cy="237744"/>
          </a:xfrm>
          <a:prstGeom prst="chevron">
            <a:avLst/>
          </a:prstGeom>
          <a:solidFill>
            <a:srgbClr val="C9CDC4"/>
          </a:solidFill>
          <a:ln w="12700">
            <a:solidFill>
              <a:srgbClr val="C9CDC4"/>
            </a:solidFill>
            <a:prstDash val="solid"/>
          </a:ln>
        </p:spPr>
      </p:sp>
      <p:sp>
        <p:nvSpPr>
          <p:cNvPr id="30" name="Shape 27"/>
          <p:cNvSpPr/>
          <p:nvPr/>
        </p:nvSpPr>
        <p:spPr>
          <a:xfrm>
            <a:off x="8878824" y="2286000"/>
            <a:ext cx="2450592" cy="2953512"/>
          </a:xfrm>
          <a:prstGeom prst="rect">
            <a:avLst/>
          </a:prstGeom>
          <a:solidFill>
            <a:srgbClr val="FFEBE8"/>
          </a:solidFill>
          <a:ln w="12700">
            <a:solidFill>
              <a:srgbClr val="FFEBE8"/>
            </a:solidFill>
            <a:prstDash val="solid"/>
          </a:ln>
        </p:spPr>
      </p:sp>
      <p:sp>
        <p:nvSpPr>
          <p:cNvPr id="31" name="Text 28"/>
          <p:cNvSpPr/>
          <p:nvPr/>
        </p:nvSpPr>
        <p:spPr>
          <a:xfrm>
            <a:off x="9079992" y="2551176"/>
            <a:ext cx="1143000" cy="182880"/>
          </a:xfrm>
          <a:prstGeom prst="rect">
            <a:avLst/>
          </a:prstGeom>
          <a:noFill/>
          <a:ln/>
        </p:spPr>
        <p:txBody>
          <a:bodyPr wrap="square" lIns="0" tIns="0" rIns="0" bIns="0" rtlCol="0" anchor="ctr"/>
          <a:lstStyle/>
          <a:p>
            <a:pPr indent="0" marL="0">
              <a:buNone/>
            </a:pPr>
            <a:r>
              <a:rPr lang="en-US" sz="800" b="1" spc="120" kern="0" dirty="0">
                <a:solidFill>
                  <a:srgbClr val="F26A5D"/>
                </a:solidFill>
              </a:rPr>
              <a:t>DAYS 61-90</a:t>
            </a:r>
            <a:endParaRPr lang="en-US" sz="800" dirty="0"/>
          </a:p>
        </p:txBody>
      </p:sp>
      <p:sp>
        <p:nvSpPr>
          <p:cNvPr id="32" name="Text 29"/>
          <p:cNvSpPr/>
          <p:nvPr/>
        </p:nvSpPr>
        <p:spPr>
          <a:xfrm>
            <a:off x="9079992" y="2944368"/>
            <a:ext cx="2048256" cy="457200"/>
          </a:xfrm>
          <a:prstGeom prst="rect">
            <a:avLst/>
          </a:prstGeom>
          <a:noFill/>
          <a:ln/>
        </p:spPr>
        <p:txBody>
          <a:bodyPr wrap="square" lIns="0" tIns="0" rIns="0" bIns="0" rtlCol="0" anchor="ctr">
            <a:normAutofit/>
          </a:bodyPr>
          <a:lstStyle/>
          <a:p>
            <a:pPr indent="0" marL="0">
              <a:buNone/>
            </a:pPr>
            <a:r>
              <a:rPr lang="en-US" sz="1700" b="1" dirty="0">
                <a:solidFill>
                  <a:srgbClr val="171817"/>
                </a:solidFill>
              </a:rPr>
              <a:t>Controlled beta</a:t>
            </a:r>
            <a:endParaRPr lang="en-US" sz="1700" dirty="0"/>
          </a:p>
        </p:txBody>
      </p:sp>
      <p:sp>
        <p:nvSpPr>
          <p:cNvPr id="33" name="Text 30"/>
          <p:cNvSpPr/>
          <p:nvPr/>
        </p:nvSpPr>
        <p:spPr>
          <a:xfrm>
            <a:off x="9098280" y="3675888"/>
            <a:ext cx="1920240" cy="987552"/>
          </a:xfrm>
          <a:prstGeom prst="rect">
            <a:avLst/>
          </a:prstGeom>
          <a:noFill/>
          <a:ln/>
        </p:spPr>
        <p:txBody>
          <a:bodyPr wrap="square" lIns="0" tIns="0" rIns="0" bIns="0" rtlCol="0" anchor="t">
            <a:normAutofit/>
          </a:bodyPr>
          <a:lstStyle/>
          <a:p>
            <a:pPr marL="165100" indent="-165100">
              <a:buSzPct val="100000"/>
              <a:buChar char="•"/>
            </a:pPr>
            <a:r>
              <a:rPr lang="en-US" sz="1000" dirty="0">
                <a:solidFill>
                  <a:srgbClr val="171817"/>
                </a:solidFill>
              </a:rPr>
              <a:t>3 categories</a:t>
            </a:r>
            <a:endParaRPr lang="en-US" sz="1000" dirty="0"/>
          </a:p>
          <a:p>
            <a:pPr marL="165100" indent="-165100">
              <a:buSzPct val="100000"/>
              <a:buChar char="•"/>
            </a:pPr>
            <a:r>
              <a:rPr lang="en-US" sz="1000" dirty="0">
                <a:solidFill>
                  <a:srgbClr val="171817"/>
                </a:solidFill>
              </a:rPr>
              <a:t>20-50 sellers</a:t>
            </a:r>
            <a:endParaRPr lang="en-US" sz="1000" dirty="0"/>
          </a:p>
          <a:p>
            <a:pPr marL="165100" indent="-165100">
              <a:buSzPct val="100000"/>
              <a:buChar char="•"/>
            </a:pPr>
            <a:r>
              <a:rPr lang="en-US" sz="1000" dirty="0">
                <a:solidFill>
                  <a:srgbClr val="171817"/>
                </a:solidFill>
              </a:rPr>
              <a:t>Daily funnel + risk review</a:t>
            </a:r>
            <a:endParaRPr lang="en-US" sz="1000" dirty="0"/>
          </a:p>
        </p:txBody>
      </p:sp>
      <p:sp>
        <p:nvSpPr>
          <p:cNvPr id="34" name="Shape 31"/>
          <p:cNvSpPr/>
          <p:nvPr/>
        </p:nvSpPr>
        <p:spPr>
          <a:xfrm>
            <a:off x="10917936" y="2478024"/>
            <a:ext cx="219456" cy="219456"/>
          </a:xfrm>
          <a:prstGeom prst="ellipse">
            <a:avLst/>
          </a:prstGeom>
          <a:solidFill>
            <a:srgbClr val="F26A5D"/>
          </a:solidFill>
          <a:ln w="12700">
            <a:solidFill>
              <a:srgbClr val="F26A5D"/>
            </a:solidFill>
            <a:prstDash val="solid"/>
          </a:ln>
        </p:spPr>
      </p:sp>
      <p:sp>
        <p:nvSpPr>
          <p:cNvPr id="35" name="Shape 32"/>
          <p:cNvSpPr/>
          <p:nvPr/>
        </p:nvSpPr>
        <p:spPr>
          <a:xfrm>
            <a:off x="594360" y="5504688"/>
            <a:ext cx="11018520" cy="566928"/>
          </a:xfrm>
          <a:prstGeom prst="rect">
            <a:avLst/>
          </a:prstGeom>
          <a:solidFill>
            <a:srgbClr val="171817"/>
          </a:solidFill>
          <a:ln w="12700">
            <a:solidFill>
              <a:srgbClr val="171817"/>
            </a:solidFill>
            <a:prstDash val="solid"/>
          </a:ln>
        </p:spPr>
      </p:sp>
      <p:sp>
        <p:nvSpPr>
          <p:cNvPr id="36" name="Text 33"/>
          <p:cNvSpPr/>
          <p:nvPr/>
        </p:nvSpPr>
        <p:spPr>
          <a:xfrm>
            <a:off x="859536" y="5687568"/>
            <a:ext cx="1691640" cy="164592"/>
          </a:xfrm>
          <a:prstGeom prst="rect">
            <a:avLst/>
          </a:prstGeom>
          <a:noFill/>
          <a:ln/>
        </p:spPr>
        <p:txBody>
          <a:bodyPr wrap="square" lIns="0" tIns="0" rIns="0" bIns="0" rtlCol="0" anchor="ctr"/>
          <a:lstStyle/>
          <a:p>
            <a:pPr indent="0" marL="0">
              <a:buNone/>
            </a:pPr>
            <a:r>
              <a:rPr lang="en-US" sz="800" b="1" spc="130" kern="0" dirty="0">
                <a:solidFill>
                  <a:srgbClr val="C9F044"/>
                </a:solidFill>
              </a:rPr>
              <a:t>GO / NO-GO AT DAY 90</a:t>
            </a:r>
            <a:endParaRPr lang="en-US" sz="800" dirty="0"/>
          </a:p>
        </p:txBody>
      </p:sp>
      <p:sp>
        <p:nvSpPr>
          <p:cNvPr id="37" name="Text 34"/>
          <p:cNvSpPr/>
          <p:nvPr/>
        </p:nvSpPr>
        <p:spPr>
          <a:xfrm>
            <a:off x="2743200" y="5632704"/>
            <a:ext cx="8412480" cy="237744"/>
          </a:xfrm>
          <a:prstGeom prst="rect">
            <a:avLst/>
          </a:prstGeom>
          <a:noFill/>
          <a:ln/>
        </p:spPr>
        <p:txBody>
          <a:bodyPr wrap="square" lIns="0" tIns="0" rIns="0" bIns="0" rtlCol="0" anchor="ctr">
            <a:normAutofit/>
          </a:bodyPr>
          <a:lstStyle/>
          <a:p>
            <a:pPr indent="0" marL="0">
              <a:buNone/>
            </a:pPr>
            <a:r>
              <a:rPr lang="en-US" sz="980" b="1" dirty="0">
                <a:solidFill>
                  <a:srgbClr val="FFFFFF"/>
                </a:solidFill>
              </a:rPr>
              <a:t>Checkout completion  |  60-day repeat  |  DPD within threshold  |  Contribution improving week on week</a:t>
            </a:r>
            <a:endParaRPr lang="en-US" sz="9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817"/>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THE BET</a:t>
            </a:r>
            <a:endParaRPr lang="en-US" sz="850" dirty="0"/>
          </a:p>
        </p:txBody>
      </p:sp>
      <p:sp>
        <p:nvSpPr>
          <p:cNvPr id="6" name="Text 4"/>
          <p:cNvSpPr/>
          <p:nvPr/>
        </p:nvSpPr>
        <p:spPr>
          <a:xfrm>
            <a:off x="566928" y="1033272"/>
            <a:ext cx="9875520" cy="530352"/>
          </a:xfrm>
          <a:prstGeom prst="rect">
            <a:avLst/>
          </a:prstGeom>
          <a:noFill/>
          <a:ln/>
        </p:spPr>
        <p:txBody>
          <a:bodyPr wrap="square" lIns="0" tIns="0" rIns="0" bIns="0" rtlCol="0" anchor="ctr">
            <a:normAutofit/>
          </a:bodyPr>
          <a:lstStyle/>
          <a:p>
            <a:pPr indent="0" marL="0">
              <a:buNone/>
            </a:pPr>
            <a:r>
              <a:rPr lang="en-US" sz="2700" b="1" dirty="0">
                <a:solidFill>
                  <a:srgbClr val="FFFFFF"/>
                </a:solidFill>
              </a:rPr>
              <a:t>Make affordability a system capability, not a checkout widget.</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C8CEC6"/>
                </a:solidFill>
              </a:rPr>
              <a:t>The focused wedge connects buyer trust, seller incrementality, and lending discipline.</a:t>
            </a:r>
            <a:endParaRPr lang="en-US" sz="1150" dirty="0"/>
          </a:p>
        </p:txBody>
      </p:sp>
      <p:sp>
        <p:nvSpPr>
          <p:cNvPr id="8" name="Shape 6"/>
          <p:cNvSpPr/>
          <p:nvPr/>
        </p:nvSpPr>
        <p:spPr>
          <a:xfrm>
            <a:off x="566928" y="6519672"/>
            <a:ext cx="11064240" cy="0"/>
          </a:xfrm>
          <a:prstGeom prst="line">
            <a:avLst/>
          </a:prstGeom>
          <a:noFill/>
          <a:ln w="8890">
            <a:solidFill>
              <a:srgbClr val="3D413D"/>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AEB5AC"/>
                </a:solidFill>
              </a:rPr>
              <a:t>AFFORDABLE COMMERCE CONCEPT</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AEB5AC"/>
                </a:solidFill>
              </a:rPr>
              <a:t>11</a:t>
            </a:r>
            <a:endParaRPr lang="en-US" sz="800" dirty="0"/>
          </a:p>
        </p:txBody>
      </p:sp>
      <p:sp>
        <p:nvSpPr>
          <p:cNvPr id="12" name="Text 9"/>
          <p:cNvSpPr/>
          <p:nvPr/>
        </p:nvSpPr>
        <p:spPr>
          <a:xfrm>
            <a:off x="640080" y="2240280"/>
            <a:ext cx="4160520" cy="2487168"/>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rPr>
              <a:t>Credit-aware discovery</a:t>
            </a:r>
            <a:endParaRPr lang="en-US" sz="2200" dirty="0"/>
          </a:p>
          <a:p>
            <a:pPr algn="ctr" indent="0" marL="0">
              <a:buNone/>
            </a:pPr>
            <a:r>
              <a:rPr lang="en-US" sz="2200" b="1" dirty="0">
                <a:solidFill>
                  <a:srgbClr val="FFFFFF"/>
                </a:solidFill>
              </a:rPr>
              <a:t>+</a:t>
            </a:r>
            <a:endParaRPr lang="en-US" sz="2200" dirty="0"/>
          </a:p>
          <a:p>
            <a:pPr algn="ctr" indent="0" marL="0">
              <a:buNone/>
            </a:pPr>
            <a:r>
              <a:rPr lang="en-US" sz="2200" b="1" dirty="0">
                <a:solidFill>
                  <a:srgbClr val="FFFFFF"/>
                </a:solidFill>
              </a:rPr>
              <a:t>Native financed checkout</a:t>
            </a:r>
            <a:endParaRPr lang="en-US" sz="2200" dirty="0"/>
          </a:p>
          <a:p>
            <a:pPr algn="ctr" indent="0" marL="0">
              <a:buNone/>
            </a:pPr>
            <a:r>
              <a:rPr lang="en-US" sz="2200" b="1" dirty="0">
                <a:solidFill>
                  <a:srgbClr val="FFFFFF"/>
                </a:solidFill>
              </a:rPr>
              <a:t>+</a:t>
            </a:r>
            <a:endParaRPr lang="en-US" sz="2200" dirty="0"/>
          </a:p>
          <a:p>
            <a:pPr algn="ctr" indent="0" marL="0">
              <a:buNone/>
            </a:pPr>
            <a:r>
              <a:rPr lang="en-US" sz="2200" b="1" dirty="0">
                <a:solidFill>
                  <a:srgbClr val="FFFFFF"/>
                </a:solidFill>
              </a:rPr>
              <a:t>Merchant affordability OS</a:t>
            </a:r>
            <a:endParaRPr lang="en-US" sz="2200" dirty="0"/>
          </a:p>
        </p:txBody>
      </p:sp>
      <p:sp>
        <p:nvSpPr>
          <p:cNvPr id="13" name="Shape 10"/>
          <p:cNvSpPr/>
          <p:nvPr/>
        </p:nvSpPr>
        <p:spPr>
          <a:xfrm>
            <a:off x="5074920" y="2194560"/>
            <a:ext cx="0" cy="2743200"/>
          </a:xfrm>
          <a:prstGeom prst="line">
            <a:avLst/>
          </a:prstGeom>
          <a:noFill/>
          <a:ln w="15240">
            <a:solidFill>
              <a:srgbClr val="444944"/>
            </a:solidFill>
            <a:prstDash val="solid"/>
          </a:ln>
        </p:spPr>
      </p:sp>
      <p:sp>
        <p:nvSpPr>
          <p:cNvPr id="14" name="Text 11"/>
          <p:cNvSpPr/>
          <p:nvPr/>
        </p:nvSpPr>
        <p:spPr>
          <a:xfrm>
            <a:off x="5577840" y="2258568"/>
            <a:ext cx="1828800" cy="182880"/>
          </a:xfrm>
          <a:prstGeom prst="rect">
            <a:avLst/>
          </a:prstGeom>
          <a:noFill/>
          <a:ln/>
        </p:spPr>
        <p:txBody>
          <a:bodyPr wrap="square" lIns="0" tIns="0" rIns="0" bIns="0" rtlCol="0" anchor="ctr"/>
          <a:lstStyle/>
          <a:p>
            <a:pPr indent="0" marL="0">
              <a:buNone/>
            </a:pPr>
            <a:r>
              <a:rPr lang="en-US" sz="850" b="1" spc="160" kern="0" dirty="0">
                <a:solidFill>
                  <a:srgbClr val="C9F044"/>
                </a:solidFill>
              </a:rPr>
              <a:t>WHAT I BUILT</a:t>
            </a:r>
            <a:endParaRPr lang="en-US" sz="850" dirty="0"/>
          </a:p>
        </p:txBody>
      </p:sp>
      <p:sp>
        <p:nvSpPr>
          <p:cNvPr id="15" name="Text 12"/>
          <p:cNvSpPr/>
          <p:nvPr/>
        </p:nvSpPr>
        <p:spPr>
          <a:xfrm>
            <a:off x="5596128" y="2651760"/>
            <a:ext cx="3337560" cy="1920240"/>
          </a:xfrm>
          <a:prstGeom prst="rect">
            <a:avLst/>
          </a:prstGeom>
          <a:noFill/>
          <a:ln/>
        </p:spPr>
        <p:txBody>
          <a:bodyPr wrap="square" lIns="0" tIns="0" rIns="0" bIns="0" rtlCol="0" anchor="t">
            <a:normAutofit/>
          </a:bodyPr>
          <a:lstStyle/>
          <a:p>
            <a:pPr marL="165100" indent="-165100">
              <a:buSzPct val="100000"/>
              <a:buChar char="•"/>
            </a:pPr>
            <a:r>
              <a:rPr lang="en-US" sz="1300" dirty="0">
                <a:solidFill>
                  <a:srgbClr val="FFFFFF"/>
                </a:solidFill>
              </a:rPr>
              <a:t>Mobile buyer prototype</a:t>
            </a:r>
            <a:endParaRPr lang="en-US" sz="1300" dirty="0"/>
          </a:p>
          <a:p>
            <a:pPr marL="165100" indent="-165100">
              <a:buSzPct val="100000"/>
              <a:buChar char="•"/>
            </a:pPr>
            <a:r>
              <a:rPr lang="en-US" sz="1300" dirty="0">
                <a:solidFill>
                  <a:srgbClr val="FFFFFF"/>
                </a:solidFill>
              </a:rPr>
              <a:t>Seller operations portal</a:t>
            </a:r>
            <a:endParaRPr lang="en-US" sz="1300" dirty="0"/>
          </a:p>
          <a:p>
            <a:pPr marL="165100" indent="-165100">
              <a:buSzPct val="100000"/>
              <a:buChar char="•"/>
            </a:pPr>
            <a:r>
              <a:rPr lang="en-US" sz="1300" dirty="0">
                <a:solidFill>
                  <a:srgbClr val="FFFFFF"/>
                </a:solidFill>
              </a:rPr>
              <a:t>Product, P&amp;L, and GTM blueprint</a:t>
            </a:r>
            <a:endParaRPr lang="en-US" sz="1300" dirty="0"/>
          </a:p>
          <a:p>
            <a:pPr marL="165100" indent="-165100">
              <a:buSzPct val="100000"/>
              <a:buChar char="•"/>
            </a:pPr>
            <a:r>
              <a:rPr lang="en-US" sz="1300" dirty="0">
                <a:solidFill>
                  <a:srgbClr val="FFFFFF"/>
                </a:solidFill>
              </a:rPr>
              <a:t>System, schema, and API design</a:t>
            </a:r>
            <a:endParaRPr lang="en-US" sz="1300" dirty="0"/>
          </a:p>
          <a:p>
            <a:pPr marL="165100" indent="-165100">
              <a:buSzPct val="100000"/>
              <a:buChar char="•"/>
            </a:pPr>
            <a:r>
              <a:rPr lang="en-US" sz="1300" dirty="0">
                <a:solidFill>
                  <a:srgbClr val="FFFFFF"/>
                </a:solidFill>
              </a:rPr>
              <a:t>90-day experiment-led launch plan</a:t>
            </a:r>
            <a:endParaRPr lang="en-US" sz="1300" dirty="0"/>
          </a:p>
        </p:txBody>
      </p:sp>
      <p:sp>
        <p:nvSpPr>
          <p:cNvPr id="16" name="Shape 13"/>
          <p:cNvSpPr/>
          <p:nvPr/>
        </p:nvSpPr>
        <p:spPr>
          <a:xfrm>
            <a:off x="9098280" y="2249424"/>
            <a:ext cx="2487168" cy="2331720"/>
          </a:xfrm>
          <a:prstGeom prst="rect">
            <a:avLst/>
          </a:prstGeom>
          <a:solidFill>
            <a:srgbClr val="C9F044"/>
          </a:solidFill>
          <a:ln w="12700">
            <a:solidFill>
              <a:srgbClr val="C9F044"/>
            </a:solidFill>
            <a:prstDash val="solid"/>
          </a:ln>
        </p:spPr>
      </p:sp>
      <p:sp>
        <p:nvSpPr>
          <p:cNvPr id="17" name="Text 14">
            <a:hlinkClick r:id="rId1" tooltip=""/>
          </p:cNvPr>
          <p:cNvSpPr/>
          <p:nvPr/>
        </p:nvSpPr>
        <p:spPr>
          <a:xfrm>
            <a:off x="9372600" y="2834640"/>
            <a:ext cx="1938528" cy="676656"/>
          </a:xfrm>
          <a:prstGeom prst="rect">
            <a:avLst/>
          </a:prstGeom>
          <a:noFill/>
          <a:ln/>
        </p:spPr>
        <p:txBody>
          <a:bodyPr wrap="square" lIns="0" tIns="0" rIns="0" bIns="0" rtlCol="0" anchor="ctr">
            <a:normAutofit/>
          </a:bodyPr>
          <a:lstStyle/>
          <a:p>
            <a:pPr algn="ctr" indent="0" marL="0">
              <a:buNone/>
            </a:pPr>
            <a:r>
              <a:rPr lang="en-US" sz="2000" b="1" u="sng" dirty="0">
                <a:solidFill>
                  <a:srgbClr val="171817"/>
                </a:solidFill>
                <a:hlinkClick r:id="rId1" invalidUrl="" action="" tgtFrame="" tooltip="" history="1" highlightClick="0" endSnd="0">
                  <a:extLst>
                    <a:ext uri="{A12FA001-AC4F-418D-AE19-62706E023703}">
                      <ahyp:hlinkClr xmlns:ahyp="http://schemas.microsoft.com/office/drawing/2018/hyperlinkcolor" val="tx"/>
                    </a:ext>
                  </a:extLst>
                </a:hlinkClick>
              </a:rPr>
              <a:t>OPEN THE</a:t>
            </a:r>
            <a:endParaRPr lang="en-US" sz="2000" dirty="0"/>
          </a:p>
          <a:p>
            <a:pPr algn="ctr" indent="0" marL="0">
              <a:buNone/>
            </a:pPr>
            <a:r>
              <a:rPr lang="en-US" sz="2000" b="1" u="sng" dirty="0">
                <a:solidFill>
                  <a:srgbClr val="171817"/>
                </a:solidFill>
                <a:hlinkClick r:id="rId1" invalidUrl="" action="" tgtFrame="" tooltip="" history="1" highlightClick="0" endSnd="0">
                  <a:extLst>
                    <a:ext uri="{A12FA001-AC4F-418D-AE19-62706E023703}">
                      <ahyp:hlinkClr xmlns:ahyp="http://schemas.microsoft.com/office/drawing/2018/hyperlinkcolor" val="tx"/>
                    </a:ext>
                  </a:extLst>
                </a:hlinkClick>
              </a:rPr>
              <a:t>PROTOTYPE</a:t>
            </a:r>
            <a:endParaRPr lang="en-US" sz="2000" dirty="0"/>
          </a:p>
        </p:txBody>
      </p:sp>
      <p:sp>
        <p:nvSpPr>
          <p:cNvPr id="18" name="Text 15">
            <a:hlinkClick r:id="rId2" tooltip=""/>
          </p:cNvPr>
          <p:cNvSpPr/>
          <p:nvPr/>
        </p:nvSpPr>
        <p:spPr>
          <a:xfrm>
            <a:off x="9079992" y="4892040"/>
            <a:ext cx="2560320" cy="530352"/>
          </a:xfrm>
          <a:prstGeom prst="rect">
            <a:avLst/>
          </a:prstGeom>
          <a:noFill/>
          <a:ln/>
        </p:spPr>
        <p:txBody>
          <a:bodyPr wrap="square" lIns="0" tIns="0" rIns="0" bIns="0" rtlCol="0" anchor="ctr">
            <a:normAutofit/>
          </a:bodyPr>
          <a:lstStyle/>
          <a:p>
            <a:pPr algn="ctr" indent="0" marL="0">
              <a:buNone/>
            </a:pPr>
            <a:r>
              <a:rPr lang="en-US" sz="840" u="sng" dirty="0">
                <a:solidFill>
                  <a:srgbClr val="BFC5BD"/>
                </a:solidFill>
                <a:hlinkClick r:id="rId2" invalidUrl="" action="" tgtFrame="" tooltip="" history="1" highlightClick="0" endSnd="0">
                  <a:extLst>
                    <a:ext uri="{A12FA001-AC4F-418D-AE19-62706E023703}">
                      <ahyp:hlinkClr xmlns:ahyp="http://schemas.microsoft.com/office/drawing/2018/hyperlinkcolor" val="tx"/>
                    </a:ext>
                  </a:extLst>
                </a:hlinkClick>
              </a:rPr>
              <a:t>super-money-affordable-commerce.naman884186.chatgpt.site</a:t>
            </a:r>
            <a:endParaRPr lang="en-US" sz="840" dirty="0"/>
          </a:p>
        </p:txBody>
      </p:sp>
      <p:sp>
        <p:nvSpPr>
          <p:cNvPr id="19" name="Text 16"/>
          <p:cNvSpPr/>
          <p:nvPr/>
        </p:nvSpPr>
        <p:spPr>
          <a:xfrm>
            <a:off x="640080" y="5669280"/>
            <a:ext cx="1920240" cy="256032"/>
          </a:xfrm>
          <a:prstGeom prst="rect">
            <a:avLst/>
          </a:prstGeom>
          <a:noFill/>
          <a:ln/>
        </p:spPr>
        <p:txBody>
          <a:bodyPr wrap="square" lIns="0" tIns="0" rIns="0" bIns="0" rtlCol="0" anchor="ctr"/>
          <a:lstStyle/>
          <a:p>
            <a:pPr indent="0" marL="0">
              <a:buNone/>
            </a:pPr>
            <a:r>
              <a:rPr lang="en-US" sz="1300" b="1" dirty="0">
                <a:solidFill>
                  <a:srgbClr val="C9F044"/>
                </a:solidFill>
              </a:rPr>
              <a:t>Naman Jain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APPENDIX A</a:t>
            </a:r>
            <a:endParaRPr lang="en-US" sz="850" dirty="0"/>
          </a:p>
        </p:txBody>
      </p:sp>
      <p:sp>
        <p:nvSpPr>
          <p:cNvPr id="6" name="Text 4"/>
          <p:cNvSpPr/>
          <p:nvPr/>
        </p:nvSpPr>
        <p:spPr>
          <a:xfrm>
            <a:off x="566928" y="1033272"/>
            <a:ext cx="10515600" cy="530352"/>
          </a:xfrm>
          <a:prstGeom prst="rect">
            <a:avLst/>
          </a:prstGeom>
          <a:noFill/>
          <a:ln/>
        </p:spPr>
        <p:txBody>
          <a:bodyPr wrap="square" lIns="0" tIns="0" rIns="0" bIns="0" rtlCol="0" anchor="ctr">
            <a:normAutofit/>
          </a:bodyPr>
          <a:lstStyle/>
          <a:p>
            <a:pPr indent="0" marL="0">
              <a:buNone/>
            </a:pPr>
            <a:r>
              <a:rPr lang="en-US" sz="2500" b="1" dirty="0">
                <a:solidFill>
                  <a:srgbClr val="171817"/>
                </a:solidFill>
              </a:rPr>
              <a:t>System architecture: personalized supply into one orchestrated obligation.</a:t>
            </a:r>
            <a:endParaRPr lang="en-US" sz="25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Separate decisioning, orchestration, and ledgers so each can scale and fail independently.</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TECHNICAL APPENDIX</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12</a:t>
            </a:r>
            <a:endParaRPr lang="en-US" sz="800" dirty="0"/>
          </a:p>
        </p:txBody>
      </p:sp>
      <p:sp>
        <p:nvSpPr>
          <p:cNvPr id="12" name="Shape 9"/>
          <p:cNvSpPr/>
          <p:nvPr/>
        </p:nvSpPr>
        <p:spPr>
          <a:xfrm>
            <a:off x="594360" y="2286000"/>
            <a:ext cx="2057400" cy="658368"/>
          </a:xfrm>
          <a:prstGeom prst="rect">
            <a:avLst/>
          </a:prstGeom>
          <a:solidFill>
            <a:srgbClr val="E8EDFF"/>
          </a:solidFill>
          <a:ln w="12700">
            <a:solidFill>
              <a:srgbClr val="E8EDFF"/>
            </a:solidFill>
            <a:prstDash val="solid"/>
          </a:ln>
        </p:spPr>
      </p:sp>
      <p:sp>
        <p:nvSpPr>
          <p:cNvPr id="13" name="Text 10"/>
          <p:cNvSpPr/>
          <p:nvPr/>
        </p:nvSpPr>
        <p:spPr>
          <a:xfrm>
            <a:off x="685800" y="2404872"/>
            <a:ext cx="1874520" cy="429768"/>
          </a:xfrm>
          <a:prstGeom prst="rect">
            <a:avLst/>
          </a:prstGeom>
          <a:noFill/>
          <a:ln/>
        </p:spPr>
        <p:txBody>
          <a:bodyPr wrap="square" lIns="0" tIns="0" rIns="0" bIns="0" rtlCol="0" anchor="ctr">
            <a:normAutofit/>
          </a:bodyPr>
          <a:lstStyle/>
          <a:p>
            <a:pPr algn="ctr" indent="0" marL="0">
              <a:buNone/>
            </a:pPr>
            <a:r>
              <a:rPr lang="en-US" sz="1050" b="1" dirty="0">
                <a:solidFill>
                  <a:srgbClr val="3566E8"/>
                </a:solidFill>
              </a:rPr>
              <a:t>Buyer mobile</a:t>
            </a:r>
            <a:endParaRPr lang="en-US" sz="1050" dirty="0"/>
          </a:p>
          <a:p>
            <a:pPr algn="ctr" indent="0" marL="0">
              <a:buNone/>
            </a:pPr>
            <a:r>
              <a:rPr lang="en-US" sz="1050" b="1" dirty="0">
                <a:solidFill>
                  <a:srgbClr val="3566E8"/>
                </a:solidFill>
              </a:rPr>
              <a:t>Seller portal</a:t>
            </a:r>
            <a:endParaRPr lang="en-US" sz="1050" dirty="0"/>
          </a:p>
        </p:txBody>
      </p:sp>
      <p:sp>
        <p:nvSpPr>
          <p:cNvPr id="14" name="Shape 11"/>
          <p:cNvSpPr/>
          <p:nvPr/>
        </p:nvSpPr>
        <p:spPr>
          <a:xfrm>
            <a:off x="594360" y="3246120"/>
            <a:ext cx="2057400" cy="658368"/>
          </a:xfrm>
          <a:prstGeom prst="rect">
            <a:avLst/>
          </a:prstGeom>
          <a:solidFill>
            <a:srgbClr val="EFF9CB"/>
          </a:solidFill>
          <a:ln w="12700">
            <a:solidFill>
              <a:srgbClr val="EFF9CB"/>
            </a:solidFill>
            <a:prstDash val="solid"/>
          </a:ln>
        </p:spPr>
      </p:sp>
      <p:sp>
        <p:nvSpPr>
          <p:cNvPr id="15" name="Text 12"/>
          <p:cNvSpPr/>
          <p:nvPr/>
        </p:nvSpPr>
        <p:spPr>
          <a:xfrm>
            <a:off x="685800" y="3364992"/>
            <a:ext cx="1874520" cy="429768"/>
          </a:xfrm>
          <a:prstGeom prst="rect">
            <a:avLst/>
          </a:prstGeom>
          <a:noFill/>
          <a:ln/>
        </p:spPr>
        <p:txBody>
          <a:bodyPr wrap="square" lIns="0" tIns="0" rIns="0" bIns="0" rtlCol="0" anchor="ctr">
            <a:normAutofit/>
          </a:bodyPr>
          <a:lstStyle/>
          <a:p>
            <a:pPr algn="ctr" indent="0" marL="0">
              <a:buNone/>
            </a:pPr>
            <a:r>
              <a:rPr lang="en-US" sz="1050" b="1" dirty="0">
                <a:solidFill>
                  <a:srgbClr val="668700"/>
                </a:solidFill>
              </a:rPr>
              <a:t>User signals</a:t>
            </a:r>
            <a:endParaRPr lang="en-US" sz="1050" dirty="0"/>
          </a:p>
          <a:p>
            <a:pPr algn="ctr" indent="0" marL="0">
              <a:buNone/>
            </a:pPr>
            <a:r>
              <a:rPr lang="en-US" sz="1050" b="1" dirty="0">
                <a:solidFill>
                  <a:srgbClr val="668700"/>
                </a:solidFill>
              </a:rPr>
              <a:t>Catalogue feeds</a:t>
            </a:r>
            <a:endParaRPr lang="en-US" sz="1050" dirty="0"/>
          </a:p>
        </p:txBody>
      </p:sp>
      <p:sp>
        <p:nvSpPr>
          <p:cNvPr id="16" name="Shape 13"/>
          <p:cNvSpPr/>
          <p:nvPr/>
        </p:nvSpPr>
        <p:spPr>
          <a:xfrm>
            <a:off x="3127248" y="2286000"/>
            <a:ext cx="2084832" cy="658368"/>
          </a:xfrm>
          <a:prstGeom prst="rect">
            <a:avLst/>
          </a:prstGeom>
          <a:solidFill>
            <a:srgbClr val="FFFFFF"/>
          </a:solidFill>
          <a:ln w="12700">
            <a:solidFill>
              <a:srgbClr val="DFE2DB"/>
            </a:solidFill>
            <a:prstDash val="solid"/>
          </a:ln>
        </p:spPr>
      </p:sp>
      <p:sp>
        <p:nvSpPr>
          <p:cNvPr id="17" name="Text 14"/>
          <p:cNvSpPr/>
          <p:nvPr/>
        </p:nvSpPr>
        <p:spPr>
          <a:xfrm>
            <a:off x="3218688" y="2404872"/>
            <a:ext cx="1901952" cy="429768"/>
          </a:xfrm>
          <a:prstGeom prst="rect">
            <a:avLst/>
          </a:prstGeom>
          <a:noFill/>
          <a:ln/>
        </p:spPr>
        <p:txBody>
          <a:bodyPr wrap="square" lIns="0" tIns="0" rIns="0" bIns="0" rtlCol="0" anchor="ctr">
            <a:normAutofit/>
          </a:bodyPr>
          <a:lstStyle/>
          <a:p>
            <a:pPr algn="ctr" indent="0" marL="0">
              <a:buNone/>
            </a:pPr>
            <a:r>
              <a:rPr lang="en-US" sz="1050" b="1" dirty="0">
                <a:solidFill>
                  <a:srgbClr val="171817"/>
                </a:solidFill>
              </a:rPr>
              <a:t>Catalogue +</a:t>
            </a:r>
            <a:endParaRPr lang="en-US" sz="1050" dirty="0"/>
          </a:p>
          <a:p>
            <a:pPr algn="ctr" indent="0" marL="0">
              <a:buNone/>
            </a:pPr>
            <a:r>
              <a:rPr lang="en-US" sz="1050" b="1" dirty="0">
                <a:solidFill>
                  <a:srgbClr val="171817"/>
                </a:solidFill>
              </a:rPr>
              <a:t>SKU risk</a:t>
            </a:r>
            <a:endParaRPr lang="en-US" sz="1050" dirty="0"/>
          </a:p>
        </p:txBody>
      </p:sp>
      <p:sp>
        <p:nvSpPr>
          <p:cNvPr id="18" name="Shape 15"/>
          <p:cNvSpPr/>
          <p:nvPr/>
        </p:nvSpPr>
        <p:spPr>
          <a:xfrm>
            <a:off x="3127248" y="3246120"/>
            <a:ext cx="2084832" cy="658368"/>
          </a:xfrm>
          <a:prstGeom prst="rect">
            <a:avLst/>
          </a:prstGeom>
          <a:solidFill>
            <a:srgbClr val="FFFFFF"/>
          </a:solidFill>
          <a:ln w="12700">
            <a:solidFill>
              <a:srgbClr val="DFE2DB"/>
            </a:solidFill>
            <a:prstDash val="solid"/>
          </a:ln>
        </p:spPr>
      </p:sp>
      <p:sp>
        <p:nvSpPr>
          <p:cNvPr id="19" name="Text 16"/>
          <p:cNvSpPr/>
          <p:nvPr/>
        </p:nvSpPr>
        <p:spPr>
          <a:xfrm>
            <a:off x="3218688" y="3364992"/>
            <a:ext cx="1901952" cy="429768"/>
          </a:xfrm>
          <a:prstGeom prst="rect">
            <a:avLst/>
          </a:prstGeom>
          <a:noFill/>
          <a:ln/>
        </p:spPr>
        <p:txBody>
          <a:bodyPr wrap="square" lIns="0" tIns="0" rIns="0" bIns="0" rtlCol="0" anchor="ctr">
            <a:normAutofit/>
          </a:bodyPr>
          <a:lstStyle/>
          <a:p>
            <a:pPr algn="ctr" indent="0" marL="0">
              <a:buNone/>
            </a:pPr>
            <a:r>
              <a:rPr lang="en-US" sz="1050" b="1" dirty="0">
                <a:solidFill>
                  <a:srgbClr val="171817"/>
                </a:solidFill>
              </a:rPr>
              <a:t>Credit eligibility +</a:t>
            </a:r>
            <a:endParaRPr lang="en-US" sz="1050" dirty="0"/>
          </a:p>
          <a:p>
            <a:pPr algn="ctr" indent="0" marL="0">
              <a:buNone/>
            </a:pPr>
            <a:r>
              <a:rPr lang="en-US" sz="1050" b="1" dirty="0">
                <a:solidFill>
                  <a:srgbClr val="171817"/>
                </a:solidFill>
              </a:rPr>
              <a:t>offer engine</a:t>
            </a:r>
            <a:endParaRPr lang="en-US" sz="1050" dirty="0"/>
          </a:p>
        </p:txBody>
      </p:sp>
      <p:sp>
        <p:nvSpPr>
          <p:cNvPr id="20" name="Shape 17"/>
          <p:cNvSpPr/>
          <p:nvPr/>
        </p:nvSpPr>
        <p:spPr>
          <a:xfrm>
            <a:off x="5696712" y="2734056"/>
            <a:ext cx="2212848" cy="804672"/>
          </a:xfrm>
          <a:prstGeom prst="rect">
            <a:avLst/>
          </a:prstGeom>
          <a:solidFill>
            <a:srgbClr val="171817"/>
          </a:solidFill>
          <a:ln w="12700">
            <a:solidFill>
              <a:srgbClr val="171817"/>
            </a:solidFill>
            <a:prstDash val="solid"/>
          </a:ln>
        </p:spPr>
      </p:sp>
      <p:sp>
        <p:nvSpPr>
          <p:cNvPr id="21" name="Text 18"/>
          <p:cNvSpPr/>
          <p:nvPr/>
        </p:nvSpPr>
        <p:spPr>
          <a:xfrm>
            <a:off x="5788152" y="2852928"/>
            <a:ext cx="2029968" cy="576072"/>
          </a:xfrm>
          <a:prstGeom prst="rect">
            <a:avLst/>
          </a:prstGeom>
          <a:noFill/>
          <a:ln/>
        </p:spPr>
        <p:txBody>
          <a:bodyPr wrap="square" lIns="0" tIns="0" rIns="0" bIns="0" rtlCol="0" anchor="ctr">
            <a:normAutofit/>
          </a:bodyPr>
          <a:lstStyle/>
          <a:p>
            <a:pPr algn="ctr" indent="0" marL="0">
              <a:buNone/>
            </a:pPr>
            <a:r>
              <a:rPr lang="en-US" sz="1050" b="1" dirty="0">
                <a:solidFill>
                  <a:srgbClr val="C9F044"/>
                </a:solidFill>
              </a:rPr>
              <a:t>CHECKOUT</a:t>
            </a:r>
            <a:endParaRPr lang="en-US" sz="1050" dirty="0"/>
          </a:p>
          <a:p>
            <a:pPr algn="ctr" indent="0" marL="0">
              <a:buNone/>
            </a:pPr>
            <a:r>
              <a:rPr lang="en-US" sz="1050" b="1" dirty="0">
                <a:solidFill>
                  <a:srgbClr val="C9F044"/>
                </a:solidFill>
              </a:rPr>
              <a:t>ORCHESTRATOR</a:t>
            </a:r>
            <a:endParaRPr lang="en-US" sz="1050" dirty="0"/>
          </a:p>
        </p:txBody>
      </p:sp>
      <p:sp>
        <p:nvSpPr>
          <p:cNvPr id="22" name="Shape 19"/>
          <p:cNvSpPr/>
          <p:nvPr/>
        </p:nvSpPr>
        <p:spPr>
          <a:xfrm>
            <a:off x="8385048" y="2057400"/>
            <a:ext cx="1517904" cy="566928"/>
          </a:xfrm>
          <a:prstGeom prst="rect">
            <a:avLst/>
          </a:prstGeom>
          <a:solidFill>
            <a:srgbClr val="E8EDFF"/>
          </a:solidFill>
          <a:ln w="12700">
            <a:solidFill>
              <a:srgbClr val="E8EDFF"/>
            </a:solidFill>
            <a:prstDash val="solid"/>
          </a:ln>
        </p:spPr>
      </p:sp>
      <p:sp>
        <p:nvSpPr>
          <p:cNvPr id="23" name="Text 20"/>
          <p:cNvSpPr/>
          <p:nvPr/>
        </p:nvSpPr>
        <p:spPr>
          <a:xfrm>
            <a:off x="8476488" y="2176272"/>
            <a:ext cx="1335024" cy="338328"/>
          </a:xfrm>
          <a:prstGeom prst="rect">
            <a:avLst/>
          </a:prstGeom>
          <a:noFill/>
          <a:ln/>
        </p:spPr>
        <p:txBody>
          <a:bodyPr wrap="square" lIns="0" tIns="0" rIns="0" bIns="0" rtlCol="0" anchor="ctr">
            <a:normAutofit/>
          </a:bodyPr>
          <a:lstStyle/>
          <a:p>
            <a:pPr algn="ctr" indent="0" marL="0">
              <a:buNone/>
            </a:pPr>
            <a:r>
              <a:rPr lang="en-US" sz="1050" b="1" dirty="0">
                <a:solidFill>
                  <a:srgbClr val="3566E8"/>
                </a:solidFill>
              </a:rPr>
              <a:t>Payment</a:t>
            </a:r>
            <a:endParaRPr lang="en-US" sz="1050" dirty="0"/>
          </a:p>
        </p:txBody>
      </p:sp>
      <p:sp>
        <p:nvSpPr>
          <p:cNvPr id="24" name="Shape 21"/>
          <p:cNvSpPr/>
          <p:nvPr/>
        </p:nvSpPr>
        <p:spPr>
          <a:xfrm>
            <a:off x="10094976" y="2057400"/>
            <a:ext cx="1517904" cy="566928"/>
          </a:xfrm>
          <a:prstGeom prst="rect">
            <a:avLst/>
          </a:prstGeom>
          <a:solidFill>
            <a:srgbClr val="FFF5D9"/>
          </a:solidFill>
          <a:ln w="12700">
            <a:solidFill>
              <a:srgbClr val="FFF5D9"/>
            </a:solidFill>
            <a:prstDash val="solid"/>
          </a:ln>
        </p:spPr>
      </p:sp>
      <p:sp>
        <p:nvSpPr>
          <p:cNvPr id="25" name="Text 22"/>
          <p:cNvSpPr/>
          <p:nvPr/>
        </p:nvSpPr>
        <p:spPr>
          <a:xfrm>
            <a:off x="10186416" y="2176272"/>
            <a:ext cx="1335024" cy="338328"/>
          </a:xfrm>
          <a:prstGeom prst="rect">
            <a:avLst/>
          </a:prstGeom>
          <a:noFill/>
          <a:ln/>
        </p:spPr>
        <p:txBody>
          <a:bodyPr wrap="square" lIns="0" tIns="0" rIns="0" bIns="0" rtlCol="0" anchor="ctr">
            <a:normAutofit/>
          </a:bodyPr>
          <a:lstStyle/>
          <a:p>
            <a:pPr algn="ctr" indent="0" marL="0">
              <a:buNone/>
            </a:pPr>
            <a:r>
              <a:rPr lang="en-US" sz="1050" b="1" dirty="0">
                <a:solidFill>
                  <a:srgbClr val="E9A323"/>
                </a:solidFill>
              </a:rPr>
              <a:t>Mandate</a:t>
            </a:r>
            <a:endParaRPr lang="en-US" sz="1050" dirty="0"/>
          </a:p>
        </p:txBody>
      </p:sp>
      <p:sp>
        <p:nvSpPr>
          <p:cNvPr id="26" name="Shape 23"/>
          <p:cNvSpPr/>
          <p:nvPr/>
        </p:nvSpPr>
        <p:spPr>
          <a:xfrm>
            <a:off x="8385048" y="2852928"/>
            <a:ext cx="1517904" cy="566928"/>
          </a:xfrm>
          <a:prstGeom prst="rect">
            <a:avLst/>
          </a:prstGeom>
          <a:solidFill>
            <a:srgbClr val="DFF4E5"/>
          </a:solidFill>
          <a:ln w="12700">
            <a:solidFill>
              <a:srgbClr val="DFF4E5"/>
            </a:solidFill>
            <a:prstDash val="solid"/>
          </a:ln>
        </p:spPr>
      </p:sp>
      <p:sp>
        <p:nvSpPr>
          <p:cNvPr id="27" name="Text 24"/>
          <p:cNvSpPr/>
          <p:nvPr/>
        </p:nvSpPr>
        <p:spPr>
          <a:xfrm>
            <a:off x="8476488" y="2971800"/>
            <a:ext cx="1335024" cy="338328"/>
          </a:xfrm>
          <a:prstGeom prst="rect">
            <a:avLst/>
          </a:prstGeom>
          <a:noFill/>
          <a:ln/>
        </p:spPr>
        <p:txBody>
          <a:bodyPr wrap="square" lIns="0" tIns="0" rIns="0" bIns="0" rtlCol="0" anchor="ctr">
            <a:normAutofit/>
          </a:bodyPr>
          <a:lstStyle/>
          <a:p>
            <a:pPr algn="ctr" indent="0" marL="0">
              <a:buNone/>
            </a:pPr>
            <a:r>
              <a:rPr lang="en-US" sz="1050" b="1" dirty="0">
                <a:solidFill>
                  <a:srgbClr val="237346"/>
                </a:solidFill>
              </a:rPr>
              <a:t>Lender</a:t>
            </a:r>
            <a:endParaRPr lang="en-US" sz="1050" dirty="0"/>
          </a:p>
        </p:txBody>
      </p:sp>
      <p:sp>
        <p:nvSpPr>
          <p:cNvPr id="28" name="Shape 25"/>
          <p:cNvSpPr/>
          <p:nvPr/>
        </p:nvSpPr>
        <p:spPr>
          <a:xfrm>
            <a:off x="10094976" y="2852928"/>
            <a:ext cx="1517904" cy="566928"/>
          </a:xfrm>
          <a:prstGeom prst="rect">
            <a:avLst/>
          </a:prstGeom>
          <a:solidFill>
            <a:srgbClr val="FFEBE8"/>
          </a:solidFill>
          <a:ln w="12700">
            <a:solidFill>
              <a:srgbClr val="FFEBE8"/>
            </a:solidFill>
            <a:prstDash val="solid"/>
          </a:ln>
        </p:spPr>
      </p:sp>
      <p:sp>
        <p:nvSpPr>
          <p:cNvPr id="29" name="Text 26"/>
          <p:cNvSpPr/>
          <p:nvPr/>
        </p:nvSpPr>
        <p:spPr>
          <a:xfrm>
            <a:off x="10186416" y="2971800"/>
            <a:ext cx="1335024" cy="338328"/>
          </a:xfrm>
          <a:prstGeom prst="rect">
            <a:avLst/>
          </a:prstGeom>
          <a:noFill/>
          <a:ln/>
        </p:spPr>
        <p:txBody>
          <a:bodyPr wrap="square" lIns="0" tIns="0" rIns="0" bIns="0" rtlCol="0" anchor="ctr">
            <a:normAutofit/>
          </a:bodyPr>
          <a:lstStyle/>
          <a:p>
            <a:pPr algn="ctr" indent="0" marL="0">
              <a:buNone/>
            </a:pPr>
            <a:r>
              <a:rPr lang="en-US" sz="1050" b="1" dirty="0">
                <a:solidFill>
                  <a:srgbClr val="F26A5D"/>
                </a:solidFill>
              </a:rPr>
              <a:t>Order</a:t>
            </a:r>
            <a:endParaRPr lang="en-US" sz="1050" dirty="0"/>
          </a:p>
        </p:txBody>
      </p:sp>
      <p:sp>
        <p:nvSpPr>
          <p:cNvPr id="30" name="Shape 27"/>
          <p:cNvSpPr/>
          <p:nvPr/>
        </p:nvSpPr>
        <p:spPr>
          <a:xfrm>
            <a:off x="2724912" y="2514600"/>
            <a:ext cx="228600" cy="237744"/>
          </a:xfrm>
          <a:prstGeom prst="chevron">
            <a:avLst/>
          </a:prstGeom>
          <a:solidFill>
            <a:srgbClr val="C9CDC4"/>
          </a:solidFill>
          <a:ln w="12700">
            <a:solidFill>
              <a:srgbClr val="C9CDC4"/>
            </a:solidFill>
            <a:prstDash val="solid"/>
          </a:ln>
        </p:spPr>
      </p:sp>
      <p:sp>
        <p:nvSpPr>
          <p:cNvPr id="31" name="Shape 28"/>
          <p:cNvSpPr/>
          <p:nvPr/>
        </p:nvSpPr>
        <p:spPr>
          <a:xfrm>
            <a:off x="2724912" y="3474720"/>
            <a:ext cx="228600" cy="237744"/>
          </a:xfrm>
          <a:prstGeom prst="chevron">
            <a:avLst/>
          </a:prstGeom>
          <a:solidFill>
            <a:srgbClr val="C9CDC4"/>
          </a:solidFill>
          <a:ln w="12700">
            <a:solidFill>
              <a:srgbClr val="C9CDC4"/>
            </a:solidFill>
            <a:prstDash val="solid"/>
          </a:ln>
        </p:spPr>
      </p:sp>
      <p:sp>
        <p:nvSpPr>
          <p:cNvPr id="32" name="Shape 29"/>
          <p:cNvSpPr/>
          <p:nvPr/>
        </p:nvSpPr>
        <p:spPr>
          <a:xfrm>
            <a:off x="5285232" y="3017520"/>
            <a:ext cx="228600" cy="237744"/>
          </a:xfrm>
          <a:prstGeom prst="chevron">
            <a:avLst/>
          </a:prstGeom>
          <a:solidFill>
            <a:srgbClr val="C9CDC4"/>
          </a:solidFill>
          <a:ln w="12700">
            <a:solidFill>
              <a:srgbClr val="C9CDC4"/>
            </a:solidFill>
            <a:prstDash val="solid"/>
          </a:ln>
        </p:spPr>
      </p:sp>
      <p:sp>
        <p:nvSpPr>
          <p:cNvPr id="33" name="Shape 30"/>
          <p:cNvSpPr/>
          <p:nvPr/>
        </p:nvSpPr>
        <p:spPr>
          <a:xfrm>
            <a:off x="8001000" y="3017520"/>
            <a:ext cx="228600" cy="237744"/>
          </a:xfrm>
          <a:prstGeom prst="chevron">
            <a:avLst/>
          </a:prstGeom>
          <a:solidFill>
            <a:srgbClr val="C9CDC4"/>
          </a:solidFill>
          <a:ln w="12700">
            <a:solidFill>
              <a:srgbClr val="C9CDC4"/>
            </a:solidFill>
            <a:prstDash val="solid"/>
          </a:ln>
        </p:spPr>
      </p:sp>
      <p:sp>
        <p:nvSpPr>
          <p:cNvPr id="34" name="Shape 31"/>
          <p:cNvSpPr/>
          <p:nvPr/>
        </p:nvSpPr>
        <p:spPr>
          <a:xfrm>
            <a:off x="1627632" y="4270248"/>
            <a:ext cx="8412480" cy="0"/>
          </a:xfrm>
          <a:prstGeom prst="line">
            <a:avLst/>
          </a:prstGeom>
          <a:noFill/>
          <a:ln w="15240">
            <a:solidFill>
              <a:srgbClr val="C9CDC4"/>
            </a:solidFill>
            <a:prstDash val="solid"/>
            <a:headEnd type="none"/>
            <a:tailEnd type="triangle"/>
          </a:ln>
        </p:spPr>
      </p:sp>
      <p:sp>
        <p:nvSpPr>
          <p:cNvPr id="35" name="Text 32"/>
          <p:cNvSpPr/>
          <p:nvPr/>
        </p:nvSpPr>
        <p:spPr>
          <a:xfrm>
            <a:off x="594360" y="4526280"/>
            <a:ext cx="2194560" cy="164592"/>
          </a:xfrm>
          <a:prstGeom prst="rect">
            <a:avLst/>
          </a:prstGeom>
          <a:noFill/>
          <a:ln/>
        </p:spPr>
        <p:txBody>
          <a:bodyPr wrap="square" lIns="0" tIns="0" rIns="0" bIns="0" rtlCol="0" anchor="ctr"/>
          <a:lstStyle/>
          <a:p>
            <a:pPr indent="0" marL="0">
              <a:buNone/>
            </a:pPr>
            <a:r>
              <a:rPr lang="en-US" sz="750" b="1" spc="130" kern="0" dirty="0">
                <a:solidFill>
                  <a:srgbClr val="666C64"/>
                </a:solidFill>
              </a:rPr>
              <a:t>EVENTS AND READ MODELS</a:t>
            </a:r>
            <a:endParaRPr lang="en-US" sz="750" dirty="0"/>
          </a:p>
        </p:txBody>
      </p:sp>
      <p:sp>
        <p:nvSpPr>
          <p:cNvPr id="36" name="Shape 33"/>
          <p:cNvSpPr/>
          <p:nvPr/>
        </p:nvSpPr>
        <p:spPr>
          <a:xfrm>
            <a:off x="594360" y="4882896"/>
            <a:ext cx="1965960" cy="621792"/>
          </a:xfrm>
          <a:prstGeom prst="rect">
            <a:avLst/>
          </a:prstGeom>
          <a:solidFill>
            <a:srgbClr val="FFFFFF"/>
          </a:solidFill>
          <a:ln w="12700">
            <a:solidFill>
              <a:srgbClr val="DFE2DB"/>
            </a:solidFill>
            <a:prstDash val="solid"/>
          </a:ln>
        </p:spPr>
      </p:sp>
      <p:sp>
        <p:nvSpPr>
          <p:cNvPr id="37" name="Text 34"/>
          <p:cNvSpPr/>
          <p:nvPr/>
        </p:nvSpPr>
        <p:spPr>
          <a:xfrm>
            <a:off x="704088" y="5084064"/>
            <a:ext cx="1746504" cy="182880"/>
          </a:xfrm>
          <a:prstGeom prst="rect">
            <a:avLst/>
          </a:prstGeom>
          <a:noFill/>
          <a:ln/>
        </p:spPr>
        <p:txBody>
          <a:bodyPr wrap="square" lIns="0" tIns="0" rIns="0" bIns="0" rtlCol="0" anchor="ctr">
            <a:normAutofit/>
          </a:bodyPr>
          <a:lstStyle/>
          <a:p>
            <a:pPr algn="ctr" indent="0" marL="0">
              <a:buNone/>
            </a:pPr>
            <a:r>
              <a:rPr lang="en-US" sz="980" b="1" dirty="0">
                <a:solidFill>
                  <a:srgbClr val="171817"/>
                </a:solidFill>
              </a:rPr>
              <a:t>Repayment ledger</a:t>
            </a:r>
            <a:endParaRPr lang="en-US" sz="980" dirty="0"/>
          </a:p>
        </p:txBody>
      </p:sp>
      <p:sp>
        <p:nvSpPr>
          <p:cNvPr id="38" name="Shape 35"/>
          <p:cNvSpPr/>
          <p:nvPr/>
        </p:nvSpPr>
        <p:spPr>
          <a:xfrm>
            <a:off x="2834640" y="4882896"/>
            <a:ext cx="1965960" cy="621792"/>
          </a:xfrm>
          <a:prstGeom prst="rect">
            <a:avLst/>
          </a:prstGeom>
          <a:solidFill>
            <a:srgbClr val="FFFFFF"/>
          </a:solidFill>
          <a:ln w="12700">
            <a:solidFill>
              <a:srgbClr val="DFE2DB"/>
            </a:solidFill>
            <a:prstDash val="solid"/>
          </a:ln>
        </p:spPr>
      </p:sp>
      <p:sp>
        <p:nvSpPr>
          <p:cNvPr id="39" name="Text 36"/>
          <p:cNvSpPr/>
          <p:nvPr/>
        </p:nvSpPr>
        <p:spPr>
          <a:xfrm>
            <a:off x="2944368" y="5084064"/>
            <a:ext cx="1746504" cy="182880"/>
          </a:xfrm>
          <a:prstGeom prst="rect">
            <a:avLst/>
          </a:prstGeom>
          <a:noFill/>
          <a:ln/>
        </p:spPr>
        <p:txBody>
          <a:bodyPr wrap="square" lIns="0" tIns="0" rIns="0" bIns="0" rtlCol="0" anchor="ctr">
            <a:normAutofit/>
          </a:bodyPr>
          <a:lstStyle/>
          <a:p>
            <a:pPr algn="ctr" indent="0" marL="0">
              <a:buNone/>
            </a:pPr>
            <a:r>
              <a:rPr lang="en-US" sz="980" b="1" dirty="0">
                <a:solidFill>
                  <a:srgbClr val="171817"/>
                </a:solidFill>
              </a:rPr>
              <a:t>Refund reconciliation</a:t>
            </a:r>
            <a:endParaRPr lang="en-US" sz="980" dirty="0"/>
          </a:p>
        </p:txBody>
      </p:sp>
      <p:sp>
        <p:nvSpPr>
          <p:cNvPr id="40" name="Shape 37"/>
          <p:cNvSpPr/>
          <p:nvPr/>
        </p:nvSpPr>
        <p:spPr>
          <a:xfrm>
            <a:off x="5074920" y="4882896"/>
            <a:ext cx="1965960" cy="621792"/>
          </a:xfrm>
          <a:prstGeom prst="rect">
            <a:avLst/>
          </a:prstGeom>
          <a:solidFill>
            <a:srgbClr val="EFF9CB"/>
          </a:solidFill>
          <a:ln w="12700">
            <a:solidFill>
              <a:srgbClr val="EFF9CB"/>
            </a:solidFill>
            <a:prstDash val="solid"/>
          </a:ln>
        </p:spPr>
      </p:sp>
      <p:sp>
        <p:nvSpPr>
          <p:cNvPr id="41" name="Text 38"/>
          <p:cNvSpPr/>
          <p:nvPr/>
        </p:nvSpPr>
        <p:spPr>
          <a:xfrm>
            <a:off x="5184648" y="5084064"/>
            <a:ext cx="1746504" cy="182880"/>
          </a:xfrm>
          <a:prstGeom prst="rect">
            <a:avLst/>
          </a:prstGeom>
          <a:noFill/>
          <a:ln/>
        </p:spPr>
        <p:txBody>
          <a:bodyPr wrap="square" lIns="0" tIns="0" rIns="0" bIns="0" rtlCol="0" anchor="ctr">
            <a:normAutofit/>
          </a:bodyPr>
          <a:lstStyle/>
          <a:p>
            <a:pPr algn="ctr" indent="0" marL="0">
              <a:buNone/>
            </a:pPr>
            <a:r>
              <a:rPr lang="en-US" sz="980" b="1" dirty="0">
                <a:solidFill>
                  <a:srgbClr val="171817"/>
                </a:solidFill>
              </a:rPr>
              <a:t>Unified timeline</a:t>
            </a:r>
            <a:endParaRPr lang="en-US" sz="980" dirty="0"/>
          </a:p>
        </p:txBody>
      </p:sp>
      <p:sp>
        <p:nvSpPr>
          <p:cNvPr id="42" name="Shape 39"/>
          <p:cNvSpPr/>
          <p:nvPr/>
        </p:nvSpPr>
        <p:spPr>
          <a:xfrm>
            <a:off x="7315200" y="4882896"/>
            <a:ext cx="1965960" cy="621792"/>
          </a:xfrm>
          <a:prstGeom prst="rect">
            <a:avLst/>
          </a:prstGeom>
          <a:solidFill>
            <a:srgbClr val="FFFFFF"/>
          </a:solidFill>
          <a:ln w="12700">
            <a:solidFill>
              <a:srgbClr val="DFE2DB"/>
            </a:solidFill>
            <a:prstDash val="solid"/>
          </a:ln>
        </p:spPr>
      </p:sp>
      <p:sp>
        <p:nvSpPr>
          <p:cNvPr id="43" name="Text 40"/>
          <p:cNvSpPr/>
          <p:nvPr/>
        </p:nvSpPr>
        <p:spPr>
          <a:xfrm>
            <a:off x="7424928" y="5084064"/>
            <a:ext cx="1746504" cy="182880"/>
          </a:xfrm>
          <a:prstGeom prst="rect">
            <a:avLst/>
          </a:prstGeom>
          <a:noFill/>
          <a:ln/>
        </p:spPr>
        <p:txBody>
          <a:bodyPr wrap="square" lIns="0" tIns="0" rIns="0" bIns="0" rtlCol="0" anchor="ctr">
            <a:normAutofit/>
          </a:bodyPr>
          <a:lstStyle/>
          <a:p>
            <a:pPr algn="ctr" indent="0" marL="0">
              <a:buNone/>
            </a:pPr>
            <a:r>
              <a:rPr lang="en-US" sz="980" b="1" dirty="0">
                <a:solidFill>
                  <a:srgbClr val="171817"/>
                </a:solidFill>
              </a:rPr>
              <a:t>Seller settlement</a:t>
            </a:r>
            <a:endParaRPr lang="en-US" sz="980" dirty="0"/>
          </a:p>
        </p:txBody>
      </p:sp>
      <p:sp>
        <p:nvSpPr>
          <p:cNvPr id="44" name="Shape 41"/>
          <p:cNvSpPr/>
          <p:nvPr/>
        </p:nvSpPr>
        <p:spPr>
          <a:xfrm>
            <a:off x="9555480" y="4882896"/>
            <a:ext cx="1965960" cy="621792"/>
          </a:xfrm>
          <a:prstGeom prst="rect">
            <a:avLst/>
          </a:prstGeom>
          <a:solidFill>
            <a:srgbClr val="FFFFFF"/>
          </a:solidFill>
          <a:ln w="12700">
            <a:solidFill>
              <a:srgbClr val="DFE2DB"/>
            </a:solidFill>
            <a:prstDash val="solid"/>
          </a:ln>
        </p:spPr>
      </p:sp>
      <p:sp>
        <p:nvSpPr>
          <p:cNvPr id="45" name="Text 42"/>
          <p:cNvSpPr/>
          <p:nvPr/>
        </p:nvSpPr>
        <p:spPr>
          <a:xfrm>
            <a:off x="9665208" y="5084064"/>
            <a:ext cx="1746504" cy="182880"/>
          </a:xfrm>
          <a:prstGeom prst="rect">
            <a:avLst/>
          </a:prstGeom>
          <a:noFill/>
          <a:ln/>
        </p:spPr>
        <p:txBody>
          <a:bodyPr wrap="square" lIns="0" tIns="0" rIns="0" bIns="0" rtlCol="0" anchor="ctr">
            <a:normAutofit/>
          </a:bodyPr>
          <a:lstStyle/>
          <a:p>
            <a:pPr algn="ctr" indent="0" marL="0">
              <a:buNone/>
            </a:pPr>
            <a:r>
              <a:rPr lang="en-US" sz="980" b="1" dirty="0">
                <a:solidFill>
                  <a:srgbClr val="171817"/>
                </a:solidFill>
              </a:rPr>
              <a:t>Risk + analytics</a:t>
            </a:r>
            <a:endParaRPr lang="en-US" sz="9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APPENDIX B</a:t>
            </a:r>
            <a:endParaRPr lang="en-US" sz="850" dirty="0"/>
          </a:p>
        </p:txBody>
      </p:sp>
      <p:sp>
        <p:nvSpPr>
          <p:cNvPr id="6" name="Text 4"/>
          <p:cNvSpPr/>
          <p:nvPr/>
        </p:nvSpPr>
        <p:spPr>
          <a:xfrm>
            <a:off x="566928" y="1033272"/>
            <a:ext cx="10332720" cy="530352"/>
          </a:xfrm>
          <a:prstGeom prst="rect">
            <a:avLst/>
          </a:prstGeom>
          <a:noFill/>
          <a:ln/>
        </p:spPr>
        <p:txBody>
          <a:bodyPr wrap="square" lIns="0" tIns="0" rIns="0" bIns="0" rtlCol="0" anchor="ctr">
            <a:normAutofit/>
          </a:bodyPr>
          <a:lstStyle/>
          <a:p>
            <a:pPr indent="0" marL="0">
              <a:buNone/>
            </a:pPr>
            <a:r>
              <a:rPr lang="en-US" sz="2700" b="1" dirty="0">
                <a:solidFill>
                  <a:srgbClr val="171817"/>
                </a:solidFill>
              </a:rPr>
              <a:t>Core schema: one checkout session joins commerce and credit.</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The model keeps user eligibility, SKU rules, financial obligation, and fulfilment independently auditable.</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TECHNICAL APPENDIX</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13</a:t>
            </a:r>
            <a:endParaRPr lang="en-US" sz="800" dirty="0"/>
          </a:p>
        </p:txBody>
      </p:sp>
      <p:sp>
        <p:nvSpPr>
          <p:cNvPr id="12" name="Shape 9"/>
          <p:cNvSpPr/>
          <p:nvPr/>
        </p:nvSpPr>
        <p:spPr>
          <a:xfrm>
            <a:off x="594360" y="2313432"/>
            <a:ext cx="2057400" cy="3063240"/>
          </a:xfrm>
          <a:prstGeom prst="rect">
            <a:avLst/>
          </a:prstGeom>
          <a:solidFill>
            <a:srgbClr val="E8EDFF"/>
          </a:solidFill>
          <a:ln w="12700">
            <a:solidFill>
              <a:srgbClr val="E8EDFF"/>
            </a:solidFill>
            <a:prstDash val="solid"/>
          </a:ln>
        </p:spPr>
      </p:sp>
      <p:sp>
        <p:nvSpPr>
          <p:cNvPr id="13" name="Text 10"/>
          <p:cNvSpPr/>
          <p:nvPr/>
        </p:nvSpPr>
        <p:spPr>
          <a:xfrm>
            <a:off x="777240" y="2587752"/>
            <a:ext cx="1719072" cy="164592"/>
          </a:xfrm>
          <a:prstGeom prst="rect">
            <a:avLst/>
          </a:prstGeom>
          <a:noFill/>
          <a:ln/>
        </p:spPr>
        <p:txBody>
          <a:bodyPr wrap="square" lIns="0" tIns="0" rIns="0" bIns="0" rtlCol="0" anchor="ctr"/>
          <a:lstStyle/>
          <a:p>
            <a:pPr indent="0" marL="0">
              <a:buNone/>
            </a:pPr>
            <a:r>
              <a:rPr lang="en-US" sz="750" b="1" spc="130" kern="0" dirty="0">
                <a:solidFill>
                  <a:srgbClr val="3566E8"/>
                </a:solidFill>
              </a:rPr>
              <a:t>IDENTITY + RISK</a:t>
            </a:r>
            <a:endParaRPr lang="en-US" sz="750" dirty="0"/>
          </a:p>
        </p:txBody>
      </p:sp>
      <p:sp>
        <p:nvSpPr>
          <p:cNvPr id="14" name="Shape 11"/>
          <p:cNvSpPr/>
          <p:nvPr/>
        </p:nvSpPr>
        <p:spPr>
          <a:xfrm>
            <a:off x="768096" y="3063240"/>
            <a:ext cx="1709928" cy="438912"/>
          </a:xfrm>
          <a:prstGeom prst="roundRect">
            <a:avLst>
              <a:gd name="adj" fmla="val 8333"/>
            </a:avLst>
          </a:prstGeom>
          <a:solidFill>
            <a:srgbClr val="FFFFFF"/>
          </a:solidFill>
          <a:ln w="12700">
            <a:solidFill>
              <a:srgbClr val="FFFFFF"/>
            </a:solidFill>
            <a:prstDash val="solid"/>
          </a:ln>
        </p:spPr>
      </p:sp>
      <p:sp>
        <p:nvSpPr>
          <p:cNvPr id="15" name="Text 12"/>
          <p:cNvSpPr/>
          <p:nvPr/>
        </p:nvSpPr>
        <p:spPr>
          <a:xfrm>
            <a:off x="868680" y="3191256"/>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users</a:t>
            </a:r>
            <a:endParaRPr lang="en-US" sz="880" dirty="0"/>
          </a:p>
        </p:txBody>
      </p:sp>
      <p:sp>
        <p:nvSpPr>
          <p:cNvPr id="16" name="Shape 13"/>
          <p:cNvSpPr/>
          <p:nvPr/>
        </p:nvSpPr>
        <p:spPr>
          <a:xfrm>
            <a:off x="768096" y="3721608"/>
            <a:ext cx="1709928" cy="438912"/>
          </a:xfrm>
          <a:prstGeom prst="roundRect">
            <a:avLst>
              <a:gd name="adj" fmla="val 8333"/>
            </a:avLst>
          </a:prstGeom>
          <a:solidFill>
            <a:srgbClr val="FFFFFF"/>
          </a:solidFill>
          <a:ln w="12700">
            <a:solidFill>
              <a:srgbClr val="FFFFFF"/>
            </a:solidFill>
            <a:prstDash val="solid"/>
          </a:ln>
        </p:spPr>
      </p:sp>
      <p:sp>
        <p:nvSpPr>
          <p:cNvPr id="17" name="Text 14"/>
          <p:cNvSpPr/>
          <p:nvPr/>
        </p:nvSpPr>
        <p:spPr>
          <a:xfrm>
            <a:off x="868680" y="3849624"/>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user_financial_signals</a:t>
            </a:r>
            <a:endParaRPr lang="en-US" sz="880" dirty="0"/>
          </a:p>
        </p:txBody>
      </p:sp>
      <p:sp>
        <p:nvSpPr>
          <p:cNvPr id="18" name="Shape 15"/>
          <p:cNvSpPr/>
          <p:nvPr/>
        </p:nvSpPr>
        <p:spPr>
          <a:xfrm>
            <a:off x="768096" y="4379976"/>
            <a:ext cx="1709928" cy="438912"/>
          </a:xfrm>
          <a:prstGeom prst="roundRect">
            <a:avLst>
              <a:gd name="adj" fmla="val 8333"/>
            </a:avLst>
          </a:prstGeom>
          <a:solidFill>
            <a:srgbClr val="FFFFFF"/>
          </a:solidFill>
          <a:ln w="12700">
            <a:solidFill>
              <a:srgbClr val="FFFFFF"/>
            </a:solidFill>
            <a:prstDash val="solid"/>
          </a:ln>
        </p:spPr>
      </p:sp>
      <p:sp>
        <p:nvSpPr>
          <p:cNvPr id="19" name="Text 16"/>
          <p:cNvSpPr/>
          <p:nvPr/>
        </p:nvSpPr>
        <p:spPr>
          <a:xfrm>
            <a:off x="868680" y="4507992"/>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credit_profiles</a:t>
            </a:r>
            <a:endParaRPr lang="en-US" sz="880" dirty="0"/>
          </a:p>
        </p:txBody>
      </p:sp>
      <p:sp>
        <p:nvSpPr>
          <p:cNvPr id="20" name="Shape 17"/>
          <p:cNvSpPr/>
          <p:nvPr/>
        </p:nvSpPr>
        <p:spPr>
          <a:xfrm>
            <a:off x="2715768" y="3895344"/>
            <a:ext cx="164592" cy="237744"/>
          </a:xfrm>
          <a:prstGeom prst="chevron">
            <a:avLst/>
          </a:prstGeom>
          <a:solidFill>
            <a:srgbClr val="C9CDC4"/>
          </a:solidFill>
          <a:ln w="12700">
            <a:solidFill>
              <a:srgbClr val="C9CDC4"/>
            </a:solidFill>
            <a:prstDash val="solid"/>
          </a:ln>
        </p:spPr>
      </p:sp>
      <p:sp>
        <p:nvSpPr>
          <p:cNvPr id="21" name="Shape 18"/>
          <p:cNvSpPr/>
          <p:nvPr/>
        </p:nvSpPr>
        <p:spPr>
          <a:xfrm>
            <a:off x="2971800" y="2313432"/>
            <a:ext cx="2057400" cy="3063240"/>
          </a:xfrm>
          <a:prstGeom prst="rect">
            <a:avLst/>
          </a:prstGeom>
          <a:solidFill>
            <a:srgbClr val="EFF9CB"/>
          </a:solidFill>
          <a:ln w="12700">
            <a:solidFill>
              <a:srgbClr val="EFF9CB"/>
            </a:solidFill>
            <a:prstDash val="solid"/>
          </a:ln>
        </p:spPr>
      </p:sp>
      <p:sp>
        <p:nvSpPr>
          <p:cNvPr id="22" name="Text 19"/>
          <p:cNvSpPr/>
          <p:nvPr/>
        </p:nvSpPr>
        <p:spPr>
          <a:xfrm>
            <a:off x="3154680" y="2587752"/>
            <a:ext cx="1719072" cy="164592"/>
          </a:xfrm>
          <a:prstGeom prst="rect">
            <a:avLst/>
          </a:prstGeom>
          <a:noFill/>
          <a:ln/>
        </p:spPr>
        <p:txBody>
          <a:bodyPr wrap="square" lIns="0" tIns="0" rIns="0" bIns="0" rtlCol="0" anchor="ctr"/>
          <a:lstStyle/>
          <a:p>
            <a:pPr indent="0" marL="0">
              <a:buNone/>
            </a:pPr>
            <a:r>
              <a:rPr lang="en-US" sz="750" b="1" spc="130" kern="0" dirty="0">
                <a:solidFill>
                  <a:srgbClr val="668700"/>
                </a:solidFill>
              </a:rPr>
              <a:t>SUPPLY</a:t>
            </a:r>
            <a:endParaRPr lang="en-US" sz="750" dirty="0"/>
          </a:p>
        </p:txBody>
      </p:sp>
      <p:sp>
        <p:nvSpPr>
          <p:cNvPr id="23" name="Shape 20"/>
          <p:cNvSpPr/>
          <p:nvPr/>
        </p:nvSpPr>
        <p:spPr>
          <a:xfrm>
            <a:off x="3145536" y="3063240"/>
            <a:ext cx="1709928" cy="438912"/>
          </a:xfrm>
          <a:prstGeom prst="roundRect">
            <a:avLst>
              <a:gd name="adj" fmla="val 8333"/>
            </a:avLst>
          </a:prstGeom>
          <a:solidFill>
            <a:srgbClr val="FFFFFF"/>
          </a:solidFill>
          <a:ln w="12700">
            <a:solidFill>
              <a:srgbClr val="FFFFFF"/>
            </a:solidFill>
            <a:prstDash val="solid"/>
          </a:ln>
        </p:spPr>
      </p:sp>
      <p:sp>
        <p:nvSpPr>
          <p:cNvPr id="24" name="Text 21"/>
          <p:cNvSpPr/>
          <p:nvPr/>
        </p:nvSpPr>
        <p:spPr>
          <a:xfrm>
            <a:off x="3246120" y="3191256"/>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sellers</a:t>
            </a:r>
            <a:endParaRPr lang="en-US" sz="880" dirty="0"/>
          </a:p>
        </p:txBody>
      </p:sp>
      <p:sp>
        <p:nvSpPr>
          <p:cNvPr id="25" name="Shape 22"/>
          <p:cNvSpPr/>
          <p:nvPr/>
        </p:nvSpPr>
        <p:spPr>
          <a:xfrm>
            <a:off x="3145536" y="3721608"/>
            <a:ext cx="1709928" cy="438912"/>
          </a:xfrm>
          <a:prstGeom prst="roundRect">
            <a:avLst>
              <a:gd name="adj" fmla="val 8333"/>
            </a:avLst>
          </a:prstGeom>
          <a:solidFill>
            <a:srgbClr val="FFFFFF"/>
          </a:solidFill>
          <a:ln w="12700">
            <a:solidFill>
              <a:srgbClr val="FFFFFF"/>
            </a:solidFill>
            <a:prstDash val="solid"/>
          </a:ln>
        </p:spPr>
      </p:sp>
      <p:sp>
        <p:nvSpPr>
          <p:cNvPr id="26" name="Text 23"/>
          <p:cNvSpPr/>
          <p:nvPr/>
        </p:nvSpPr>
        <p:spPr>
          <a:xfrm>
            <a:off x="3246120" y="3849624"/>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products</a:t>
            </a:r>
            <a:endParaRPr lang="en-US" sz="880" dirty="0"/>
          </a:p>
        </p:txBody>
      </p:sp>
      <p:sp>
        <p:nvSpPr>
          <p:cNvPr id="27" name="Shape 24"/>
          <p:cNvSpPr/>
          <p:nvPr/>
        </p:nvSpPr>
        <p:spPr>
          <a:xfrm>
            <a:off x="3145536" y="4379976"/>
            <a:ext cx="1709928" cy="438912"/>
          </a:xfrm>
          <a:prstGeom prst="roundRect">
            <a:avLst>
              <a:gd name="adj" fmla="val 8333"/>
            </a:avLst>
          </a:prstGeom>
          <a:solidFill>
            <a:srgbClr val="FFFFFF"/>
          </a:solidFill>
          <a:ln w="12700">
            <a:solidFill>
              <a:srgbClr val="FFFFFF"/>
            </a:solidFill>
            <a:prstDash val="solid"/>
          </a:ln>
        </p:spPr>
      </p:sp>
      <p:sp>
        <p:nvSpPr>
          <p:cNvPr id="28" name="Text 25"/>
          <p:cNvSpPr/>
          <p:nvPr/>
        </p:nvSpPr>
        <p:spPr>
          <a:xfrm>
            <a:off x="3246120" y="4507992"/>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product_finance_rules</a:t>
            </a:r>
            <a:endParaRPr lang="en-US" sz="880" dirty="0"/>
          </a:p>
        </p:txBody>
      </p:sp>
      <p:sp>
        <p:nvSpPr>
          <p:cNvPr id="29" name="Shape 26"/>
          <p:cNvSpPr/>
          <p:nvPr/>
        </p:nvSpPr>
        <p:spPr>
          <a:xfrm>
            <a:off x="5093208" y="3895344"/>
            <a:ext cx="164592" cy="237744"/>
          </a:xfrm>
          <a:prstGeom prst="chevron">
            <a:avLst/>
          </a:prstGeom>
          <a:solidFill>
            <a:srgbClr val="C9CDC4"/>
          </a:solidFill>
          <a:ln w="12700">
            <a:solidFill>
              <a:srgbClr val="C9CDC4"/>
            </a:solidFill>
            <a:prstDash val="solid"/>
          </a:ln>
        </p:spPr>
      </p:sp>
      <p:sp>
        <p:nvSpPr>
          <p:cNvPr id="30" name="Shape 27"/>
          <p:cNvSpPr/>
          <p:nvPr/>
        </p:nvSpPr>
        <p:spPr>
          <a:xfrm>
            <a:off x="5349240" y="2313432"/>
            <a:ext cx="2057400" cy="3063240"/>
          </a:xfrm>
          <a:prstGeom prst="rect">
            <a:avLst/>
          </a:prstGeom>
          <a:solidFill>
            <a:srgbClr val="FFF5D9"/>
          </a:solidFill>
          <a:ln w="12700">
            <a:solidFill>
              <a:srgbClr val="FFF5D9"/>
            </a:solidFill>
            <a:prstDash val="solid"/>
          </a:ln>
        </p:spPr>
      </p:sp>
      <p:sp>
        <p:nvSpPr>
          <p:cNvPr id="31" name="Text 28"/>
          <p:cNvSpPr/>
          <p:nvPr/>
        </p:nvSpPr>
        <p:spPr>
          <a:xfrm>
            <a:off x="5532120" y="2587752"/>
            <a:ext cx="1719072" cy="164592"/>
          </a:xfrm>
          <a:prstGeom prst="rect">
            <a:avLst/>
          </a:prstGeom>
          <a:noFill/>
          <a:ln/>
        </p:spPr>
        <p:txBody>
          <a:bodyPr wrap="square" lIns="0" tIns="0" rIns="0" bIns="0" rtlCol="0" anchor="ctr"/>
          <a:lstStyle/>
          <a:p>
            <a:pPr indent="0" marL="0">
              <a:buNone/>
            </a:pPr>
            <a:r>
              <a:rPr lang="en-US" sz="750" b="1" spc="130" kern="0" dirty="0">
                <a:solidFill>
                  <a:srgbClr val="E9A323"/>
                </a:solidFill>
              </a:rPr>
              <a:t>DECISION + SESSION</a:t>
            </a:r>
            <a:endParaRPr lang="en-US" sz="750" dirty="0"/>
          </a:p>
        </p:txBody>
      </p:sp>
      <p:sp>
        <p:nvSpPr>
          <p:cNvPr id="32" name="Shape 29"/>
          <p:cNvSpPr/>
          <p:nvPr/>
        </p:nvSpPr>
        <p:spPr>
          <a:xfrm>
            <a:off x="5522976" y="3063240"/>
            <a:ext cx="1709928" cy="438912"/>
          </a:xfrm>
          <a:prstGeom prst="roundRect">
            <a:avLst>
              <a:gd name="adj" fmla="val 8333"/>
            </a:avLst>
          </a:prstGeom>
          <a:solidFill>
            <a:srgbClr val="FFFFFF"/>
          </a:solidFill>
          <a:ln w="12700">
            <a:solidFill>
              <a:srgbClr val="FFFFFF"/>
            </a:solidFill>
            <a:prstDash val="solid"/>
          </a:ln>
        </p:spPr>
      </p:sp>
      <p:sp>
        <p:nvSpPr>
          <p:cNvPr id="33" name="Text 30"/>
          <p:cNvSpPr/>
          <p:nvPr/>
        </p:nvSpPr>
        <p:spPr>
          <a:xfrm>
            <a:off x="5623560" y="3191256"/>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affordability_quotes</a:t>
            </a:r>
            <a:endParaRPr lang="en-US" sz="880" dirty="0"/>
          </a:p>
        </p:txBody>
      </p:sp>
      <p:sp>
        <p:nvSpPr>
          <p:cNvPr id="34" name="Shape 31"/>
          <p:cNvSpPr/>
          <p:nvPr/>
        </p:nvSpPr>
        <p:spPr>
          <a:xfrm>
            <a:off x="5522976" y="3721608"/>
            <a:ext cx="1709928" cy="438912"/>
          </a:xfrm>
          <a:prstGeom prst="roundRect">
            <a:avLst>
              <a:gd name="adj" fmla="val 8333"/>
            </a:avLst>
          </a:prstGeom>
          <a:solidFill>
            <a:srgbClr val="FFFFFF"/>
          </a:solidFill>
          <a:ln w="12700">
            <a:solidFill>
              <a:srgbClr val="FFFFFF"/>
            </a:solidFill>
            <a:prstDash val="solid"/>
          </a:ln>
        </p:spPr>
      </p:sp>
      <p:sp>
        <p:nvSpPr>
          <p:cNvPr id="35" name="Text 32"/>
          <p:cNvSpPr/>
          <p:nvPr/>
        </p:nvSpPr>
        <p:spPr>
          <a:xfrm>
            <a:off x="5623560" y="3849624"/>
            <a:ext cx="1508760" cy="164592"/>
          </a:xfrm>
          <a:prstGeom prst="rect">
            <a:avLst/>
          </a:prstGeom>
          <a:noFill/>
          <a:ln/>
        </p:spPr>
        <p:txBody>
          <a:bodyPr wrap="square" lIns="0" tIns="0" rIns="0" bIns="0" rtlCol="0" anchor="ctr">
            <a:normAutofit/>
          </a:bodyPr>
          <a:lstStyle/>
          <a:p>
            <a:pPr algn="ctr" indent="0" marL="0">
              <a:buNone/>
            </a:pPr>
            <a:r>
              <a:rPr lang="en-US" sz="880" b="1" dirty="0">
                <a:solidFill>
                  <a:srgbClr val="E9A323"/>
                </a:solidFill>
              </a:rPr>
              <a:t>checkout_sessions</a:t>
            </a:r>
            <a:endParaRPr lang="en-US" sz="880" dirty="0"/>
          </a:p>
        </p:txBody>
      </p:sp>
      <p:sp>
        <p:nvSpPr>
          <p:cNvPr id="36" name="Shape 33"/>
          <p:cNvSpPr/>
          <p:nvPr/>
        </p:nvSpPr>
        <p:spPr>
          <a:xfrm>
            <a:off x="7470648" y="3895344"/>
            <a:ext cx="164592" cy="237744"/>
          </a:xfrm>
          <a:prstGeom prst="chevron">
            <a:avLst/>
          </a:prstGeom>
          <a:solidFill>
            <a:srgbClr val="C9CDC4"/>
          </a:solidFill>
          <a:ln w="12700">
            <a:solidFill>
              <a:srgbClr val="C9CDC4"/>
            </a:solidFill>
            <a:prstDash val="solid"/>
          </a:ln>
        </p:spPr>
      </p:sp>
      <p:sp>
        <p:nvSpPr>
          <p:cNvPr id="37" name="Shape 34"/>
          <p:cNvSpPr/>
          <p:nvPr/>
        </p:nvSpPr>
        <p:spPr>
          <a:xfrm>
            <a:off x="7726680" y="2313432"/>
            <a:ext cx="2057400" cy="3063240"/>
          </a:xfrm>
          <a:prstGeom prst="rect">
            <a:avLst/>
          </a:prstGeom>
          <a:solidFill>
            <a:srgbClr val="DFF4E5"/>
          </a:solidFill>
          <a:ln w="12700">
            <a:solidFill>
              <a:srgbClr val="DFF4E5"/>
            </a:solidFill>
            <a:prstDash val="solid"/>
          </a:ln>
        </p:spPr>
      </p:sp>
      <p:sp>
        <p:nvSpPr>
          <p:cNvPr id="38" name="Text 35"/>
          <p:cNvSpPr/>
          <p:nvPr/>
        </p:nvSpPr>
        <p:spPr>
          <a:xfrm>
            <a:off x="7909560" y="2587752"/>
            <a:ext cx="1719072" cy="164592"/>
          </a:xfrm>
          <a:prstGeom prst="rect">
            <a:avLst/>
          </a:prstGeom>
          <a:noFill/>
          <a:ln/>
        </p:spPr>
        <p:txBody>
          <a:bodyPr wrap="square" lIns="0" tIns="0" rIns="0" bIns="0" rtlCol="0" anchor="ctr"/>
          <a:lstStyle/>
          <a:p>
            <a:pPr indent="0" marL="0">
              <a:buNone/>
            </a:pPr>
            <a:r>
              <a:rPr lang="en-US" sz="750" b="1" spc="130" kern="0" dirty="0">
                <a:solidFill>
                  <a:srgbClr val="237346"/>
                </a:solidFill>
              </a:rPr>
              <a:t>OBLIGATION</a:t>
            </a:r>
            <a:endParaRPr lang="en-US" sz="750" dirty="0"/>
          </a:p>
        </p:txBody>
      </p:sp>
      <p:sp>
        <p:nvSpPr>
          <p:cNvPr id="39" name="Shape 36"/>
          <p:cNvSpPr/>
          <p:nvPr/>
        </p:nvSpPr>
        <p:spPr>
          <a:xfrm>
            <a:off x="7900416" y="3063240"/>
            <a:ext cx="1709928" cy="438912"/>
          </a:xfrm>
          <a:prstGeom prst="roundRect">
            <a:avLst>
              <a:gd name="adj" fmla="val 8333"/>
            </a:avLst>
          </a:prstGeom>
          <a:solidFill>
            <a:srgbClr val="FFFFFF"/>
          </a:solidFill>
          <a:ln w="12700">
            <a:solidFill>
              <a:srgbClr val="FFFFFF"/>
            </a:solidFill>
            <a:prstDash val="solid"/>
          </a:ln>
        </p:spPr>
      </p:sp>
      <p:sp>
        <p:nvSpPr>
          <p:cNvPr id="40" name="Text 37"/>
          <p:cNvSpPr/>
          <p:nvPr/>
        </p:nvSpPr>
        <p:spPr>
          <a:xfrm>
            <a:off x="8001000" y="3191256"/>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loans</a:t>
            </a:r>
            <a:endParaRPr lang="en-US" sz="880" dirty="0"/>
          </a:p>
        </p:txBody>
      </p:sp>
      <p:sp>
        <p:nvSpPr>
          <p:cNvPr id="41" name="Shape 38"/>
          <p:cNvSpPr/>
          <p:nvPr/>
        </p:nvSpPr>
        <p:spPr>
          <a:xfrm>
            <a:off x="7900416" y="3721608"/>
            <a:ext cx="1709928" cy="438912"/>
          </a:xfrm>
          <a:prstGeom prst="roundRect">
            <a:avLst>
              <a:gd name="adj" fmla="val 8333"/>
            </a:avLst>
          </a:prstGeom>
          <a:solidFill>
            <a:srgbClr val="FFFFFF"/>
          </a:solidFill>
          <a:ln w="12700">
            <a:solidFill>
              <a:srgbClr val="FFFFFF"/>
            </a:solidFill>
            <a:prstDash val="solid"/>
          </a:ln>
        </p:spPr>
      </p:sp>
      <p:sp>
        <p:nvSpPr>
          <p:cNvPr id="42" name="Text 39"/>
          <p:cNvSpPr/>
          <p:nvPr/>
        </p:nvSpPr>
        <p:spPr>
          <a:xfrm>
            <a:off x="8001000" y="3849624"/>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repayments</a:t>
            </a:r>
            <a:endParaRPr lang="en-US" sz="880" dirty="0"/>
          </a:p>
        </p:txBody>
      </p:sp>
      <p:sp>
        <p:nvSpPr>
          <p:cNvPr id="43" name="Shape 40"/>
          <p:cNvSpPr/>
          <p:nvPr/>
        </p:nvSpPr>
        <p:spPr>
          <a:xfrm>
            <a:off x="7900416" y="4379976"/>
            <a:ext cx="1709928" cy="438912"/>
          </a:xfrm>
          <a:prstGeom prst="roundRect">
            <a:avLst>
              <a:gd name="adj" fmla="val 8333"/>
            </a:avLst>
          </a:prstGeom>
          <a:solidFill>
            <a:srgbClr val="FFFFFF"/>
          </a:solidFill>
          <a:ln w="12700">
            <a:solidFill>
              <a:srgbClr val="FFFFFF"/>
            </a:solidFill>
            <a:prstDash val="solid"/>
          </a:ln>
        </p:spPr>
      </p:sp>
      <p:sp>
        <p:nvSpPr>
          <p:cNvPr id="44" name="Text 41"/>
          <p:cNvSpPr/>
          <p:nvPr/>
        </p:nvSpPr>
        <p:spPr>
          <a:xfrm>
            <a:off x="8001000" y="4507992"/>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mandates</a:t>
            </a:r>
            <a:endParaRPr lang="en-US" sz="880" dirty="0"/>
          </a:p>
        </p:txBody>
      </p:sp>
      <p:sp>
        <p:nvSpPr>
          <p:cNvPr id="45" name="Shape 42"/>
          <p:cNvSpPr/>
          <p:nvPr/>
        </p:nvSpPr>
        <p:spPr>
          <a:xfrm>
            <a:off x="9848088" y="3895344"/>
            <a:ext cx="164592" cy="237744"/>
          </a:xfrm>
          <a:prstGeom prst="chevron">
            <a:avLst/>
          </a:prstGeom>
          <a:solidFill>
            <a:srgbClr val="C9CDC4"/>
          </a:solidFill>
          <a:ln w="12700">
            <a:solidFill>
              <a:srgbClr val="C9CDC4"/>
            </a:solidFill>
            <a:prstDash val="solid"/>
          </a:ln>
        </p:spPr>
      </p:sp>
      <p:sp>
        <p:nvSpPr>
          <p:cNvPr id="46" name="Shape 43"/>
          <p:cNvSpPr/>
          <p:nvPr/>
        </p:nvSpPr>
        <p:spPr>
          <a:xfrm>
            <a:off x="10104120" y="2313432"/>
            <a:ext cx="2057400" cy="3063240"/>
          </a:xfrm>
          <a:prstGeom prst="rect">
            <a:avLst/>
          </a:prstGeom>
          <a:solidFill>
            <a:srgbClr val="FFEBE8"/>
          </a:solidFill>
          <a:ln w="12700">
            <a:solidFill>
              <a:srgbClr val="FFEBE8"/>
            </a:solidFill>
            <a:prstDash val="solid"/>
          </a:ln>
        </p:spPr>
      </p:sp>
      <p:sp>
        <p:nvSpPr>
          <p:cNvPr id="47" name="Text 44"/>
          <p:cNvSpPr/>
          <p:nvPr/>
        </p:nvSpPr>
        <p:spPr>
          <a:xfrm>
            <a:off x="10287000" y="2587752"/>
            <a:ext cx="1719072" cy="164592"/>
          </a:xfrm>
          <a:prstGeom prst="rect">
            <a:avLst/>
          </a:prstGeom>
          <a:noFill/>
          <a:ln/>
        </p:spPr>
        <p:txBody>
          <a:bodyPr wrap="square" lIns="0" tIns="0" rIns="0" bIns="0" rtlCol="0" anchor="ctr"/>
          <a:lstStyle/>
          <a:p>
            <a:pPr indent="0" marL="0">
              <a:buNone/>
            </a:pPr>
            <a:r>
              <a:rPr lang="en-US" sz="750" b="1" spc="130" kern="0" dirty="0">
                <a:solidFill>
                  <a:srgbClr val="F26A5D"/>
                </a:solidFill>
              </a:rPr>
              <a:t>COMMERCE</a:t>
            </a:r>
            <a:endParaRPr lang="en-US" sz="750" dirty="0"/>
          </a:p>
        </p:txBody>
      </p:sp>
      <p:sp>
        <p:nvSpPr>
          <p:cNvPr id="48" name="Shape 45"/>
          <p:cNvSpPr/>
          <p:nvPr/>
        </p:nvSpPr>
        <p:spPr>
          <a:xfrm>
            <a:off x="10277856" y="3063240"/>
            <a:ext cx="1709928" cy="438912"/>
          </a:xfrm>
          <a:prstGeom prst="roundRect">
            <a:avLst>
              <a:gd name="adj" fmla="val 8333"/>
            </a:avLst>
          </a:prstGeom>
          <a:solidFill>
            <a:srgbClr val="FFFFFF"/>
          </a:solidFill>
          <a:ln w="12700">
            <a:solidFill>
              <a:srgbClr val="FFFFFF"/>
            </a:solidFill>
            <a:prstDash val="solid"/>
          </a:ln>
        </p:spPr>
      </p:sp>
      <p:sp>
        <p:nvSpPr>
          <p:cNvPr id="49" name="Text 46"/>
          <p:cNvSpPr/>
          <p:nvPr/>
        </p:nvSpPr>
        <p:spPr>
          <a:xfrm>
            <a:off x="10378440" y="3191256"/>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orders</a:t>
            </a:r>
            <a:endParaRPr lang="en-US" sz="880" dirty="0"/>
          </a:p>
        </p:txBody>
      </p:sp>
      <p:sp>
        <p:nvSpPr>
          <p:cNvPr id="50" name="Shape 47"/>
          <p:cNvSpPr/>
          <p:nvPr/>
        </p:nvSpPr>
        <p:spPr>
          <a:xfrm>
            <a:off x="10277856" y="3721608"/>
            <a:ext cx="1709928" cy="438912"/>
          </a:xfrm>
          <a:prstGeom prst="roundRect">
            <a:avLst>
              <a:gd name="adj" fmla="val 8333"/>
            </a:avLst>
          </a:prstGeom>
          <a:solidFill>
            <a:srgbClr val="FFFFFF"/>
          </a:solidFill>
          <a:ln w="12700">
            <a:solidFill>
              <a:srgbClr val="FFFFFF"/>
            </a:solidFill>
            <a:prstDash val="solid"/>
          </a:ln>
        </p:spPr>
      </p:sp>
      <p:sp>
        <p:nvSpPr>
          <p:cNvPr id="51" name="Text 48"/>
          <p:cNvSpPr/>
          <p:nvPr/>
        </p:nvSpPr>
        <p:spPr>
          <a:xfrm>
            <a:off x="10378440" y="3849624"/>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refunds</a:t>
            </a:r>
            <a:endParaRPr lang="en-US" sz="880" dirty="0"/>
          </a:p>
        </p:txBody>
      </p:sp>
      <p:sp>
        <p:nvSpPr>
          <p:cNvPr id="52" name="Shape 49"/>
          <p:cNvSpPr/>
          <p:nvPr/>
        </p:nvSpPr>
        <p:spPr>
          <a:xfrm>
            <a:off x="10277856" y="4379976"/>
            <a:ext cx="1709928" cy="438912"/>
          </a:xfrm>
          <a:prstGeom prst="roundRect">
            <a:avLst>
              <a:gd name="adj" fmla="val 8333"/>
            </a:avLst>
          </a:prstGeom>
          <a:solidFill>
            <a:srgbClr val="FFFFFF"/>
          </a:solidFill>
          <a:ln w="12700">
            <a:solidFill>
              <a:srgbClr val="FFFFFF"/>
            </a:solidFill>
            <a:prstDash val="solid"/>
          </a:ln>
        </p:spPr>
      </p:sp>
      <p:sp>
        <p:nvSpPr>
          <p:cNvPr id="53" name="Text 50"/>
          <p:cNvSpPr/>
          <p:nvPr/>
        </p:nvSpPr>
        <p:spPr>
          <a:xfrm>
            <a:off x="10378440" y="4507992"/>
            <a:ext cx="1508760" cy="164592"/>
          </a:xfrm>
          <a:prstGeom prst="rect">
            <a:avLst/>
          </a:prstGeom>
          <a:noFill/>
          <a:ln/>
        </p:spPr>
        <p:txBody>
          <a:bodyPr wrap="square" lIns="0" tIns="0" rIns="0" bIns="0" rtlCol="0" anchor="ctr">
            <a:normAutofit/>
          </a:bodyPr>
          <a:lstStyle/>
          <a:p>
            <a:pPr algn="ctr" indent="0" marL="0">
              <a:buNone/>
            </a:pPr>
            <a:r>
              <a:rPr lang="en-US" sz="880" dirty="0">
                <a:solidFill>
                  <a:srgbClr val="171817"/>
                </a:solidFill>
              </a:rPr>
              <a:t>seller_settlements</a:t>
            </a:r>
            <a:endParaRPr lang="en-US" sz="880" dirty="0"/>
          </a:p>
        </p:txBody>
      </p:sp>
      <p:sp>
        <p:nvSpPr>
          <p:cNvPr id="54" name="Shape 51"/>
          <p:cNvSpPr/>
          <p:nvPr/>
        </p:nvSpPr>
        <p:spPr>
          <a:xfrm>
            <a:off x="594360" y="5650992"/>
            <a:ext cx="11018520" cy="438912"/>
          </a:xfrm>
          <a:prstGeom prst="rect">
            <a:avLst/>
          </a:prstGeom>
          <a:solidFill>
            <a:srgbClr val="171817"/>
          </a:solidFill>
          <a:ln w="12700">
            <a:solidFill>
              <a:srgbClr val="171817"/>
            </a:solidFill>
            <a:prstDash val="solid"/>
          </a:ln>
        </p:spPr>
      </p:sp>
      <p:sp>
        <p:nvSpPr>
          <p:cNvPr id="55" name="Text 52"/>
          <p:cNvSpPr/>
          <p:nvPr/>
        </p:nvSpPr>
        <p:spPr>
          <a:xfrm>
            <a:off x="841248" y="5779008"/>
            <a:ext cx="10515600" cy="173736"/>
          </a:xfrm>
          <a:prstGeom prst="rect">
            <a:avLst/>
          </a:prstGeom>
          <a:noFill/>
          <a:ln/>
        </p:spPr>
        <p:txBody>
          <a:bodyPr wrap="square" lIns="0" tIns="0" rIns="0" bIns="0" rtlCol="0" anchor="ctr"/>
          <a:lstStyle/>
          <a:p>
            <a:pPr algn="ctr" indent="0" marL="0">
              <a:buNone/>
            </a:pPr>
            <a:r>
              <a:rPr lang="en-US" sz="950" b="1" dirty="0">
                <a:solidFill>
                  <a:srgbClr val="FFFFFF"/>
                </a:solidFill>
              </a:rPr>
              <a:t>Key IDs: user_id  →  product_id  →  quote_id  →  checkout_session_id  →  loan_id + order_id  →  refund_id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APPENDIX C</a:t>
            </a:r>
            <a:endParaRPr lang="en-US" sz="850" dirty="0"/>
          </a:p>
        </p:txBody>
      </p:sp>
      <p:sp>
        <p:nvSpPr>
          <p:cNvPr id="6" name="Text 4"/>
          <p:cNvSpPr/>
          <p:nvPr/>
        </p:nvSpPr>
        <p:spPr>
          <a:xfrm>
            <a:off x="566928" y="1033272"/>
            <a:ext cx="8046720" cy="530352"/>
          </a:xfrm>
          <a:prstGeom prst="rect">
            <a:avLst/>
          </a:prstGeom>
          <a:noFill/>
          <a:ln/>
        </p:spPr>
        <p:txBody>
          <a:bodyPr wrap="square" lIns="0" tIns="0" rIns="0" bIns="0" rtlCol="0" anchor="ctr">
            <a:normAutofit/>
          </a:bodyPr>
          <a:lstStyle/>
          <a:p>
            <a:pPr indent="0" marL="0">
              <a:buNone/>
            </a:pPr>
            <a:r>
              <a:rPr lang="en-US" sz="2700" b="1" dirty="0">
                <a:solidFill>
                  <a:srgbClr val="171817"/>
                </a:solidFill>
              </a:rPr>
              <a:t>API surface: personalized commerce in, auditable events out.</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Consumer and merchant contracts share quote, checkout, order, and refund semantics.</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TECHNICAL APPENDIX</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14</a:t>
            </a:r>
            <a:endParaRPr lang="en-US" sz="800" dirty="0"/>
          </a:p>
        </p:txBody>
      </p:sp>
      <p:sp>
        <p:nvSpPr>
          <p:cNvPr id="12" name="Shape 9"/>
          <p:cNvSpPr/>
          <p:nvPr/>
        </p:nvSpPr>
        <p:spPr>
          <a:xfrm>
            <a:off x="594360" y="2221992"/>
            <a:ext cx="5321808" cy="3410712"/>
          </a:xfrm>
          <a:prstGeom prst="rect">
            <a:avLst/>
          </a:prstGeom>
          <a:solidFill>
            <a:srgbClr val="FFFFFF"/>
          </a:solidFill>
          <a:ln w="12700">
            <a:solidFill>
              <a:srgbClr val="DFE2DB"/>
            </a:solidFill>
            <a:prstDash val="solid"/>
          </a:ln>
        </p:spPr>
      </p:sp>
      <p:sp>
        <p:nvSpPr>
          <p:cNvPr id="13" name="Shape 10"/>
          <p:cNvSpPr/>
          <p:nvPr/>
        </p:nvSpPr>
        <p:spPr>
          <a:xfrm>
            <a:off x="594360" y="2221992"/>
            <a:ext cx="5321808" cy="475488"/>
          </a:xfrm>
          <a:prstGeom prst="rect">
            <a:avLst/>
          </a:prstGeom>
          <a:solidFill>
            <a:srgbClr val="E8EDFF"/>
          </a:solidFill>
          <a:ln w="12700">
            <a:solidFill>
              <a:srgbClr val="E8EDFF"/>
            </a:solidFill>
            <a:prstDash val="solid"/>
          </a:ln>
        </p:spPr>
      </p:sp>
      <p:sp>
        <p:nvSpPr>
          <p:cNvPr id="14" name="Text 11"/>
          <p:cNvSpPr/>
          <p:nvPr/>
        </p:nvSpPr>
        <p:spPr>
          <a:xfrm>
            <a:off x="804672" y="2386584"/>
            <a:ext cx="1417320" cy="164592"/>
          </a:xfrm>
          <a:prstGeom prst="rect">
            <a:avLst/>
          </a:prstGeom>
          <a:noFill/>
          <a:ln/>
        </p:spPr>
        <p:txBody>
          <a:bodyPr wrap="square" lIns="0" tIns="0" rIns="0" bIns="0" rtlCol="0" anchor="ctr"/>
          <a:lstStyle/>
          <a:p>
            <a:pPr indent="0" marL="0">
              <a:buNone/>
            </a:pPr>
            <a:r>
              <a:rPr lang="en-US" sz="750" b="1" spc="130" kern="0" dirty="0">
                <a:solidFill>
                  <a:srgbClr val="3566E8"/>
                </a:solidFill>
              </a:rPr>
              <a:t>CONSUMER</a:t>
            </a:r>
            <a:endParaRPr lang="en-US" sz="750" dirty="0"/>
          </a:p>
        </p:txBody>
      </p:sp>
      <p:sp>
        <p:nvSpPr>
          <p:cNvPr id="15" name="Shape 12"/>
          <p:cNvSpPr/>
          <p:nvPr/>
        </p:nvSpPr>
        <p:spPr>
          <a:xfrm>
            <a:off x="795528" y="2871216"/>
            <a:ext cx="566928" cy="292608"/>
          </a:xfrm>
          <a:prstGeom prst="roundRect">
            <a:avLst>
              <a:gd name="adj" fmla="val 25000"/>
            </a:avLst>
          </a:prstGeom>
          <a:solidFill>
            <a:srgbClr val="E8EDFF"/>
          </a:solidFill>
          <a:ln w="12700">
            <a:solidFill>
              <a:srgbClr val="E8EDFF"/>
            </a:solidFill>
            <a:prstDash val="solid"/>
          </a:ln>
        </p:spPr>
      </p:sp>
      <p:sp>
        <p:nvSpPr>
          <p:cNvPr id="16" name="Text 13"/>
          <p:cNvSpPr/>
          <p:nvPr/>
        </p:nvSpPr>
        <p:spPr>
          <a:xfrm>
            <a:off x="868680" y="2898648"/>
            <a:ext cx="420624" cy="219456"/>
          </a:xfrm>
          <a:prstGeom prst="rect">
            <a:avLst/>
          </a:prstGeom>
          <a:noFill/>
          <a:ln/>
        </p:spPr>
        <p:txBody>
          <a:bodyPr wrap="square" lIns="0" tIns="0" rIns="0" bIns="0" rtlCol="0" anchor="ctr">
            <a:normAutofit/>
          </a:bodyPr>
          <a:lstStyle/>
          <a:p>
            <a:pPr algn="ctr" indent="0" marL="0">
              <a:buNone/>
            </a:pPr>
            <a:r>
              <a:rPr lang="en-US" sz="850" b="1" dirty="0">
                <a:solidFill>
                  <a:srgbClr val="3566E8"/>
                </a:solidFill>
              </a:rPr>
              <a:t>GET</a:t>
            </a:r>
            <a:endParaRPr lang="en-US" sz="850" dirty="0"/>
          </a:p>
        </p:txBody>
      </p:sp>
      <p:sp>
        <p:nvSpPr>
          <p:cNvPr id="17" name="Text 14"/>
          <p:cNvSpPr/>
          <p:nvPr/>
        </p:nvSpPr>
        <p:spPr>
          <a:xfrm>
            <a:off x="1472184" y="2935224"/>
            <a:ext cx="3136392" cy="182880"/>
          </a:xfrm>
          <a:prstGeom prst="rect">
            <a:avLst/>
          </a:prstGeom>
          <a:noFill/>
          <a:ln/>
        </p:spPr>
        <p:txBody>
          <a:bodyPr wrap="square" lIns="0" tIns="0" rIns="0" bIns="0" rtlCol="0" anchor="ctr">
            <a:normAutofit/>
          </a:bodyPr>
          <a:lstStyle/>
          <a:p>
            <a:pPr indent="0" marL="0">
              <a:buNone/>
            </a:pPr>
            <a:r>
              <a:rPr lang="en-US" sz="780" b="1" dirty="0">
                <a:solidFill>
                  <a:srgbClr val="171817"/>
                </a:solidFill>
                <a:latin typeface="Courier New" pitchFamily="34" charset="0"/>
                <a:ea typeface="Courier New" pitchFamily="34" charset="-122"/>
                <a:cs typeface="Courier New" pitchFamily="34" charset="-120"/>
              </a:rPr>
              <a:t>/v1/commerce/home</a:t>
            </a:r>
            <a:endParaRPr lang="en-US" sz="780" dirty="0"/>
          </a:p>
        </p:txBody>
      </p:sp>
      <p:sp>
        <p:nvSpPr>
          <p:cNvPr id="18" name="Text 15"/>
          <p:cNvSpPr/>
          <p:nvPr/>
        </p:nvSpPr>
        <p:spPr>
          <a:xfrm>
            <a:off x="4663440" y="2935224"/>
            <a:ext cx="1042416" cy="182880"/>
          </a:xfrm>
          <a:prstGeom prst="rect">
            <a:avLst/>
          </a:prstGeom>
          <a:noFill/>
          <a:ln/>
        </p:spPr>
        <p:txBody>
          <a:bodyPr wrap="square" lIns="0" tIns="0" rIns="0" bIns="0" rtlCol="0" anchor="ctr">
            <a:normAutofit/>
          </a:bodyPr>
          <a:lstStyle/>
          <a:p>
            <a:pPr algn="r" indent="0" marL="0">
              <a:buNone/>
            </a:pPr>
            <a:r>
              <a:rPr lang="en-US" sz="820" dirty="0">
                <a:solidFill>
                  <a:srgbClr val="666C64"/>
                </a:solidFill>
              </a:rPr>
              <a:t>Personalized rails</a:t>
            </a:r>
            <a:endParaRPr lang="en-US" sz="820" dirty="0"/>
          </a:p>
        </p:txBody>
      </p:sp>
      <p:sp>
        <p:nvSpPr>
          <p:cNvPr id="19" name="Shape 16"/>
          <p:cNvSpPr/>
          <p:nvPr/>
        </p:nvSpPr>
        <p:spPr>
          <a:xfrm>
            <a:off x="795528" y="3300984"/>
            <a:ext cx="566928" cy="292608"/>
          </a:xfrm>
          <a:prstGeom prst="roundRect">
            <a:avLst>
              <a:gd name="adj" fmla="val 25000"/>
            </a:avLst>
          </a:prstGeom>
          <a:solidFill>
            <a:srgbClr val="E8EDFF"/>
          </a:solidFill>
          <a:ln w="12700">
            <a:solidFill>
              <a:srgbClr val="E8EDFF"/>
            </a:solidFill>
            <a:prstDash val="solid"/>
          </a:ln>
        </p:spPr>
      </p:sp>
      <p:sp>
        <p:nvSpPr>
          <p:cNvPr id="20" name="Text 17"/>
          <p:cNvSpPr/>
          <p:nvPr/>
        </p:nvSpPr>
        <p:spPr>
          <a:xfrm>
            <a:off x="868680" y="3328416"/>
            <a:ext cx="420624" cy="219456"/>
          </a:xfrm>
          <a:prstGeom prst="rect">
            <a:avLst/>
          </a:prstGeom>
          <a:noFill/>
          <a:ln/>
        </p:spPr>
        <p:txBody>
          <a:bodyPr wrap="square" lIns="0" tIns="0" rIns="0" bIns="0" rtlCol="0" anchor="ctr">
            <a:normAutofit/>
          </a:bodyPr>
          <a:lstStyle/>
          <a:p>
            <a:pPr algn="ctr" indent="0" marL="0">
              <a:buNone/>
            </a:pPr>
            <a:r>
              <a:rPr lang="en-US" sz="850" b="1" dirty="0">
                <a:solidFill>
                  <a:srgbClr val="3566E8"/>
                </a:solidFill>
              </a:rPr>
              <a:t>GET</a:t>
            </a:r>
            <a:endParaRPr lang="en-US" sz="850" dirty="0"/>
          </a:p>
        </p:txBody>
      </p:sp>
      <p:sp>
        <p:nvSpPr>
          <p:cNvPr id="21" name="Text 18"/>
          <p:cNvSpPr/>
          <p:nvPr/>
        </p:nvSpPr>
        <p:spPr>
          <a:xfrm>
            <a:off x="1472184" y="3364992"/>
            <a:ext cx="3136392" cy="182880"/>
          </a:xfrm>
          <a:prstGeom prst="rect">
            <a:avLst/>
          </a:prstGeom>
          <a:noFill/>
          <a:ln/>
        </p:spPr>
        <p:txBody>
          <a:bodyPr wrap="square" lIns="0" tIns="0" rIns="0" bIns="0" rtlCol="0" anchor="ctr">
            <a:normAutofit/>
          </a:bodyPr>
          <a:lstStyle/>
          <a:p>
            <a:pPr indent="0" marL="0">
              <a:buNone/>
            </a:pPr>
            <a:r>
              <a:rPr lang="en-US" sz="780" b="1" dirty="0">
                <a:solidFill>
                  <a:srgbClr val="171817"/>
                </a:solidFill>
                <a:latin typeface="Courier New" pitchFamily="34" charset="0"/>
                <a:ea typeface="Courier New" pitchFamily="34" charset="-122"/>
                <a:cs typeface="Courier New" pitchFamily="34" charset="-120"/>
              </a:rPr>
              <a:t>/v1/products</a:t>
            </a:r>
            <a:endParaRPr lang="en-US" sz="780" dirty="0"/>
          </a:p>
        </p:txBody>
      </p:sp>
      <p:sp>
        <p:nvSpPr>
          <p:cNvPr id="22" name="Text 19"/>
          <p:cNvSpPr/>
          <p:nvPr/>
        </p:nvSpPr>
        <p:spPr>
          <a:xfrm>
            <a:off x="4663440" y="3364992"/>
            <a:ext cx="1042416" cy="182880"/>
          </a:xfrm>
          <a:prstGeom prst="rect">
            <a:avLst/>
          </a:prstGeom>
          <a:noFill/>
          <a:ln/>
        </p:spPr>
        <p:txBody>
          <a:bodyPr wrap="square" lIns="0" tIns="0" rIns="0" bIns="0" rtlCol="0" anchor="ctr">
            <a:normAutofit/>
          </a:bodyPr>
          <a:lstStyle/>
          <a:p>
            <a:pPr algn="r" indent="0" marL="0">
              <a:buNone/>
            </a:pPr>
            <a:r>
              <a:rPr lang="en-US" sz="820" dirty="0">
                <a:solidFill>
                  <a:srgbClr val="666C64"/>
                </a:solidFill>
              </a:rPr>
              <a:t>Affordable catalogue</a:t>
            </a:r>
            <a:endParaRPr lang="en-US" sz="820" dirty="0"/>
          </a:p>
        </p:txBody>
      </p:sp>
      <p:sp>
        <p:nvSpPr>
          <p:cNvPr id="23" name="Shape 20"/>
          <p:cNvSpPr/>
          <p:nvPr/>
        </p:nvSpPr>
        <p:spPr>
          <a:xfrm>
            <a:off x="795528" y="3730752"/>
            <a:ext cx="566928" cy="292608"/>
          </a:xfrm>
          <a:prstGeom prst="roundRect">
            <a:avLst>
              <a:gd name="adj" fmla="val 25000"/>
            </a:avLst>
          </a:prstGeom>
          <a:solidFill>
            <a:srgbClr val="E8EDFF"/>
          </a:solidFill>
          <a:ln w="12700">
            <a:solidFill>
              <a:srgbClr val="E8EDFF"/>
            </a:solidFill>
            <a:prstDash val="solid"/>
          </a:ln>
        </p:spPr>
      </p:sp>
      <p:sp>
        <p:nvSpPr>
          <p:cNvPr id="24" name="Text 21"/>
          <p:cNvSpPr/>
          <p:nvPr/>
        </p:nvSpPr>
        <p:spPr>
          <a:xfrm>
            <a:off x="868680" y="3758184"/>
            <a:ext cx="420624" cy="219456"/>
          </a:xfrm>
          <a:prstGeom prst="rect">
            <a:avLst/>
          </a:prstGeom>
          <a:noFill/>
          <a:ln/>
        </p:spPr>
        <p:txBody>
          <a:bodyPr wrap="square" lIns="0" tIns="0" rIns="0" bIns="0" rtlCol="0" anchor="ctr">
            <a:normAutofit/>
          </a:bodyPr>
          <a:lstStyle/>
          <a:p>
            <a:pPr algn="ctr" indent="0" marL="0">
              <a:buNone/>
            </a:pPr>
            <a:r>
              <a:rPr lang="en-US" sz="850" b="1" dirty="0">
                <a:solidFill>
                  <a:srgbClr val="3566E8"/>
                </a:solidFill>
              </a:rPr>
              <a:t>GET</a:t>
            </a:r>
            <a:endParaRPr lang="en-US" sz="850" dirty="0"/>
          </a:p>
        </p:txBody>
      </p:sp>
      <p:sp>
        <p:nvSpPr>
          <p:cNvPr id="25" name="Text 22"/>
          <p:cNvSpPr/>
          <p:nvPr/>
        </p:nvSpPr>
        <p:spPr>
          <a:xfrm>
            <a:off x="1472184" y="3794760"/>
            <a:ext cx="3136392" cy="182880"/>
          </a:xfrm>
          <a:prstGeom prst="rect">
            <a:avLst/>
          </a:prstGeom>
          <a:noFill/>
          <a:ln/>
        </p:spPr>
        <p:txBody>
          <a:bodyPr wrap="square" lIns="0" tIns="0" rIns="0" bIns="0" rtlCol="0" anchor="ctr">
            <a:normAutofit/>
          </a:bodyPr>
          <a:lstStyle/>
          <a:p>
            <a:pPr indent="0" marL="0">
              <a:buNone/>
            </a:pPr>
            <a:r>
              <a:rPr lang="en-US" sz="780" b="1" dirty="0">
                <a:solidFill>
                  <a:srgbClr val="171817"/>
                </a:solidFill>
                <a:latin typeface="Courier New" pitchFamily="34" charset="0"/>
                <a:ea typeface="Courier New" pitchFamily="34" charset="-122"/>
                <a:cs typeface="Courier New" pitchFamily="34" charset="-120"/>
              </a:rPr>
              <a:t>/v1/products/{id}/affordability</a:t>
            </a:r>
            <a:endParaRPr lang="en-US" sz="780" dirty="0"/>
          </a:p>
        </p:txBody>
      </p:sp>
      <p:sp>
        <p:nvSpPr>
          <p:cNvPr id="26" name="Text 23"/>
          <p:cNvSpPr/>
          <p:nvPr/>
        </p:nvSpPr>
        <p:spPr>
          <a:xfrm>
            <a:off x="4663440" y="3794760"/>
            <a:ext cx="1042416" cy="182880"/>
          </a:xfrm>
          <a:prstGeom prst="rect">
            <a:avLst/>
          </a:prstGeom>
          <a:noFill/>
          <a:ln/>
        </p:spPr>
        <p:txBody>
          <a:bodyPr wrap="square" lIns="0" tIns="0" rIns="0" bIns="0" rtlCol="0" anchor="ctr">
            <a:normAutofit/>
          </a:bodyPr>
          <a:lstStyle/>
          <a:p>
            <a:pPr algn="r" indent="0" marL="0">
              <a:buNone/>
            </a:pPr>
            <a:r>
              <a:rPr lang="en-US" sz="820" dirty="0">
                <a:solidFill>
                  <a:srgbClr val="666C64"/>
                </a:solidFill>
              </a:rPr>
              <a:t>Eligible plans</a:t>
            </a:r>
            <a:endParaRPr lang="en-US" sz="820" dirty="0"/>
          </a:p>
        </p:txBody>
      </p:sp>
      <p:sp>
        <p:nvSpPr>
          <p:cNvPr id="27" name="Shape 24"/>
          <p:cNvSpPr/>
          <p:nvPr/>
        </p:nvSpPr>
        <p:spPr>
          <a:xfrm>
            <a:off x="795528" y="4160520"/>
            <a:ext cx="566928" cy="292608"/>
          </a:xfrm>
          <a:prstGeom prst="roundRect">
            <a:avLst>
              <a:gd name="adj" fmla="val 25000"/>
            </a:avLst>
          </a:prstGeom>
          <a:solidFill>
            <a:srgbClr val="EFF9CB"/>
          </a:solidFill>
          <a:ln w="12700">
            <a:solidFill>
              <a:srgbClr val="EFF9CB"/>
            </a:solidFill>
            <a:prstDash val="solid"/>
          </a:ln>
        </p:spPr>
      </p:sp>
      <p:sp>
        <p:nvSpPr>
          <p:cNvPr id="28" name="Text 25"/>
          <p:cNvSpPr/>
          <p:nvPr/>
        </p:nvSpPr>
        <p:spPr>
          <a:xfrm>
            <a:off x="868680" y="4187952"/>
            <a:ext cx="420624" cy="219456"/>
          </a:xfrm>
          <a:prstGeom prst="rect">
            <a:avLst/>
          </a:prstGeom>
          <a:noFill/>
          <a:ln/>
        </p:spPr>
        <p:txBody>
          <a:bodyPr wrap="square" lIns="0" tIns="0" rIns="0" bIns="0" rtlCol="0" anchor="ctr">
            <a:normAutofit/>
          </a:bodyPr>
          <a:lstStyle/>
          <a:p>
            <a:pPr algn="ctr" indent="0" marL="0">
              <a:buNone/>
            </a:pPr>
            <a:r>
              <a:rPr lang="en-US" sz="850" b="1" dirty="0">
                <a:solidFill>
                  <a:srgbClr val="668700"/>
                </a:solidFill>
              </a:rPr>
              <a:t>POST</a:t>
            </a:r>
            <a:endParaRPr lang="en-US" sz="850" dirty="0"/>
          </a:p>
        </p:txBody>
      </p:sp>
      <p:sp>
        <p:nvSpPr>
          <p:cNvPr id="29" name="Text 26"/>
          <p:cNvSpPr/>
          <p:nvPr/>
        </p:nvSpPr>
        <p:spPr>
          <a:xfrm>
            <a:off x="1472184" y="4224528"/>
            <a:ext cx="3136392" cy="182880"/>
          </a:xfrm>
          <a:prstGeom prst="rect">
            <a:avLst/>
          </a:prstGeom>
          <a:noFill/>
          <a:ln/>
        </p:spPr>
        <p:txBody>
          <a:bodyPr wrap="square" lIns="0" tIns="0" rIns="0" bIns="0" rtlCol="0" anchor="ctr">
            <a:normAutofit/>
          </a:bodyPr>
          <a:lstStyle/>
          <a:p>
            <a:pPr indent="0" marL="0">
              <a:buNone/>
            </a:pPr>
            <a:r>
              <a:rPr lang="en-US" sz="780" b="1" dirty="0">
                <a:solidFill>
                  <a:srgbClr val="171817"/>
                </a:solidFill>
                <a:latin typeface="Courier New" pitchFamily="34" charset="0"/>
                <a:ea typeface="Courier New" pitchFamily="34" charset="-122"/>
                <a:cs typeface="Courier New" pitchFamily="34" charset="-120"/>
              </a:rPr>
              <a:t>/v1/checkout-sessions</a:t>
            </a:r>
            <a:endParaRPr lang="en-US" sz="780" dirty="0"/>
          </a:p>
        </p:txBody>
      </p:sp>
      <p:sp>
        <p:nvSpPr>
          <p:cNvPr id="30" name="Text 27"/>
          <p:cNvSpPr/>
          <p:nvPr/>
        </p:nvSpPr>
        <p:spPr>
          <a:xfrm>
            <a:off x="4663440" y="4224528"/>
            <a:ext cx="1042416" cy="182880"/>
          </a:xfrm>
          <a:prstGeom prst="rect">
            <a:avLst/>
          </a:prstGeom>
          <a:noFill/>
          <a:ln/>
        </p:spPr>
        <p:txBody>
          <a:bodyPr wrap="square" lIns="0" tIns="0" rIns="0" bIns="0" rtlCol="0" anchor="ctr">
            <a:normAutofit/>
          </a:bodyPr>
          <a:lstStyle/>
          <a:p>
            <a:pPr algn="r" indent="0" marL="0">
              <a:buNone/>
            </a:pPr>
            <a:r>
              <a:rPr lang="en-US" sz="820" dirty="0">
                <a:solidFill>
                  <a:srgbClr val="666C64"/>
                </a:solidFill>
              </a:rPr>
              <a:t>Freeze quote</a:t>
            </a:r>
            <a:endParaRPr lang="en-US" sz="820" dirty="0"/>
          </a:p>
        </p:txBody>
      </p:sp>
      <p:sp>
        <p:nvSpPr>
          <p:cNvPr id="31" name="Shape 28"/>
          <p:cNvSpPr/>
          <p:nvPr/>
        </p:nvSpPr>
        <p:spPr>
          <a:xfrm>
            <a:off x="795528" y="4590288"/>
            <a:ext cx="566928" cy="292608"/>
          </a:xfrm>
          <a:prstGeom prst="roundRect">
            <a:avLst>
              <a:gd name="adj" fmla="val 25000"/>
            </a:avLst>
          </a:prstGeom>
          <a:solidFill>
            <a:srgbClr val="EFF9CB"/>
          </a:solidFill>
          <a:ln w="12700">
            <a:solidFill>
              <a:srgbClr val="EFF9CB"/>
            </a:solidFill>
            <a:prstDash val="solid"/>
          </a:ln>
        </p:spPr>
      </p:sp>
      <p:sp>
        <p:nvSpPr>
          <p:cNvPr id="32" name="Text 29"/>
          <p:cNvSpPr/>
          <p:nvPr/>
        </p:nvSpPr>
        <p:spPr>
          <a:xfrm>
            <a:off x="868680" y="4617720"/>
            <a:ext cx="420624" cy="219456"/>
          </a:xfrm>
          <a:prstGeom prst="rect">
            <a:avLst/>
          </a:prstGeom>
          <a:noFill/>
          <a:ln/>
        </p:spPr>
        <p:txBody>
          <a:bodyPr wrap="square" lIns="0" tIns="0" rIns="0" bIns="0" rtlCol="0" anchor="ctr">
            <a:normAutofit/>
          </a:bodyPr>
          <a:lstStyle/>
          <a:p>
            <a:pPr algn="ctr" indent="0" marL="0">
              <a:buNone/>
            </a:pPr>
            <a:r>
              <a:rPr lang="en-US" sz="850" b="1" dirty="0">
                <a:solidFill>
                  <a:srgbClr val="668700"/>
                </a:solidFill>
              </a:rPr>
              <a:t>POST</a:t>
            </a:r>
            <a:endParaRPr lang="en-US" sz="850" dirty="0"/>
          </a:p>
        </p:txBody>
      </p:sp>
      <p:sp>
        <p:nvSpPr>
          <p:cNvPr id="33" name="Text 30"/>
          <p:cNvSpPr/>
          <p:nvPr/>
        </p:nvSpPr>
        <p:spPr>
          <a:xfrm>
            <a:off x="1472184" y="4654296"/>
            <a:ext cx="3136392" cy="182880"/>
          </a:xfrm>
          <a:prstGeom prst="rect">
            <a:avLst/>
          </a:prstGeom>
          <a:noFill/>
          <a:ln/>
        </p:spPr>
        <p:txBody>
          <a:bodyPr wrap="square" lIns="0" tIns="0" rIns="0" bIns="0" rtlCol="0" anchor="ctr">
            <a:normAutofit/>
          </a:bodyPr>
          <a:lstStyle/>
          <a:p>
            <a:pPr indent="0" marL="0">
              <a:buNone/>
            </a:pPr>
            <a:r>
              <a:rPr lang="en-US" sz="780" b="1" dirty="0">
                <a:solidFill>
                  <a:srgbClr val="171817"/>
                </a:solidFill>
                <a:latin typeface="Courier New" pitchFamily="34" charset="0"/>
                <a:ea typeface="Courier New" pitchFamily="34" charset="-122"/>
                <a:cs typeface="Courier New" pitchFamily="34" charset="-120"/>
              </a:rPr>
              <a:t>/v1/checkout-sessions/{id}/confirm</a:t>
            </a:r>
            <a:endParaRPr lang="en-US" sz="780" dirty="0"/>
          </a:p>
        </p:txBody>
      </p:sp>
      <p:sp>
        <p:nvSpPr>
          <p:cNvPr id="34" name="Text 31"/>
          <p:cNvSpPr/>
          <p:nvPr/>
        </p:nvSpPr>
        <p:spPr>
          <a:xfrm>
            <a:off x="4663440" y="4654296"/>
            <a:ext cx="1042416" cy="182880"/>
          </a:xfrm>
          <a:prstGeom prst="rect">
            <a:avLst/>
          </a:prstGeom>
          <a:noFill/>
          <a:ln/>
        </p:spPr>
        <p:txBody>
          <a:bodyPr wrap="square" lIns="0" tIns="0" rIns="0" bIns="0" rtlCol="0" anchor="ctr">
            <a:normAutofit/>
          </a:bodyPr>
          <a:lstStyle/>
          <a:p>
            <a:pPr algn="r" indent="0" marL="0">
              <a:buNone/>
            </a:pPr>
            <a:r>
              <a:rPr lang="en-US" sz="820" dirty="0">
                <a:solidFill>
                  <a:srgbClr val="666C64"/>
                </a:solidFill>
              </a:rPr>
              <a:t>Orchestrate purchase</a:t>
            </a:r>
            <a:endParaRPr lang="en-US" sz="820" dirty="0"/>
          </a:p>
        </p:txBody>
      </p:sp>
      <p:sp>
        <p:nvSpPr>
          <p:cNvPr id="35" name="Shape 32"/>
          <p:cNvSpPr/>
          <p:nvPr/>
        </p:nvSpPr>
        <p:spPr>
          <a:xfrm>
            <a:off x="795528" y="5020056"/>
            <a:ext cx="566928" cy="292608"/>
          </a:xfrm>
          <a:prstGeom prst="roundRect">
            <a:avLst>
              <a:gd name="adj" fmla="val 25000"/>
            </a:avLst>
          </a:prstGeom>
          <a:solidFill>
            <a:srgbClr val="E8EDFF"/>
          </a:solidFill>
          <a:ln w="12700">
            <a:solidFill>
              <a:srgbClr val="E8EDFF"/>
            </a:solidFill>
            <a:prstDash val="solid"/>
          </a:ln>
        </p:spPr>
      </p:sp>
      <p:sp>
        <p:nvSpPr>
          <p:cNvPr id="36" name="Text 33"/>
          <p:cNvSpPr/>
          <p:nvPr/>
        </p:nvSpPr>
        <p:spPr>
          <a:xfrm>
            <a:off x="868680" y="5047488"/>
            <a:ext cx="420624" cy="219456"/>
          </a:xfrm>
          <a:prstGeom prst="rect">
            <a:avLst/>
          </a:prstGeom>
          <a:noFill/>
          <a:ln/>
        </p:spPr>
        <p:txBody>
          <a:bodyPr wrap="square" lIns="0" tIns="0" rIns="0" bIns="0" rtlCol="0" anchor="ctr">
            <a:normAutofit/>
          </a:bodyPr>
          <a:lstStyle/>
          <a:p>
            <a:pPr algn="ctr" indent="0" marL="0">
              <a:buNone/>
            </a:pPr>
            <a:r>
              <a:rPr lang="en-US" sz="850" b="1" dirty="0">
                <a:solidFill>
                  <a:srgbClr val="3566E8"/>
                </a:solidFill>
              </a:rPr>
              <a:t>GET</a:t>
            </a:r>
            <a:endParaRPr lang="en-US" sz="850" dirty="0"/>
          </a:p>
        </p:txBody>
      </p:sp>
      <p:sp>
        <p:nvSpPr>
          <p:cNvPr id="37" name="Text 34"/>
          <p:cNvSpPr/>
          <p:nvPr/>
        </p:nvSpPr>
        <p:spPr>
          <a:xfrm>
            <a:off x="1472184" y="5084064"/>
            <a:ext cx="3136392" cy="182880"/>
          </a:xfrm>
          <a:prstGeom prst="rect">
            <a:avLst/>
          </a:prstGeom>
          <a:noFill/>
          <a:ln/>
        </p:spPr>
        <p:txBody>
          <a:bodyPr wrap="square" lIns="0" tIns="0" rIns="0" bIns="0" rtlCol="0" anchor="ctr">
            <a:normAutofit/>
          </a:bodyPr>
          <a:lstStyle/>
          <a:p>
            <a:pPr indent="0" marL="0">
              <a:buNone/>
            </a:pPr>
            <a:r>
              <a:rPr lang="en-US" sz="780" b="1" dirty="0">
                <a:solidFill>
                  <a:srgbClr val="171817"/>
                </a:solidFill>
                <a:latin typeface="Courier New" pitchFamily="34" charset="0"/>
                <a:ea typeface="Courier New" pitchFamily="34" charset="-122"/>
                <a:cs typeface="Courier New" pitchFamily="34" charset="-120"/>
              </a:rPr>
              <a:t>/v1/orders/{id}/timeline</a:t>
            </a:r>
            <a:endParaRPr lang="en-US" sz="780" dirty="0"/>
          </a:p>
        </p:txBody>
      </p:sp>
      <p:sp>
        <p:nvSpPr>
          <p:cNvPr id="38" name="Text 35"/>
          <p:cNvSpPr/>
          <p:nvPr/>
        </p:nvSpPr>
        <p:spPr>
          <a:xfrm>
            <a:off x="4663440" y="5084064"/>
            <a:ext cx="1042416" cy="182880"/>
          </a:xfrm>
          <a:prstGeom prst="rect">
            <a:avLst/>
          </a:prstGeom>
          <a:noFill/>
          <a:ln/>
        </p:spPr>
        <p:txBody>
          <a:bodyPr wrap="square" lIns="0" tIns="0" rIns="0" bIns="0" rtlCol="0" anchor="ctr">
            <a:normAutofit/>
          </a:bodyPr>
          <a:lstStyle/>
          <a:p>
            <a:pPr algn="r" indent="0" marL="0">
              <a:buNone/>
            </a:pPr>
            <a:r>
              <a:rPr lang="en-US" sz="820" dirty="0">
                <a:solidFill>
                  <a:srgbClr val="666C64"/>
                </a:solidFill>
              </a:rPr>
              <a:t>Unified obligation</a:t>
            </a:r>
            <a:endParaRPr lang="en-US" sz="820" dirty="0"/>
          </a:p>
        </p:txBody>
      </p:sp>
      <p:sp>
        <p:nvSpPr>
          <p:cNvPr id="39" name="Shape 36"/>
          <p:cNvSpPr/>
          <p:nvPr/>
        </p:nvSpPr>
        <p:spPr>
          <a:xfrm>
            <a:off x="6172200" y="2221992"/>
            <a:ext cx="5440680" cy="3410712"/>
          </a:xfrm>
          <a:prstGeom prst="rect">
            <a:avLst/>
          </a:prstGeom>
          <a:solidFill>
            <a:srgbClr val="FFFFFF"/>
          </a:solidFill>
          <a:ln w="12700">
            <a:solidFill>
              <a:srgbClr val="DFE2DB"/>
            </a:solidFill>
            <a:prstDash val="solid"/>
          </a:ln>
        </p:spPr>
      </p:sp>
      <p:sp>
        <p:nvSpPr>
          <p:cNvPr id="40" name="Shape 37"/>
          <p:cNvSpPr/>
          <p:nvPr/>
        </p:nvSpPr>
        <p:spPr>
          <a:xfrm>
            <a:off x="6172200" y="2221992"/>
            <a:ext cx="5440680" cy="475488"/>
          </a:xfrm>
          <a:prstGeom prst="rect">
            <a:avLst/>
          </a:prstGeom>
          <a:solidFill>
            <a:srgbClr val="EFF9CB"/>
          </a:solidFill>
          <a:ln w="12700">
            <a:solidFill>
              <a:srgbClr val="EFF9CB"/>
            </a:solidFill>
            <a:prstDash val="solid"/>
          </a:ln>
        </p:spPr>
      </p:sp>
      <p:sp>
        <p:nvSpPr>
          <p:cNvPr id="41" name="Text 38"/>
          <p:cNvSpPr/>
          <p:nvPr/>
        </p:nvSpPr>
        <p:spPr>
          <a:xfrm>
            <a:off x="6382512" y="2386584"/>
            <a:ext cx="1417320" cy="164592"/>
          </a:xfrm>
          <a:prstGeom prst="rect">
            <a:avLst/>
          </a:prstGeom>
          <a:noFill/>
          <a:ln/>
        </p:spPr>
        <p:txBody>
          <a:bodyPr wrap="square" lIns="0" tIns="0" rIns="0" bIns="0" rtlCol="0" anchor="ctr"/>
          <a:lstStyle/>
          <a:p>
            <a:pPr indent="0" marL="0">
              <a:buNone/>
            </a:pPr>
            <a:r>
              <a:rPr lang="en-US" sz="750" b="1" spc="130" kern="0" dirty="0">
                <a:solidFill>
                  <a:srgbClr val="668700"/>
                </a:solidFill>
              </a:rPr>
              <a:t>MERCHANT</a:t>
            </a:r>
            <a:endParaRPr lang="en-US" sz="750" dirty="0"/>
          </a:p>
        </p:txBody>
      </p:sp>
      <p:sp>
        <p:nvSpPr>
          <p:cNvPr id="42" name="Shape 39"/>
          <p:cNvSpPr/>
          <p:nvPr/>
        </p:nvSpPr>
        <p:spPr>
          <a:xfrm>
            <a:off x="6373368" y="2871216"/>
            <a:ext cx="566928" cy="292608"/>
          </a:xfrm>
          <a:prstGeom prst="roundRect">
            <a:avLst>
              <a:gd name="adj" fmla="val 25000"/>
            </a:avLst>
          </a:prstGeom>
          <a:solidFill>
            <a:srgbClr val="EFF9CB"/>
          </a:solidFill>
          <a:ln w="12700">
            <a:solidFill>
              <a:srgbClr val="EFF9CB"/>
            </a:solidFill>
            <a:prstDash val="solid"/>
          </a:ln>
        </p:spPr>
      </p:sp>
      <p:sp>
        <p:nvSpPr>
          <p:cNvPr id="43" name="Text 40"/>
          <p:cNvSpPr/>
          <p:nvPr/>
        </p:nvSpPr>
        <p:spPr>
          <a:xfrm>
            <a:off x="6446520" y="2898648"/>
            <a:ext cx="420624" cy="219456"/>
          </a:xfrm>
          <a:prstGeom prst="rect">
            <a:avLst/>
          </a:prstGeom>
          <a:noFill/>
          <a:ln/>
        </p:spPr>
        <p:txBody>
          <a:bodyPr wrap="square" lIns="0" tIns="0" rIns="0" bIns="0" rtlCol="0" anchor="ctr">
            <a:normAutofit/>
          </a:bodyPr>
          <a:lstStyle/>
          <a:p>
            <a:pPr algn="ctr" indent="0" marL="0">
              <a:buNone/>
            </a:pPr>
            <a:r>
              <a:rPr lang="en-US" sz="850" b="1" dirty="0">
                <a:solidFill>
                  <a:srgbClr val="668700"/>
                </a:solidFill>
              </a:rPr>
              <a:t>POST</a:t>
            </a:r>
            <a:endParaRPr lang="en-US" sz="850" dirty="0"/>
          </a:p>
        </p:txBody>
      </p:sp>
      <p:sp>
        <p:nvSpPr>
          <p:cNvPr id="44" name="Text 41"/>
          <p:cNvSpPr/>
          <p:nvPr/>
        </p:nvSpPr>
        <p:spPr>
          <a:xfrm>
            <a:off x="7050024" y="2935224"/>
            <a:ext cx="3136392" cy="182880"/>
          </a:xfrm>
          <a:prstGeom prst="rect">
            <a:avLst/>
          </a:prstGeom>
          <a:noFill/>
          <a:ln/>
        </p:spPr>
        <p:txBody>
          <a:bodyPr wrap="square" lIns="0" tIns="0" rIns="0" bIns="0" rtlCol="0" anchor="ctr">
            <a:normAutofit/>
          </a:bodyPr>
          <a:lstStyle/>
          <a:p>
            <a:pPr indent="0" marL="0">
              <a:buNone/>
            </a:pPr>
            <a:r>
              <a:rPr lang="en-US" sz="780" b="1" dirty="0">
                <a:solidFill>
                  <a:srgbClr val="171817"/>
                </a:solidFill>
                <a:latin typeface="Courier New" pitchFamily="34" charset="0"/>
                <a:ea typeface="Courier New" pitchFamily="34" charset="-122"/>
                <a:cs typeface="Courier New" pitchFamily="34" charset="-120"/>
              </a:rPr>
              <a:t>/v1/merchants</a:t>
            </a:r>
            <a:endParaRPr lang="en-US" sz="780" dirty="0"/>
          </a:p>
        </p:txBody>
      </p:sp>
      <p:sp>
        <p:nvSpPr>
          <p:cNvPr id="45" name="Text 42"/>
          <p:cNvSpPr/>
          <p:nvPr/>
        </p:nvSpPr>
        <p:spPr>
          <a:xfrm>
            <a:off x="10241280" y="2935224"/>
            <a:ext cx="1161288" cy="182880"/>
          </a:xfrm>
          <a:prstGeom prst="rect">
            <a:avLst/>
          </a:prstGeom>
          <a:noFill/>
          <a:ln/>
        </p:spPr>
        <p:txBody>
          <a:bodyPr wrap="square" lIns="0" tIns="0" rIns="0" bIns="0" rtlCol="0" anchor="ctr">
            <a:normAutofit/>
          </a:bodyPr>
          <a:lstStyle/>
          <a:p>
            <a:pPr algn="r" indent="0" marL="0">
              <a:buNone/>
            </a:pPr>
            <a:r>
              <a:rPr lang="en-US" sz="820" dirty="0">
                <a:solidFill>
                  <a:srgbClr val="666C64"/>
                </a:solidFill>
              </a:rPr>
              <a:t>Onboard seller</a:t>
            </a:r>
            <a:endParaRPr lang="en-US" sz="820" dirty="0"/>
          </a:p>
        </p:txBody>
      </p:sp>
      <p:sp>
        <p:nvSpPr>
          <p:cNvPr id="46" name="Shape 43"/>
          <p:cNvSpPr/>
          <p:nvPr/>
        </p:nvSpPr>
        <p:spPr>
          <a:xfrm>
            <a:off x="6373368" y="3300984"/>
            <a:ext cx="566928" cy="292608"/>
          </a:xfrm>
          <a:prstGeom prst="roundRect">
            <a:avLst>
              <a:gd name="adj" fmla="val 25000"/>
            </a:avLst>
          </a:prstGeom>
          <a:solidFill>
            <a:srgbClr val="EFF9CB"/>
          </a:solidFill>
          <a:ln w="12700">
            <a:solidFill>
              <a:srgbClr val="EFF9CB"/>
            </a:solidFill>
            <a:prstDash val="solid"/>
          </a:ln>
        </p:spPr>
      </p:sp>
      <p:sp>
        <p:nvSpPr>
          <p:cNvPr id="47" name="Text 44"/>
          <p:cNvSpPr/>
          <p:nvPr/>
        </p:nvSpPr>
        <p:spPr>
          <a:xfrm>
            <a:off x="6446520" y="3328416"/>
            <a:ext cx="420624" cy="219456"/>
          </a:xfrm>
          <a:prstGeom prst="rect">
            <a:avLst/>
          </a:prstGeom>
          <a:noFill/>
          <a:ln/>
        </p:spPr>
        <p:txBody>
          <a:bodyPr wrap="square" lIns="0" tIns="0" rIns="0" bIns="0" rtlCol="0" anchor="ctr">
            <a:normAutofit/>
          </a:bodyPr>
          <a:lstStyle/>
          <a:p>
            <a:pPr algn="ctr" indent="0" marL="0">
              <a:buNone/>
            </a:pPr>
            <a:r>
              <a:rPr lang="en-US" sz="850" b="1" dirty="0">
                <a:solidFill>
                  <a:srgbClr val="668700"/>
                </a:solidFill>
              </a:rPr>
              <a:t>POST</a:t>
            </a:r>
            <a:endParaRPr lang="en-US" sz="850" dirty="0"/>
          </a:p>
        </p:txBody>
      </p:sp>
      <p:sp>
        <p:nvSpPr>
          <p:cNvPr id="48" name="Text 45"/>
          <p:cNvSpPr/>
          <p:nvPr/>
        </p:nvSpPr>
        <p:spPr>
          <a:xfrm>
            <a:off x="7050024" y="3364992"/>
            <a:ext cx="3136392" cy="182880"/>
          </a:xfrm>
          <a:prstGeom prst="rect">
            <a:avLst/>
          </a:prstGeom>
          <a:noFill/>
          <a:ln/>
        </p:spPr>
        <p:txBody>
          <a:bodyPr wrap="square" lIns="0" tIns="0" rIns="0" bIns="0" rtlCol="0" anchor="ctr">
            <a:normAutofit/>
          </a:bodyPr>
          <a:lstStyle/>
          <a:p>
            <a:pPr indent="0" marL="0">
              <a:buNone/>
            </a:pPr>
            <a:r>
              <a:rPr lang="en-US" sz="780" b="1" dirty="0">
                <a:solidFill>
                  <a:srgbClr val="171817"/>
                </a:solidFill>
                <a:latin typeface="Courier New" pitchFamily="34" charset="0"/>
                <a:ea typeface="Courier New" pitchFamily="34" charset="-122"/>
                <a:cs typeface="Courier New" pitchFamily="34" charset="-120"/>
              </a:rPr>
              <a:t>/v1/catalogue/products:bulk_upsert</a:t>
            </a:r>
            <a:endParaRPr lang="en-US" sz="780" dirty="0"/>
          </a:p>
        </p:txBody>
      </p:sp>
      <p:sp>
        <p:nvSpPr>
          <p:cNvPr id="49" name="Text 46"/>
          <p:cNvSpPr/>
          <p:nvPr/>
        </p:nvSpPr>
        <p:spPr>
          <a:xfrm>
            <a:off x="10241280" y="3364992"/>
            <a:ext cx="1161288" cy="182880"/>
          </a:xfrm>
          <a:prstGeom prst="rect">
            <a:avLst/>
          </a:prstGeom>
          <a:noFill/>
          <a:ln/>
        </p:spPr>
        <p:txBody>
          <a:bodyPr wrap="square" lIns="0" tIns="0" rIns="0" bIns="0" rtlCol="0" anchor="ctr">
            <a:normAutofit/>
          </a:bodyPr>
          <a:lstStyle/>
          <a:p>
            <a:pPr algn="r" indent="0" marL="0">
              <a:buNone/>
            </a:pPr>
            <a:r>
              <a:rPr lang="en-US" sz="820" dirty="0">
                <a:solidFill>
                  <a:srgbClr val="666C64"/>
                </a:solidFill>
              </a:rPr>
              <a:t>Sync supply</a:t>
            </a:r>
            <a:endParaRPr lang="en-US" sz="820" dirty="0"/>
          </a:p>
        </p:txBody>
      </p:sp>
      <p:sp>
        <p:nvSpPr>
          <p:cNvPr id="50" name="Shape 47"/>
          <p:cNvSpPr/>
          <p:nvPr/>
        </p:nvSpPr>
        <p:spPr>
          <a:xfrm>
            <a:off x="6373368" y="3730752"/>
            <a:ext cx="566928" cy="292608"/>
          </a:xfrm>
          <a:prstGeom prst="roundRect">
            <a:avLst>
              <a:gd name="adj" fmla="val 25000"/>
            </a:avLst>
          </a:prstGeom>
          <a:solidFill>
            <a:srgbClr val="EFF9CB"/>
          </a:solidFill>
          <a:ln w="12700">
            <a:solidFill>
              <a:srgbClr val="EFF9CB"/>
            </a:solidFill>
            <a:prstDash val="solid"/>
          </a:ln>
        </p:spPr>
      </p:sp>
      <p:sp>
        <p:nvSpPr>
          <p:cNvPr id="51" name="Text 48"/>
          <p:cNvSpPr/>
          <p:nvPr/>
        </p:nvSpPr>
        <p:spPr>
          <a:xfrm>
            <a:off x="6446520" y="3758184"/>
            <a:ext cx="420624" cy="219456"/>
          </a:xfrm>
          <a:prstGeom prst="rect">
            <a:avLst/>
          </a:prstGeom>
          <a:noFill/>
          <a:ln/>
        </p:spPr>
        <p:txBody>
          <a:bodyPr wrap="square" lIns="0" tIns="0" rIns="0" bIns="0" rtlCol="0" anchor="ctr">
            <a:normAutofit/>
          </a:bodyPr>
          <a:lstStyle/>
          <a:p>
            <a:pPr algn="ctr" indent="0" marL="0">
              <a:buNone/>
            </a:pPr>
            <a:r>
              <a:rPr lang="en-US" sz="850" b="1" dirty="0">
                <a:solidFill>
                  <a:srgbClr val="668700"/>
                </a:solidFill>
              </a:rPr>
              <a:t>POST</a:t>
            </a:r>
            <a:endParaRPr lang="en-US" sz="850" dirty="0"/>
          </a:p>
        </p:txBody>
      </p:sp>
      <p:sp>
        <p:nvSpPr>
          <p:cNvPr id="52" name="Text 49"/>
          <p:cNvSpPr/>
          <p:nvPr/>
        </p:nvSpPr>
        <p:spPr>
          <a:xfrm>
            <a:off x="7050024" y="3794760"/>
            <a:ext cx="3136392" cy="182880"/>
          </a:xfrm>
          <a:prstGeom prst="rect">
            <a:avLst/>
          </a:prstGeom>
          <a:noFill/>
          <a:ln/>
        </p:spPr>
        <p:txBody>
          <a:bodyPr wrap="square" lIns="0" tIns="0" rIns="0" bIns="0" rtlCol="0" anchor="ctr">
            <a:normAutofit/>
          </a:bodyPr>
          <a:lstStyle/>
          <a:p>
            <a:pPr indent="0" marL="0">
              <a:buNone/>
            </a:pPr>
            <a:r>
              <a:rPr lang="en-US" sz="780" b="1" dirty="0">
                <a:solidFill>
                  <a:srgbClr val="171817"/>
                </a:solidFill>
                <a:latin typeface="Courier New" pitchFamily="34" charset="0"/>
                <a:ea typeface="Courier New" pitchFamily="34" charset="-122"/>
                <a:cs typeface="Courier New" pitchFamily="34" charset="-120"/>
              </a:rPr>
              <a:t>/v1/affordability/quote</a:t>
            </a:r>
            <a:endParaRPr lang="en-US" sz="780" dirty="0"/>
          </a:p>
        </p:txBody>
      </p:sp>
      <p:sp>
        <p:nvSpPr>
          <p:cNvPr id="53" name="Text 50"/>
          <p:cNvSpPr/>
          <p:nvPr/>
        </p:nvSpPr>
        <p:spPr>
          <a:xfrm>
            <a:off x="10241280" y="3794760"/>
            <a:ext cx="1161288" cy="182880"/>
          </a:xfrm>
          <a:prstGeom prst="rect">
            <a:avLst/>
          </a:prstGeom>
          <a:noFill/>
          <a:ln/>
        </p:spPr>
        <p:txBody>
          <a:bodyPr wrap="square" lIns="0" tIns="0" rIns="0" bIns="0" rtlCol="0" anchor="ctr">
            <a:normAutofit/>
          </a:bodyPr>
          <a:lstStyle/>
          <a:p>
            <a:pPr algn="r" indent="0" marL="0">
              <a:buNone/>
            </a:pPr>
            <a:r>
              <a:rPr lang="en-US" sz="820" dirty="0">
                <a:solidFill>
                  <a:srgbClr val="666C64"/>
                </a:solidFill>
              </a:rPr>
              <a:t>White-label quote</a:t>
            </a:r>
            <a:endParaRPr lang="en-US" sz="820" dirty="0"/>
          </a:p>
        </p:txBody>
      </p:sp>
      <p:sp>
        <p:nvSpPr>
          <p:cNvPr id="54" name="Shape 51"/>
          <p:cNvSpPr/>
          <p:nvPr/>
        </p:nvSpPr>
        <p:spPr>
          <a:xfrm>
            <a:off x="6373368" y="4160520"/>
            <a:ext cx="566928" cy="292608"/>
          </a:xfrm>
          <a:prstGeom prst="roundRect">
            <a:avLst>
              <a:gd name="adj" fmla="val 25000"/>
            </a:avLst>
          </a:prstGeom>
          <a:solidFill>
            <a:srgbClr val="EFF9CB"/>
          </a:solidFill>
          <a:ln w="12700">
            <a:solidFill>
              <a:srgbClr val="EFF9CB"/>
            </a:solidFill>
            <a:prstDash val="solid"/>
          </a:ln>
        </p:spPr>
      </p:sp>
      <p:sp>
        <p:nvSpPr>
          <p:cNvPr id="55" name="Text 52"/>
          <p:cNvSpPr/>
          <p:nvPr/>
        </p:nvSpPr>
        <p:spPr>
          <a:xfrm>
            <a:off x="6446520" y="4187952"/>
            <a:ext cx="420624" cy="219456"/>
          </a:xfrm>
          <a:prstGeom prst="rect">
            <a:avLst/>
          </a:prstGeom>
          <a:noFill/>
          <a:ln/>
        </p:spPr>
        <p:txBody>
          <a:bodyPr wrap="square" lIns="0" tIns="0" rIns="0" bIns="0" rtlCol="0" anchor="ctr">
            <a:normAutofit/>
          </a:bodyPr>
          <a:lstStyle/>
          <a:p>
            <a:pPr algn="ctr" indent="0" marL="0">
              <a:buNone/>
            </a:pPr>
            <a:r>
              <a:rPr lang="en-US" sz="850" b="1" dirty="0">
                <a:solidFill>
                  <a:srgbClr val="668700"/>
                </a:solidFill>
              </a:rPr>
              <a:t>POST</a:t>
            </a:r>
            <a:endParaRPr lang="en-US" sz="850" dirty="0"/>
          </a:p>
        </p:txBody>
      </p:sp>
      <p:sp>
        <p:nvSpPr>
          <p:cNvPr id="56" name="Text 53"/>
          <p:cNvSpPr/>
          <p:nvPr/>
        </p:nvSpPr>
        <p:spPr>
          <a:xfrm>
            <a:off x="7050024" y="4224528"/>
            <a:ext cx="3136392" cy="182880"/>
          </a:xfrm>
          <a:prstGeom prst="rect">
            <a:avLst/>
          </a:prstGeom>
          <a:noFill/>
          <a:ln/>
        </p:spPr>
        <p:txBody>
          <a:bodyPr wrap="square" lIns="0" tIns="0" rIns="0" bIns="0" rtlCol="0" anchor="ctr">
            <a:normAutofit/>
          </a:bodyPr>
          <a:lstStyle/>
          <a:p>
            <a:pPr indent="0" marL="0">
              <a:buNone/>
            </a:pPr>
            <a:r>
              <a:rPr lang="en-US" sz="780" b="1" dirty="0">
                <a:solidFill>
                  <a:srgbClr val="171817"/>
                </a:solidFill>
                <a:latin typeface="Courier New" pitchFamily="34" charset="0"/>
                <a:ea typeface="Courier New" pitchFamily="34" charset="-122"/>
                <a:cs typeface="Courier New" pitchFamily="34" charset="-120"/>
              </a:rPr>
              <a:t>/v1/checkout/merchant-session</a:t>
            </a:r>
            <a:endParaRPr lang="en-US" sz="780" dirty="0"/>
          </a:p>
        </p:txBody>
      </p:sp>
      <p:sp>
        <p:nvSpPr>
          <p:cNvPr id="57" name="Text 54"/>
          <p:cNvSpPr/>
          <p:nvPr/>
        </p:nvSpPr>
        <p:spPr>
          <a:xfrm>
            <a:off x="10241280" y="4224528"/>
            <a:ext cx="1161288" cy="182880"/>
          </a:xfrm>
          <a:prstGeom prst="rect">
            <a:avLst/>
          </a:prstGeom>
          <a:noFill/>
          <a:ln/>
        </p:spPr>
        <p:txBody>
          <a:bodyPr wrap="square" lIns="0" tIns="0" rIns="0" bIns="0" rtlCol="0" anchor="ctr">
            <a:normAutofit/>
          </a:bodyPr>
          <a:lstStyle/>
          <a:p>
            <a:pPr algn="r" indent="0" marL="0">
              <a:buNone/>
            </a:pPr>
            <a:r>
              <a:rPr lang="en-US" sz="820" dirty="0">
                <a:solidFill>
                  <a:srgbClr val="666C64"/>
                </a:solidFill>
              </a:rPr>
              <a:t>Start Breeze flow</a:t>
            </a:r>
            <a:endParaRPr lang="en-US" sz="820" dirty="0"/>
          </a:p>
        </p:txBody>
      </p:sp>
      <p:sp>
        <p:nvSpPr>
          <p:cNvPr id="58" name="Shape 55"/>
          <p:cNvSpPr/>
          <p:nvPr/>
        </p:nvSpPr>
        <p:spPr>
          <a:xfrm>
            <a:off x="6373368" y="4590288"/>
            <a:ext cx="566928" cy="292608"/>
          </a:xfrm>
          <a:prstGeom prst="roundRect">
            <a:avLst>
              <a:gd name="adj" fmla="val 25000"/>
            </a:avLst>
          </a:prstGeom>
          <a:solidFill>
            <a:srgbClr val="EFF9CB"/>
          </a:solidFill>
          <a:ln w="12700">
            <a:solidFill>
              <a:srgbClr val="EFF9CB"/>
            </a:solidFill>
            <a:prstDash val="solid"/>
          </a:ln>
        </p:spPr>
      </p:sp>
      <p:sp>
        <p:nvSpPr>
          <p:cNvPr id="59" name="Text 56"/>
          <p:cNvSpPr/>
          <p:nvPr/>
        </p:nvSpPr>
        <p:spPr>
          <a:xfrm>
            <a:off x="6446520" y="4617720"/>
            <a:ext cx="420624" cy="219456"/>
          </a:xfrm>
          <a:prstGeom prst="rect">
            <a:avLst/>
          </a:prstGeom>
          <a:noFill/>
          <a:ln/>
        </p:spPr>
        <p:txBody>
          <a:bodyPr wrap="square" lIns="0" tIns="0" rIns="0" bIns="0" rtlCol="0" anchor="ctr">
            <a:normAutofit/>
          </a:bodyPr>
          <a:lstStyle/>
          <a:p>
            <a:pPr algn="ctr" indent="0" marL="0">
              <a:buNone/>
            </a:pPr>
            <a:r>
              <a:rPr lang="en-US" sz="850" b="1" dirty="0">
                <a:solidFill>
                  <a:srgbClr val="668700"/>
                </a:solidFill>
              </a:rPr>
              <a:t>POST</a:t>
            </a:r>
            <a:endParaRPr lang="en-US" sz="850" dirty="0"/>
          </a:p>
        </p:txBody>
      </p:sp>
      <p:sp>
        <p:nvSpPr>
          <p:cNvPr id="60" name="Text 57"/>
          <p:cNvSpPr/>
          <p:nvPr/>
        </p:nvSpPr>
        <p:spPr>
          <a:xfrm>
            <a:off x="7050024" y="4654296"/>
            <a:ext cx="3136392" cy="182880"/>
          </a:xfrm>
          <a:prstGeom prst="rect">
            <a:avLst/>
          </a:prstGeom>
          <a:noFill/>
          <a:ln/>
        </p:spPr>
        <p:txBody>
          <a:bodyPr wrap="square" lIns="0" tIns="0" rIns="0" bIns="0" rtlCol="0" anchor="ctr">
            <a:normAutofit/>
          </a:bodyPr>
          <a:lstStyle/>
          <a:p>
            <a:pPr indent="0" marL="0">
              <a:buNone/>
            </a:pPr>
            <a:r>
              <a:rPr lang="en-US" sz="780" b="1" dirty="0">
                <a:solidFill>
                  <a:srgbClr val="171817"/>
                </a:solidFill>
                <a:latin typeface="Courier New" pitchFamily="34" charset="0"/>
                <a:ea typeface="Courier New" pitchFamily="34" charset="-122"/>
                <a:cs typeface="Courier New" pitchFamily="34" charset="-120"/>
              </a:rPr>
              <a:t>/v1/orders/{id}/refund</a:t>
            </a:r>
            <a:endParaRPr lang="en-US" sz="780" dirty="0"/>
          </a:p>
        </p:txBody>
      </p:sp>
      <p:sp>
        <p:nvSpPr>
          <p:cNvPr id="61" name="Text 58"/>
          <p:cNvSpPr/>
          <p:nvPr/>
        </p:nvSpPr>
        <p:spPr>
          <a:xfrm>
            <a:off x="10241280" y="4654296"/>
            <a:ext cx="1161288" cy="182880"/>
          </a:xfrm>
          <a:prstGeom prst="rect">
            <a:avLst/>
          </a:prstGeom>
          <a:noFill/>
          <a:ln/>
        </p:spPr>
        <p:txBody>
          <a:bodyPr wrap="square" lIns="0" tIns="0" rIns="0" bIns="0" rtlCol="0" anchor="ctr">
            <a:normAutofit/>
          </a:bodyPr>
          <a:lstStyle/>
          <a:p>
            <a:pPr algn="r" indent="0" marL="0">
              <a:buNone/>
            </a:pPr>
            <a:r>
              <a:rPr lang="en-US" sz="820" dirty="0">
                <a:solidFill>
                  <a:srgbClr val="666C64"/>
                </a:solidFill>
              </a:rPr>
              <a:t>Reconcile return</a:t>
            </a:r>
            <a:endParaRPr lang="en-US" sz="820" dirty="0"/>
          </a:p>
        </p:txBody>
      </p:sp>
      <p:sp>
        <p:nvSpPr>
          <p:cNvPr id="62" name="Shape 59"/>
          <p:cNvSpPr/>
          <p:nvPr/>
        </p:nvSpPr>
        <p:spPr>
          <a:xfrm>
            <a:off x="6373368" y="5020056"/>
            <a:ext cx="566928" cy="292608"/>
          </a:xfrm>
          <a:prstGeom prst="roundRect">
            <a:avLst>
              <a:gd name="adj" fmla="val 25000"/>
            </a:avLst>
          </a:prstGeom>
          <a:solidFill>
            <a:srgbClr val="EFF9CB"/>
          </a:solidFill>
          <a:ln w="12700">
            <a:solidFill>
              <a:srgbClr val="EFF9CB"/>
            </a:solidFill>
            <a:prstDash val="solid"/>
          </a:ln>
        </p:spPr>
      </p:sp>
      <p:sp>
        <p:nvSpPr>
          <p:cNvPr id="63" name="Text 60"/>
          <p:cNvSpPr/>
          <p:nvPr/>
        </p:nvSpPr>
        <p:spPr>
          <a:xfrm>
            <a:off x="6446520" y="5047488"/>
            <a:ext cx="420624" cy="219456"/>
          </a:xfrm>
          <a:prstGeom prst="rect">
            <a:avLst/>
          </a:prstGeom>
          <a:noFill/>
          <a:ln/>
        </p:spPr>
        <p:txBody>
          <a:bodyPr wrap="square" lIns="0" tIns="0" rIns="0" bIns="0" rtlCol="0" anchor="ctr">
            <a:normAutofit/>
          </a:bodyPr>
          <a:lstStyle/>
          <a:p>
            <a:pPr algn="ctr" indent="0" marL="0">
              <a:buNone/>
            </a:pPr>
            <a:r>
              <a:rPr lang="en-US" sz="850" b="1" dirty="0">
                <a:solidFill>
                  <a:srgbClr val="668700"/>
                </a:solidFill>
              </a:rPr>
              <a:t>POST</a:t>
            </a:r>
            <a:endParaRPr lang="en-US" sz="850" dirty="0"/>
          </a:p>
        </p:txBody>
      </p:sp>
      <p:sp>
        <p:nvSpPr>
          <p:cNvPr id="64" name="Text 61"/>
          <p:cNvSpPr/>
          <p:nvPr/>
        </p:nvSpPr>
        <p:spPr>
          <a:xfrm>
            <a:off x="7050024" y="5084064"/>
            <a:ext cx="3136392" cy="182880"/>
          </a:xfrm>
          <a:prstGeom prst="rect">
            <a:avLst/>
          </a:prstGeom>
          <a:noFill/>
          <a:ln/>
        </p:spPr>
        <p:txBody>
          <a:bodyPr wrap="square" lIns="0" tIns="0" rIns="0" bIns="0" rtlCol="0" anchor="ctr">
            <a:normAutofit/>
          </a:bodyPr>
          <a:lstStyle/>
          <a:p>
            <a:pPr indent="0" marL="0">
              <a:buNone/>
            </a:pPr>
            <a:r>
              <a:rPr lang="en-US" sz="780" b="1" dirty="0">
                <a:solidFill>
                  <a:srgbClr val="171817"/>
                </a:solidFill>
                <a:latin typeface="Courier New" pitchFamily="34" charset="0"/>
                <a:ea typeface="Courier New" pitchFamily="34" charset="-122"/>
                <a:cs typeface="Courier New" pitchFamily="34" charset="-120"/>
              </a:rPr>
              <a:t>/v1/webhooks/order-status</a:t>
            </a:r>
            <a:endParaRPr lang="en-US" sz="780" dirty="0"/>
          </a:p>
        </p:txBody>
      </p:sp>
      <p:sp>
        <p:nvSpPr>
          <p:cNvPr id="65" name="Text 62"/>
          <p:cNvSpPr/>
          <p:nvPr/>
        </p:nvSpPr>
        <p:spPr>
          <a:xfrm>
            <a:off x="10241280" y="5084064"/>
            <a:ext cx="1161288" cy="182880"/>
          </a:xfrm>
          <a:prstGeom prst="rect">
            <a:avLst/>
          </a:prstGeom>
          <a:noFill/>
          <a:ln/>
        </p:spPr>
        <p:txBody>
          <a:bodyPr wrap="square" lIns="0" tIns="0" rIns="0" bIns="0" rtlCol="0" anchor="ctr">
            <a:normAutofit/>
          </a:bodyPr>
          <a:lstStyle/>
          <a:p>
            <a:pPr algn="r" indent="0" marL="0">
              <a:buNone/>
            </a:pPr>
            <a:r>
              <a:rPr lang="en-US" sz="820" dirty="0">
                <a:solidFill>
                  <a:srgbClr val="666C64"/>
                </a:solidFill>
              </a:rPr>
              <a:t>Sync fulfilment</a:t>
            </a:r>
            <a:endParaRPr lang="en-US" sz="820" dirty="0"/>
          </a:p>
        </p:txBody>
      </p:sp>
      <p:sp>
        <p:nvSpPr>
          <p:cNvPr id="66" name="Shape 63"/>
          <p:cNvSpPr/>
          <p:nvPr/>
        </p:nvSpPr>
        <p:spPr>
          <a:xfrm>
            <a:off x="594360" y="5833872"/>
            <a:ext cx="11018520" cy="274320"/>
          </a:xfrm>
          <a:prstGeom prst="rect">
            <a:avLst/>
          </a:prstGeom>
          <a:solidFill>
            <a:srgbClr val="171817"/>
          </a:solidFill>
          <a:ln w="12700">
            <a:solidFill>
              <a:srgbClr val="171817"/>
            </a:solidFill>
            <a:prstDash val="solid"/>
          </a:ln>
        </p:spPr>
      </p:sp>
      <p:sp>
        <p:nvSpPr>
          <p:cNvPr id="67" name="Text 64"/>
          <p:cNvSpPr/>
          <p:nvPr/>
        </p:nvSpPr>
        <p:spPr>
          <a:xfrm>
            <a:off x="822960" y="5907024"/>
            <a:ext cx="10561320" cy="146304"/>
          </a:xfrm>
          <a:prstGeom prst="rect">
            <a:avLst/>
          </a:prstGeom>
          <a:noFill/>
          <a:ln/>
        </p:spPr>
        <p:txBody>
          <a:bodyPr wrap="square" lIns="0" tIns="0" rIns="0" bIns="0" rtlCol="0" anchor="ctr"/>
          <a:lstStyle/>
          <a:p>
            <a:pPr algn="ctr" indent="0" marL="0">
              <a:buNone/>
            </a:pPr>
            <a:r>
              <a:rPr lang="en-US" sz="840" b="1" dirty="0">
                <a:solidFill>
                  <a:srgbClr val="FFFFFF"/>
                </a:solidFill>
              </a:rPr>
              <a:t>Contract rules: idempotency keys  |  quote expiry + version  |  signed webhooks  |  replay protection  |  event audit trail</a:t>
            </a:r>
            <a:endParaRPr lang="en-US" sz="8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566928" y="329184"/>
            <a:ext cx="274320" cy="274320"/>
          </a:xfrm>
          <a:prstGeom prst="roundRect">
            <a:avLst>
              <a:gd name="adj" fmla="val 16667"/>
            </a:avLst>
          </a:prstGeom>
          <a:solidFill>
            <a:srgbClr val="C9F044"/>
          </a:solidFill>
          <a:ln w="12700">
            <a:solidFill>
              <a:srgbClr val="C9F044"/>
            </a:solidFill>
            <a:prstDash val="solid"/>
          </a:ln>
        </p:spPr>
      </p:sp>
      <p:sp>
        <p:nvSpPr>
          <p:cNvPr id="3" name="Text 1"/>
          <p:cNvSpPr/>
          <p:nvPr/>
        </p:nvSpPr>
        <p:spPr>
          <a:xfrm>
            <a:off x="566928" y="324612"/>
            <a:ext cx="274320" cy="274320"/>
          </a:xfrm>
          <a:prstGeom prst="rect">
            <a:avLst/>
          </a:prstGeom>
          <a:noFill/>
          <a:ln/>
        </p:spPr>
        <p:txBody>
          <a:bodyPr wrap="square" lIns="0" tIns="0" rIns="0" bIns="0" rtlCol="0" anchor="ctr"/>
          <a:lstStyle/>
          <a:p>
            <a:pPr algn="ctr" indent="0" marL="0">
              <a:buNone/>
            </a:pPr>
            <a:r>
              <a:rPr lang="en-US" sz="1500" b="1" dirty="0">
                <a:solidFill>
                  <a:srgbClr val="171817"/>
                </a:solidFill>
                <a:latin typeface="Arial" pitchFamily="34" charset="0"/>
                <a:ea typeface="Arial" pitchFamily="34" charset="-122"/>
                <a:cs typeface="Arial" pitchFamily="34" charset="-120"/>
              </a:rPr>
              <a:t>s</a:t>
            </a:r>
            <a:endParaRPr lang="en-US" sz="1500" dirty="0"/>
          </a:p>
        </p:txBody>
      </p:sp>
      <p:sp>
        <p:nvSpPr>
          <p:cNvPr id="4" name="Text 2"/>
          <p:cNvSpPr/>
          <p:nvPr/>
        </p:nvSpPr>
        <p:spPr>
          <a:xfrm>
            <a:off x="932688" y="320040"/>
            <a:ext cx="1280160" cy="292608"/>
          </a:xfrm>
          <a:prstGeom prst="rect">
            <a:avLst/>
          </a:prstGeom>
          <a:noFill/>
          <a:ln/>
        </p:spPr>
        <p:txBody>
          <a:bodyPr wrap="square" lIns="0" tIns="0" rIns="0" bIns="0" rtlCol="0" anchor="ctr"/>
          <a:lstStyle/>
          <a:p>
            <a:pPr indent="0" marL="0">
              <a:buNone/>
            </a:pPr>
            <a:r>
              <a:rPr lang="en-US" sz="1300" b="1" dirty="0">
                <a:solidFill>
                  <a:srgbClr val="171817"/>
                </a:solidFill>
                <a:latin typeface="Arial" pitchFamily="34" charset="0"/>
                <a:ea typeface="Arial" pitchFamily="34" charset="-122"/>
                <a:cs typeface="Arial" pitchFamily="34" charset="-120"/>
              </a:rPr>
              <a:t>super</a:t>
            </a:r>
            <a:pPr indent="0" marL="0">
              <a:buNone/>
            </a:pPr>
            <a:r>
              <a:rPr lang="en-US" sz="1300" b="1" dirty="0">
                <a:solidFill>
                  <a:srgbClr val="C9F044"/>
                </a:solidFill>
                <a:latin typeface="Arial" pitchFamily="34" charset="0"/>
                <a:ea typeface="Arial" pitchFamily="34" charset="-122"/>
                <a:cs typeface="Arial" pitchFamily="34" charset="-120"/>
              </a:rPr>
              <a:t>.money</a:t>
            </a:r>
            <a:endParaRPr lang="en-US" sz="1300" dirty="0"/>
          </a:p>
        </p:txBody>
      </p:sp>
      <p:sp>
        <p:nvSpPr>
          <p:cNvPr id="5" name="Text 3"/>
          <p:cNvSpPr/>
          <p:nvPr/>
        </p:nvSpPr>
        <p:spPr>
          <a:xfrm>
            <a:off x="566928" y="832104"/>
            <a:ext cx="2926080" cy="182880"/>
          </a:xfrm>
          <a:prstGeom prst="rect">
            <a:avLst/>
          </a:prstGeom>
          <a:noFill/>
          <a:ln/>
        </p:spPr>
        <p:txBody>
          <a:bodyPr wrap="square" lIns="0" tIns="0" rIns="0" bIns="0" rtlCol="0" anchor="ctr"/>
          <a:lstStyle/>
          <a:p>
            <a:pPr indent="0" marL="0">
              <a:buNone/>
            </a:pPr>
            <a:r>
              <a:rPr lang="en-US" sz="850" b="1" spc="160" kern="0" dirty="0">
                <a:solidFill>
                  <a:srgbClr val="668700"/>
                </a:solidFill>
              </a:rPr>
              <a:t>APPENDIX D</a:t>
            </a:r>
            <a:endParaRPr lang="en-US" sz="850" dirty="0"/>
          </a:p>
        </p:txBody>
      </p:sp>
      <p:sp>
        <p:nvSpPr>
          <p:cNvPr id="6" name="Text 4"/>
          <p:cNvSpPr/>
          <p:nvPr/>
        </p:nvSpPr>
        <p:spPr>
          <a:xfrm>
            <a:off x="566928" y="1033272"/>
            <a:ext cx="10789920" cy="530352"/>
          </a:xfrm>
          <a:prstGeom prst="rect">
            <a:avLst/>
          </a:prstGeom>
          <a:noFill/>
          <a:ln/>
        </p:spPr>
        <p:txBody>
          <a:bodyPr wrap="square" lIns="0" tIns="0" rIns="0" bIns="0" rtlCol="0" anchor="ctr">
            <a:normAutofit/>
          </a:bodyPr>
          <a:lstStyle/>
          <a:p>
            <a:pPr indent="0" marL="0">
              <a:buNone/>
            </a:pPr>
            <a:r>
              <a:rPr lang="en-US" sz="2700" b="1" dirty="0">
                <a:solidFill>
                  <a:srgbClr val="171817"/>
                </a:solidFill>
              </a:rPr>
              <a:t>Risk guardrails are product requirements, not post-launch controls.</a:t>
            </a:r>
            <a:endParaRPr lang="en-US" sz="2700" dirty="0"/>
          </a:p>
        </p:txBody>
      </p:sp>
      <p:sp>
        <p:nvSpPr>
          <p:cNvPr id="7" name="Text 5"/>
          <p:cNvSpPr/>
          <p:nvPr/>
        </p:nvSpPr>
        <p:spPr>
          <a:xfrm>
            <a:off x="585216" y="1627632"/>
            <a:ext cx="8961120" cy="365760"/>
          </a:xfrm>
          <a:prstGeom prst="rect">
            <a:avLst/>
          </a:prstGeom>
          <a:noFill/>
          <a:ln/>
        </p:spPr>
        <p:txBody>
          <a:bodyPr wrap="square" lIns="0" tIns="0" rIns="0" bIns="0" rtlCol="0" anchor="ctr">
            <a:normAutofit/>
          </a:bodyPr>
          <a:lstStyle/>
          <a:p>
            <a:pPr indent="0" marL="0">
              <a:buNone/>
            </a:pPr>
            <a:r>
              <a:rPr lang="en-US" sz="1150" dirty="0">
                <a:solidFill>
                  <a:srgbClr val="666C64"/>
                </a:solidFill>
              </a:rPr>
              <a:t>Responsible limits, SKU restrictions, seller quality, disclosure, and refund design determine whether the flywheel works.</a:t>
            </a:r>
            <a:endParaRPr lang="en-US" sz="1150" dirty="0"/>
          </a:p>
        </p:txBody>
      </p:sp>
      <p:sp>
        <p:nvSpPr>
          <p:cNvPr id="8" name="Shape 6"/>
          <p:cNvSpPr/>
          <p:nvPr/>
        </p:nvSpPr>
        <p:spPr>
          <a:xfrm>
            <a:off x="566928" y="6519672"/>
            <a:ext cx="11064240" cy="0"/>
          </a:xfrm>
          <a:prstGeom prst="line">
            <a:avLst/>
          </a:prstGeom>
          <a:noFill/>
          <a:ln w="8890">
            <a:solidFill>
              <a:srgbClr val="DFE2DB"/>
            </a:solidFill>
            <a:prstDash val="solid"/>
          </a:ln>
        </p:spPr>
      </p:sp>
      <p:sp>
        <p:nvSpPr>
          <p:cNvPr id="9" name="Text 7"/>
          <p:cNvSpPr/>
          <p:nvPr/>
        </p:nvSpPr>
        <p:spPr>
          <a:xfrm>
            <a:off x="566928" y="6574536"/>
            <a:ext cx="3200400" cy="164592"/>
          </a:xfrm>
          <a:prstGeom prst="rect">
            <a:avLst/>
          </a:prstGeom>
          <a:noFill/>
          <a:ln/>
        </p:spPr>
        <p:txBody>
          <a:bodyPr wrap="square" lIns="0" tIns="0" rIns="0" bIns="0" rtlCol="0" anchor="ctr"/>
          <a:lstStyle/>
          <a:p>
            <a:pPr indent="0" marL="0">
              <a:buNone/>
            </a:pPr>
            <a:r>
              <a:rPr lang="en-US" sz="750" b="1" spc="140" kern="0" dirty="0">
                <a:solidFill>
                  <a:srgbClr val="666C64"/>
                </a:solidFill>
              </a:rPr>
              <a:t>TECHNICAL APPENDIX</a:t>
            </a:r>
            <a:endParaRPr lang="en-US" sz="750" dirty="0"/>
          </a:p>
        </p:txBody>
      </p:sp>
      <p:sp>
        <p:nvSpPr>
          <p:cNvPr id="10" name="Text 8"/>
          <p:cNvSpPr/>
          <p:nvPr/>
        </p:nvSpPr>
        <p:spPr>
          <a:xfrm>
            <a:off x="11173968" y="6556248"/>
            <a:ext cx="457200" cy="182880"/>
          </a:xfrm>
          <a:prstGeom prst="rect">
            <a:avLst/>
          </a:prstGeom>
          <a:noFill/>
          <a:ln/>
        </p:spPr>
        <p:txBody>
          <a:bodyPr wrap="square" lIns="0" tIns="0" rIns="0" bIns="0" rtlCol="0" anchor="ctr"/>
          <a:lstStyle/>
          <a:p>
            <a:pPr algn="r" indent="0" marL="0">
              <a:buNone/>
            </a:pPr>
            <a:r>
              <a:rPr lang="en-US" sz="800" b="1" dirty="0">
                <a:solidFill>
                  <a:srgbClr val="666C64"/>
                </a:solidFill>
              </a:rPr>
              <a:t>15</a:t>
            </a:r>
            <a:endParaRPr lang="en-US" sz="800" dirty="0"/>
          </a:p>
        </p:txBody>
      </p:sp>
      <p:sp>
        <p:nvSpPr>
          <p:cNvPr id="12" name="Shape 9"/>
          <p:cNvSpPr/>
          <p:nvPr/>
        </p:nvSpPr>
        <p:spPr>
          <a:xfrm>
            <a:off x="594360" y="2221992"/>
            <a:ext cx="2011680" cy="530352"/>
          </a:xfrm>
          <a:prstGeom prst="rect">
            <a:avLst/>
          </a:prstGeom>
          <a:solidFill>
            <a:srgbClr val="E8EDFF"/>
          </a:solidFill>
          <a:ln w="12700">
            <a:solidFill>
              <a:srgbClr val="E8EDFF"/>
            </a:solidFill>
            <a:prstDash val="solid"/>
          </a:ln>
        </p:spPr>
      </p:sp>
      <p:sp>
        <p:nvSpPr>
          <p:cNvPr id="13" name="Text 10"/>
          <p:cNvSpPr/>
          <p:nvPr/>
        </p:nvSpPr>
        <p:spPr>
          <a:xfrm>
            <a:off x="786384" y="2404872"/>
            <a:ext cx="1627632" cy="155448"/>
          </a:xfrm>
          <a:prstGeom prst="rect">
            <a:avLst/>
          </a:prstGeom>
          <a:noFill/>
          <a:ln/>
        </p:spPr>
        <p:txBody>
          <a:bodyPr wrap="square" lIns="0" tIns="0" rIns="0" bIns="0" rtlCol="0" anchor="ctr"/>
          <a:lstStyle/>
          <a:p>
            <a:pPr indent="0" marL="0">
              <a:buNone/>
            </a:pPr>
            <a:r>
              <a:rPr lang="en-US" sz="850" b="1" spc="100" kern="0" dirty="0">
                <a:solidFill>
                  <a:srgbClr val="3566E8"/>
                </a:solidFill>
              </a:rPr>
              <a:t>CREDIT LOSS</a:t>
            </a:r>
            <a:endParaRPr lang="en-US" sz="850" dirty="0"/>
          </a:p>
        </p:txBody>
      </p:sp>
      <p:sp>
        <p:nvSpPr>
          <p:cNvPr id="14" name="Shape 11"/>
          <p:cNvSpPr/>
          <p:nvPr/>
        </p:nvSpPr>
        <p:spPr>
          <a:xfrm>
            <a:off x="2743200" y="2368296"/>
            <a:ext cx="310896" cy="237744"/>
          </a:xfrm>
          <a:prstGeom prst="chevron">
            <a:avLst/>
          </a:prstGeom>
          <a:solidFill>
            <a:srgbClr val="C9CDC4"/>
          </a:solidFill>
          <a:ln w="12700">
            <a:solidFill>
              <a:srgbClr val="C9CDC4"/>
            </a:solidFill>
            <a:prstDash val="solid"/>
          </a:ln>
        </p:spPr>
      </p:sp>
      <p:sp>
        <p:nvSpPr>
          <p:cNvPr id="15" name="Shape 12"/>
          <p:cNvSpPr/>
          <p:nvPr/>
        </p:nvSpPr>
        <p:spPr>
          <a:xfrm>
            <a:off x="3218688" y="2221992"/>
            <a:ext cx="8394192" cy="530352"/>
          </a:xfrm>
          <a:prstGeom prst="rect">
            <a:avLst/>
          </a:prstGeom>
          <a:solidFill>
            <a:srgbClr val="FFFFFF"/>
          </a:solidFill>
          <a:ln w="12700">
            <a:solidFill>
              <a:srgbClr val="DFE2DB"/>
            </a:solidFill>
            <a:prstDash val="solid"/>
          </a:ln>
        </p:spPr>
      </p:sp>
      <p:sp>
        <p:nvSpPr>
          <p:cNvPr id="16" name="Text 13"/>
          <p:cNvSpPr/>
          <p:nvPr/>
        </p:nvSpPr>
        <p:spPr>
          <a:xfrm>
            <a:off x="3474720" y="2386584"/>
            <a:ext cx="7863840" cy="182880"/>
          </a:xfrm>
          <a:prstGeom prst="rect">
            <a:avLst/>
          </a:prstGeom>
          <a:noFill/>
          <a:ln/>
        </p:spPr>
        <p:txBody>
          <a:bodyPr wrap="square" lIns="0" tIns="0" rIns="0" bIns="0" rtlCol="0" anchor="ctr">
            <a:normAutofit/>
          </a:bodyPr>
          <a:lstStyle/>
          <a:p>
            <a:pPr indent="0" marL="0">
              <a:buNone/>
            </a:pPr>
            <a:r>
              <a:rPr lang="en-US" sz="1050" b="1" dirty="0">
                <a:solidFill>
                  <a:srgbClr val="171817"/>
                </a:solidFill>
              </a:rPr>
              <a:t>Small limits, down payment, short tenor, DPD cohort gates</a:t>
            </a:r>
            <a:endParaRPr lang="en-US" sz="1050" dirty="0"/>
          </a:p>
        </p:txBody>
      </p:sp>
      <p:sp>
        <p:nvSpPr>
          <p:cNvPr id="17" name="Shape 14"/>
          <p:cNvSpPr/>
          <p:nvPr/>
        </p:nvSpPr>
        <p:spPr>
          <a:xfrm>
            <a:off x="594360" y="2935224"/>
            <a:ext cx="2011680" cy="530352"/>
          </a:xfrm>
          <a:prstGeom prst="rect">
            <a:avLst/>
          </a:prstGeom>
          <a:solidFill>
            <a:srgbClr val="FFEBE8"/>
          </a:solidFill>
          <a:ln w="12700">
            <a:solidFill>
              <a:srgbClr val="FFEBE8"/>
            </a:solidFill>
            <a:prstDash val="solid"/>
          </a:ln>
        </p:spPr>
      </p:sp>
      <p:sp>
        <p:nvSpPr>
          <p:cNvPr id="18" name="Text 15"/>
          <p:cNvSpPr/>
          <p:nvPr/>
        </p:nvSpPr>
        <p:spPr>
          <a:xfrm>
            <a:off x="786384" y="3118104"/>
            <a:ext cx="1627632" cy="155448"/>
          </a:xfrm>
          <a:prstGeom prst="rect">
            <a:avLst/>
          </a:prstGeom>
          <a:noFill/>
          <a:ln/>
        </p:spPr>
        <p:txBody>
          <a:bodyPr wrap="square" lIns="0" tIns="0" rIns="0" bIns="0" rtlCol="0" anchor="ctr"/>
          <a:lstStyle/>
          <a:p>
            <a:pPr indent="0" marL="0">
              <a:buNone/>
            </a:pPr>
            <a:r>
              <a:rPr lang="en-US" sz="850" b="1" spc="100" kern="0" dirty="0">
                <a:solidFill>
                  <a:srgbClr val="F26A5D"/>
                </a:solidFill>
              </a:rPr>
              <a:t>RETURN ABUSE</a:t>
            </a:r>
            <a:endParaRPr lang="en-US" sz="850" dirty="0"/>
          </a:p>
        </p:txBody>
      </p:sp>
      <p:sp>
        <p:nvSpPr>
          <p:cNvPr id="19" name="Shape 16"/>
          <p:cNvSpPr/>
          <p:nvPr/>
        </p:nvSpPr>
        <p:spPr>
          <a:xfrm>
            <a:off x="2743200" y="3081528"/>
            <a:ext cx="310896" cy="237744"/>
          </a:xfrm>
          <a:prstGeom prst="chevron">
            <a:avLst/>
          </a:prstGeom>
          <a:solidFill>
            <a:srgbClr val="C9CDC4"/>
          </a:solidFill>
          <a:ln w="12700">
            <a:solidFill>
              <a:srgbClr val="C9CDC4"/>
            </a:solidFill>
            <a:prstDash val="solid"/>
          </a:ln>
        </p:spPr>
      </p:sp>
      <p:sp>
        <p:nvSpPr>
          <p:cNvPr id="20" name="Shape 17"/>
          <p:cNvSpPr/>
          <p:nvPr/>
        </p:nvSpPr>
        <p:spPr>
          <a:xfrm>
            <a:off x="3218688" y="2935224"/>
            <a:ext cx="8394192" cy="530352"/>
          </a:xfrm>
          <a:prstGeom prst="rect">
            <a:avLst/>
          </a:prstGeom>
          <a:solidFill>
            <a:srgbClr val="FFFFFF"/>
          </a:solidFill>
          <a:ln w="12700">
            <a:solidFill>
              <a:srgbClr val="DFE2DB"/>
            </a:solidFill>
            <a:prstDash val="solid"/>
          </a:ln>
        </p:spPr>
      </p:sp>
      <p:sp>
        <p:nvSpPr>
          <p:cNvPr id="21" name="Text 18"/>
          <p:cNvSpPr/>
          <p:nvPr/>
        </p:nvSpPr>
        <p:spPr>
          <a:xfrm>
            <a:off x="3474720" y="3099816"/>
            <a:ext cx="7863840" cy="182880"/>
          </a:xfrm>
          <a:prstGeom prst="rect">
            <a:avLst/>
          </a:prstGeom>
          <a:noFill/>
          <a:ln/>
        </p:spPr>
        <p:txBody>
          <a:bodyPr wrap="square" lIns="0" tIns="0" rIns="0" bIns="0" rtlCol="0" anchor="ctr">
            <a:normAutofit/>
          </a:bodyPr>
          <a:lstStyle/>
          <a:p>
            <a:pPr indent="0" marL="0">
              <a:buNone/>
            </a:pPr>
            <a:r>
              <a:rPr lang="en-US" sz="1050" b="1" dirty="0">
                <a:solidFill>
                  <a:srgbClr val="171817"/>
                </a:solidFill>
              </a:rPr>
              <a:t>Exclude high-return SKUs; hold limit until resolution</a:t>
            </a:r>
            <a:endParaRPr lang="en-US" sz="1050" dirty="0"/>
          </a:p>
        </p:txBody>
      </p:sp>
      <p:sp>
        <p:nvSpPr>
          <p:cNvPr id="22" name="Shape 19"/>
          <p:cNvSpPr/>
          <p:nvPr/>
        </p:nvSpPr>
        <p:spPr>
          <a:xfrm>
            <a:off x="594360" y="3648456"/>
            <a:ext cx="2011680" cy="530352"/>
          </a:xfrm>
          <a:prstGeom prst="rect">
            <a:avLst/>
          </a:prstGeom>
          <a:solidFill>
            <a:srgbClr val="EFF9CB"/>
          </a:solidFill>
          <a:ln w="12700">
            <a:solidFill>
              <a:srgbClr val="EFF9CB"/>
            </a:solidFill>
            <a:prstDash val="solid"/>
          </a:ln>
        </p:spPr>
      </p:sp>
      <p:sp>
        <p:nvSpPr>
          <p:cNvPr id="23" name="Text 20"/>
          <p:cNvSpPr/>
          <p:nvPr/>
        </p:nvSpPr>
        <p:spPr>
          <a:xfrm>
            <a:off x="786384" y="3831336"/>
            <a:ext cx="1627632" cy="155448"/>
          </a:xfrm>
          <a:prstGeom prst="rect">
            <a:avLst/>
          </a:prstGeom>
          <a:noFill/>
          <a:ln/>
        </p:spPr>
        <p:txBody>
          <a:bodyPr wrap="square" lIns="0" tIns="0" rIns="0" bIns="0" rtlCol="0" anchor="ctr"/>
          <a:lstStyle/>
          <a:p>
            <a:pPr indent="0" marL="0">
              <a:buNone/>
            </a:pPr>
            <a:r>
              <a:rPr lang="en-US" sz="850" b="1" spc="100" kern="0" dirty="0">
                <a:solidFill>
                  <a:srgbClr val="668700"/>
                </a:solidFill>
              </a:rPr>
              <a:t>SELLER QUALITY</a:t>
            </a:r>
            <a:endParaRPr lang="en-US" sz="850" dirty="0"/>
          </a:p>
        </p:txBody>
      </p:sp>
      <p:sp>
        <p:nvSpPr>
          <p:cNvPr id="24" name="Shape 21"/>
          <p:cNvSpPr/>
          <p:nvPr/>
        </p:nvSpPr>
        <p:spPr>
          <a:xfrm>
            <a:off x="2743200" y="3794760"/>
            <a:ext cx="310896" cy="237744"/>
          </a:xfrm>
          <a:prstGeom prst="chevron">
            <a:avLst/>
          </a:prstGeom>
          <a:solidFill>
            <a:srgbClr val="C9CDC4"/>
          </a:solidFill>
          <a:ln w="12700">
            <a:solidFill>
              <a:srgbClr val="C9CDC4"/>
            </a:solidFill>
            <a:prstDash val="solid"/>
          </a:ln>
        </p:spPr>
      </p:sp>
      <p:sp>
        <p:nvSpPr>
          <p:cNvPr id="25" name="Shape 22"/>
          <p:cNvSpPr/>
          <p:nvPr/>
        </p:nvSpPr>
        <p:spPr>
          <a:xfrm>
            <a:off x="3218688" y="3648456"/>
            <a:ext cx="8394192" cy="530352"/>
          </a:xfrm>
          <a:prstGeom prst="rect">
            <a:avLst/>
          </a:prstGeom>
          <a:solidFill>
            <a:srgbClr val="FFFFFF"/>
          </a:solidFill>
          <a:ln w="12700">
            <a:solidFill>
              <a:srgbClr val="DFE2DB"/>
            </a:solidFill>
            <a:prstDash val="solid"/>
          </a:ln>
        </p:spPr>
      </p:sp>
      <p:sp>
        <p:nvSpPr>
          <p:cNvPr id="26" name="Text 23"/>
          <p:cNvSpPr/>
          <p:nvPr/>
        </p:nvSpPr>
        <p:spPr>
          <a:xfrm>
            <a:off x="3474720" y="3813048"/>
            <a:ext cx="7863840" cy="182880"/>
          </a:xfrm>
          <a:prstGeom prst="rect">
            <a:avLst/>
          </a:prstGeom>
          <a:noFill/>
          <a:ln/>
        </p:spPr>
        <p:txBody>
          <a:bodyPr wrap="square" lIns="0" tIns="0" rIns="0" bIns="0" rtlCol="0" anchor="ctr">
            <a:normAutofit/>
          </a:bodyPr>
          <a:lstStyle/>
          <a:p>
            <a:pPr indent="0" marL="0">
              <a:buNone/>
            </a:pPr>
            <a:r>
              <a:rPr lang="en-US" sz="1050" b="1" dirty="0">
                <a:solidFill>
                  <a:srgbClr val="171817"/>
                </a:solidFill>
              </a:rPr>
              <a:t>KYB, risk tiers, SLA monitoring, settlement holds</a:t>
            </a:r>
            <a:endParaRPr lang="en-US" sz="1050" dirty="0"/>
          </a:p>
        </p:txBody>
      </p:sp>
      <p:sp>
        <p:nvSpPr>
          <p:cNvPr id="27" name="Shape 24"/>
          <p:cNvSpPr/>
          <p:nvPr/>
        </p:nvSpPr>
        <p:spPr>
          <a:xfrm>
            <a:off x="594360" y="4361688"/>
            <a:ext cx="2011680" cy="530352"/>
          </a:xfrm>
          <a:prstGeom prst="rect">
            <a:avLst/>
          </a:prstGeom>
          <a:solidFill>
            <a:srgbClr val="DFF4E5"/>
          </a:solidFill>
          <a:ln w="12700">
            <a:solidFill>
              <a:srgbClr val="DFF4E5"/>
            </a:solidFill>
            <a:prstDash val="solid"/>
          </a:ln>
        </p:spPr>
      </p:sp>
      <p:sp>
        <p:nvSpPr>
          <p:cNvPr id="28" name="Text 25"/>
          <p:cNvSpPr/>
          <p:nvPr/>
        </p:nvSpPr>
        <p:spPr>
          <a:xfrm>
            <a:off x="786384" y="4544568"/>
            <a:ext cx="1627632" cy="155448"/>
          </a:xfrm>
          <a:prstGeom prst="rect">
            <a:avLst/>
          </a:prstGeom>
          <a:noFill/>
          <a:ln/>
        </p:spPr>
        <p:txBody>
          <a:bodyPr wrap="square" lIns="0" tIns="0" rIns="0" bIns="0" rtlCol="0" anchor="ctr"/>
          <a:lstStyle/>
          <a:p>
            <a:pPr indent="0" marL="0">
              <a:buNone/>
            </a:pPr>
            <a:r>
              <a:rPr lang="en-US" sz="850" b="1" spc="100" kern="0" dirty="0">
                <a:solidFill>
                  <a:srgbClr val="237346"/>
                </a:solidFill>
              </a:rPr>
              <a:t>REGULATORY</a:t>
            </a:r>
            <a:endParaRPr lang="en-US" sz="850" dirty="0"/>
          </a:p>
        </p:txBody>
      </p:sp>
      <p:sp>
        <p:nvSpPr>
          <p:cNvPr id="29" name="Shape 26"/>
          <p:cNvSpPr/>
          <p:nvPr/>
        </p:nvSpPr>
        <p:spPr>
          <a:xfrm>
            <a:off x="2743200" y="4507992"/>
            <a:ext cx="310896" cy="237744"/>
          </a:xfrm>
          <a:prstGeom prst="chevron">
            <a:avLst/>
          </a:prstGeom>
          <a:solidFill>
            <a:srgbClr val="C9CDC4"/>
          </a:solidFill>
          <a:ln w="12700">
            <a:solidFill>
              <a:srgbClr val="C9CDC4"/>
            </a:solidFill>
            <a:prstDash val="solid"/>
          </a:ln>
        </p:spPr>
      </p:sp>
      <p:sp>
        <p:nvSpPr>
          <p:cNvPr id="30" name="Shape 27"/>
          <p:cNvSpPr/>
          <p:nvPr/>
        </p:nvSpPr>
        <p:spPr>
          <a:xfrm>
            <a:off x="3218688" y="4361688"/>
            <a:ext cx="8394192" cy="530352"/>
          </a:xfrm>
          <a:prstGeom prst="rect">
            <a:avLst/>
          </a:prstGeom>
          <a:solidFill>
            <a:srgbClr val="FFFFFF"/>
          </a:solidFill>
          <a:ln w="12700">
            <a:solidFill>
              <a:srgbClr val="DFE2DB"/>
            </a:solidFill>
            <a:prstDash val="solid"/>
          </a:ln>
        </p:spPr>
      </p:sp>
      <p:sp>
        <p:nvSpPr>
          <p:cNvPr id="31" name="Text 28"/>
          <p:cNvSpPr/>
          <p:nvPr/>
        </p:nvSpPr>
        <p:spPr>
          <a:xfrm>
            <a:off x="3474720" y="4526280"/>
            <a:ext cx="7863840" cy="182880"/>
          </a:xfrm>
          <a:prstGeom prst="rect">
            <a:avLst/>
          </a:prstGeom>
          <a:noFill/>
          <a:ln/>
        </p:spPr>
        <p:txBody>
          <a:bodyPr wrap="square" lIns="0" tIns="0" rIns="0" bIns="0" rtlCol="0" anchor="ctr">
            <a:normAutofit/>
          </a:bodyPr>
          <a:lstStyle/>
          <a:p>
            <a:pPr indent="0" marL="0">
              <a:buNone/>
            </a:pPr>
            <a:r>
              <a:rPr lang="en-US" sz="1050" b="1" dirty="0">
                <a:solidFill>
                  <a:srgbClr val="171817"/>
                </a:solidFill>
              </a:rPr>
              <a:t>Lender disclosure, KFS, stored consent, audit trail</a:t>
            </a:r>
            <a:endParaRPr lang="en-US" sz="1050" dirty="0"/>
          </a:p>
        </p:txBody>
      </p:sp>
      <p:sp>
        <p:nvSpPr>
          <p:cNvPr id="32" name="Shape 29"/>
          <p:cNvSpPr/>
          <p:nvPr/>
        </p:nvSpPr>
        <p:spPr>
          <a:xfrm>
            <a:off x="594360" y="5074920"/>
            <a:ext cx="2011680" cy="530352"/>
          </a:xfrm>
          <a:prstGeom prst="rect">
            <a:avLst/>
          </a:prstGeom>
          <a:solidFill>
            <a:srgbClr val="FFF5D9"/>
          </a:solidFill>
          <a:ln w="12700">
            <a:solidFill>
              <a:srgbClr val="FFF5D9"/>
            </a:solidFill>
            <a:prstDash val="solid"/>
          </a:ln>
        </p:spPr>
      </p:sp>
      <p:sp>
        <p:nvSpPr>
          <p:cNvPr id="33" name="Text 30"/>
          <p:cNvSpPr/>
          <p:nvPr/>
        </p:nvSpPr>
        <p:spPr>
          <a:xfrm>
            <a:off x="786384" y="5257800"/>
            <a:ext cx="1627632" cy="155448"/>
          </a:xfrm>
          <a:prstGeom prst="rect">
            <a:avLst/>
          </a:prstGeom>
          <a:noFill/>
          <a:ln/>
        </p:spPr>
        <p:txBody>
          <a:bodyPr wrap="square" lIns="0" tIns="0" rIns="0" bIns="0" rtlCol="0" anchor="ctr"/>
          <a:lstStyle/>
          <a:p>
            <a:pPr indent="0" marL="0">
              <a:buNone/>
            </a:pPr>
            <a:r>
              <a:rPr lang="en-US" sz="850" b="1" spc="100" kern="0" dirty="0">
                <a:solidFill>
                  <a:srgbClr val="E9A323"/>
                </a:solidFill>
              </a:rPr>
              <a:t>USER CONFUSION</a:t>
            </a:r>
            <a:endParaRPr lang="en-US" sz="850" dirty="0"/>
          </a:p>
        </p:txBody>
      </p:sp>
      <p:sp>
        <p:nvSpPr>
          <p:cNvPr id="34" name="Shape 31"/>
          <p:cNvSpPr/>
          <p:nvPr/>
        </p:nvSpPr>
        <p:spPr>
          <a:xfrm>
            <a:off x="2743200" y="5221224"/>
            <a:ext cx="310896" cy="237744"/>
          </a:xfrm>
          <a:prstGeom prst="chevron">
            <a:avLst/>
          </a:prstGeom>
          <a:solidFill>
            <a:srgbClr val="C9CDC4"/>
          </a:solidFill>
          <a:ln w="12700">
            <a:solidFill>
              <a:srgbClr val="C9CDC4"/>
            </a:solidFill>
            <a:prstDash val="solid"/>
          </a:ln>
        </p:spPr>
      </p:sp>
      <p:sp>
        <p:nvSpPr>
          <p:cNvPr id="35" name="Shape 32"/>
          <p:cNvSpPr/>
          <p:nvPr/>
        </p:nvSpPr>
        <p:spPr>
          <a:xfrm>
            <a:off x="3218688" y="5074920"/>
            <a:ext cx="8394192" cy="530352"/>
          </a:xfrm>
          <a:prstGeom prst="rect">
            <a:avLst/>
          </a:prstGeom>
          <a:solidFill>
            <a:srgbClr val="FFFFFF"/>
          </a:solidFill>
          <a:ln w="12700">
            <a:solidFill>
              <a:srgbClr val="DFE2DB"/>
            </a:solidFill>
            <a:prstDash val="solid"/>
          </a:ln>
        </p:spPr>
      </p:sp>
      <p:sp>
        <p:nvSpPr>
          <p:cNvPr id="36" name="Text 33"/>
          <p:cNvSpPr/>
          <p:nvPr/>
        </p:nvSpPr>
        <p:spPr>
          <a:xfrm>
            <a:off x="3474720" y="5239512"/>
            <a:ext cx="7863840" cy="182880"/>
          </a:xfrm>
          <a:prstGeom prst="rect">
            <a:avLst/>
          </a:prstGeom>
          <a:noFill/>
          <a:ln/>
        </p:spPr>
        <p:txBody>
          <a:bodyPr wrap="square" lIns="0" tIns="0" rIns="0" bIns="0" rtlCol="0" anchor="ctr">
            <a:normAutofit/>
          </a:bodyPr>
          <a:lstStyle/>
          <a:p>
            <a:pPr indent="0" marL="0">
              <a:buNone/>
            </a:pPr>
            <a:r>
              <a:rPr lang="en-US" sz="1050" b="1" dirty="0">
                <a:solidFill>
                  <a:srgbClr val="171817"/>
                </a:solidFill>
              </a:rPr>
              <a:t>One timeline; plain refund and repayment language</a:t>
            </a:r>
            <a:endParaRPr lang="en-US" sz="1050" dirty="0"/>
          </a:p>
        </p:txBody>
      </p:sp>
      <p:sp>
        <p:nvSpPr>
          <p:cNvPr id="37" name="Shape 34"/>
          <p:cNvSpPr/>
          <p:nvPr/>
        </p:nvSpPr>
        <p:spPr>
          <a:xfrm>
            <a:off x="594360" y="5897880"/>
            <a:ext cx="11018520" cy="228600"/>
          </a:xfrm>
          <a:prstGeom prst="rect">
            <a:avLst/>
          </a:prstGeom>
          <a:solidFill>
            <a:srgbClr val="C9F044"/>
          </a:solidFill>
          <a:ln w="12700">
            <a:solidFill>
              <a:srgbClr val="C9F044"/>
            </a:solidFill>
            <a:prstDash val="solid"/>
          </a:ln>
        </p:spPr>
      </p:sp>
      <p:sp>
        <p:nvSpPr>
          <p:cNvPr id="38" name="Text 35"/>
          <p:cNvSpPr/>
          <p:nvPr/>
        </p:nvSpPr>
        <p:spPr>
          <a:xfrm>
            <a:off x="804672" y="5934456"/>
            <a:ext cx="10607040" cy="146304"/>
          </a:xfrm>
          <a:prstGeom prst="rect">
            <a:avLst/>
          </a:prstGeom>
          <a:noFill/>
          <a:ln/>
        </p:spPr>
        <p:txBody>
          <a:bodyPr wrap="square" lIns="0" tIns="0" rIns="0" bIns="0" rtlCol="0" anchor="ctr"/>
          <a:lstStyle/>
          <a:p>
            <a:pPr algn="ctr" indent="0" marL="0">
              <a:buNone/>
            </a:pPr>
            <a:r>
              <a:rPr lang="en-US" sz="880" b="1" dirty="0">
                <a:solidFill>
                  <a:srgbClr val="171817"/>
                </a:solidFill>
              </a:rPr>
              <a:t>Expansion follows repayment quality and contribution - never approval rate alone.</a:t>
            </a:r>
            <a:endParaRPr lang="en-US" sz="8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Product concept for super.money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Affordable Commerce inside super.money</dc:title>
  <dc:subject>Affordable Commerce product strategy and prototype</dc:subject>
  <dc:creator>Naman Jain</dc:creator>
  <cp:lastModifiedBy>Naman Jain</cp:lastModifiedBy>
  <cp:revision>1</cp:revision>
  <dcterms:created xsi:type="dcterms:W3CDTF">2026-07-25T12:23:29Z</dcterms:created>
  <dcterms:modified xsi:type="dcterms:W3CDTF">2026-07-25T12:23:29Z</dcterms:modified>
</cp:coreProperties>
</file>